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845" r:id="rId1"/>
  </p:sldMasterIdLst>
  <p:notesMasterIdLst>
    <p:notesMasterId r:id="rId41"/>
  </p:notesMasterIdLst>
  <p:sldIdLst>
    <p:sldId id="331" r:id="rId2"/>
    <p:sldId id="400" r:id="rId3"/>
    <p:sldId id="492" r:id="rId4"/>
    <p:sldId id="489" r:id="rId5"/>
    <p:sldId id="507" r:id="rId6"/>
    <p:sldId id="490" r:id="rId7"/>
    <p:sldId id="509" r:id="rId8"/>
    <p:sldId id="494" r:id="rId9"/>
    <p:sldId id="493" r:id="rId10"/>
    <p:sldId id="321" r:id="rId11"/>
    <p:sldId id="508" r:id="rId12"/>
    <p:sldId id="491" r:id="rId13"/>
    <p:sldId id="495" r:id="rId14"/>
    <p:sldId id="496" r:id="rId15"/>
    <p:sldId id="497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498" r:id="rId24"/>
    <p:sldId id="499" r:id="rId25"/>
    <p:sldId id="510" r:id="rId26"/>
    <p:sldId id="511" r:id="rId27"/>
    <p:sldId id="513" r:id="rId28"/>
    <p:sldId id="514" r:id="rId29"/>
    <p:sldId id="512" r:id="rId30"/>
    <p:sldId id="519" r:id="rId31"/>
    <p:sldId id="517" r:id="rId32"/>
    <p:sldId id="521" r:id="rId33"/>
    <p:sldId id="520" r:id="rId34"/>
    <p:sldId id="522" r:id="rId35"/>
    <p:sldId id="518" r:id="rId36"/>
    <p:sldId id="523" r:id="rId37"/>
    <p:sldId id="524" r:id="rId38"/>
    <p:sldId id="525" r:id="rId39"/>
    <p:sldId id="526" r:id="rId40"/>
  </p:sldIdLst>
  <p:sldSz cx="9144000" cy="6858000" type="screen4x3"/>
  <p:notesSz cx="6858000" cy="91440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00"/>
    <a:srgbClr val="2AA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06" autoAdjust="0"/>
    <p:restoredTop sz="94291" autoAdjust="0"/>
  </p:normalViewPr>
  <p:slideViewPr>
    <p:cSldViewPr>
      <p:cViewPr varScale="1">
        <p:scale>
          <a:sx n="65" d="100"/>
          <a:sy n="65" d="100"/>
        </p:scale>
        <p:origin x="14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048" units="cm"/>
          <inkml:channel name="Y" type="integer" max="2048" units="cm"/>
          <inkml:channel name="F" type="integer" max="2047" units="in"/>
          <inkml:channel name="T" type="integer" max="2.14748E9" units="dev"/>
        </inkml:traceFormat>
        <inkml:channelProperties>
          <inkml:channelProperty channel="X" name="resolution" value="393.84616" units="1/cm"/>
          <inkml:channelProperty channel="Y" name="resolution" value="393.84616" units="1/cm"/>
          <inkml:channelProperty channel="F" name="resolution" value="999.51166" units="1/in"/>
          <inkml:channelProperty channel="T" name="resolution" value="1" units="1/dev"/>
        </inkml:channelProperties>
      </inkml:inkSource>
      <inkml:timestamp xml:id="ts0" timeString="2020-10-12T18:23:49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9193 12520 89 0,'0'0'134'0,"0"0"-7"16,0 0-35-16,0 0-29 15,-33 0-21-15,33 0-5 16,0 0 3-16,0 0 6 16,-17 0-12-16,17 9-12 15,-16 10-16-15,16-10-53 0,-17 10-58 16,1 0-33-16,16-1-41 16</inkml:trace>
  <inkml:trace contextRef="#ctx0" brushRef="#br0" timeOffset="1437.055">9143 19031 221 0,'0'0'270'0,"0"0"53"0,0 0 1 15,0 0-61 1,0 0-68-16,0 0-24 15,0 0-12-15,0 0-38 16</inkml:trace>
  <inkml:trace contextRef="#ctx0" brushRef="#br0" timeOffset="1802.081">9143 18985 2047 0,'0'-56'0'16,"17"0"0"-16,-17-9 0 15,33 0 0-15,-33-9 0 0,0-1 0 16,0 1 0-16,33-1 0 16,-33 10 0-16,0 0 0 15,0 0 0-15,0 0 0 16,33 18 0-16,-33 1 0 15,0-1 0-15,33 10 0 16,-33 9 0-16,17 0 0 16,16 0 0-16,-17 19 0 0,1 0 0 15,16 9 0 1,0 0 0-16,-33 18 0 16,33-8 0-16,0 18 0 0,-16 9 0 15,16 9 0-15,0 10 0 16,0 0 0-16,0 0 0 15,0-10 0-15,0 10 0 16,17-9 0-16,-17-10 0 16,0-9 0-16,0 0 0 15,0 0 0-15,0-1 0 16,-33-17 0-16,17 8 0 16,0-8 0-16,-1-1 0 15,-16-9-65 16,17 0-392-31,-1-19-137 0</inkml:trace>
  <inkml:trace contextRef="#ctx0" brushRef="#br0" timeOffset="2159.629">10186 18185 103 0,'-34'19'168'16,"1"-1"19"-16,0 1-38 16,0-1-29-16,-16 1-1 15,16-10 12-15,-1 10-1 16,1-10-15-16,0 10 11 15,-33-1-18-15,16-8 2 0,-16 8 9 16,0-8-27-16,16 8-22 16,-16 1-18-1,0-10-15-15,33 0-8 0,-33-9-29 16,16 10 5-16,17-1-12 16,0-9-75-16,33 0-120 15,-33 0-117-15,33 0-74 16,0 0-64-16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3FDE869-3355-499A-97D0-25B9BC1888AB}" type="datetimeFigureOut">
              <a:rPr lang="ar-SA" smtClean="0"/>
              <a:pPr/>
              <a:t>25/02/1442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565EE41-B3BC-4473-AD98-14A5182BA06C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105"/>
          <p:cNvSpPr/>
          <p:nvPr/>
        </p:nvSpPr>
        <p:spPr>
          <a:xfrm rot="2700000">
            <a:off x="7446946" y="993285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09" name="Group 408"/>
          <p:cNvGrpSpPr/>
          <p:nvPr/>
        </p:nvGrpSpPr>
        <p:grpSpPr>
          <a:xfrm>
            <a:off x="0" y="420256"/>
            <a:ext cx="9144000" cy="3795497"/>
            <a:chOff x="0" y="420256"/>
            <a:chExt cx="12188952" cy="3795497"/>
          </a:xfrm>
        </p:grpSpPr>
        <p:cxnSp>
          <p:nvCxnSpPr>
            <p:cNvPr id="410" name="Straight Connector 409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0" name="Rectangle 379"/>
          <p:cNvSpPr/>
          <p:nvPr/>
        </p:nvSpPr>
        <p:spPr>
          <a:xfrm rot="18900000" flipV="1">
            <a:off x="8146056" y="-427079"/>
            <a:ext cx="13716" cy="2816931"/>
          </a:xfrm>
          <a:custGeom>
            <a:avLst/>
            <a:gdLst/>
            <a:ahLst/>
            <a:cxnLst/>
            <a:rect l="l" t="t" r="r" b="b"/>
            <a:pathLst>
              <a:path w="13716" h="2816931">
                <a:moveTo>
                  <a:pt x="0" y="2816931"/>
                </a:moveTo>
                <a:lnTo>
                  <a:pt x="13716" y="28032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1" name="Rectangle 56"/>
          <p:cNvSpPr/>
          <p:nvPr/>
        </p:nvSpPr>
        <p:spPr>
          <a:xfrm>
            <a:off x="1" y="0"/>
            <a:ext cx="8865825" cy="4572004"/>
          </a:xfrm>
          <a:custGeom>
            <a:avLst/>
            <a:gdLst/>
            <a:ahLst/>
            <a:cxnLst/>
            <a:rect l="l" t="t" r="r" b="b"/>
            <a:pathLst>
              <a:path w="8865825" h="4572004"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2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3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4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5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6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7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8" name="Rectangle 93"/>
          <p:cNvSpPr/>
          <p:nvPr/>
        </p:nvSpPr>
        <p:spPr>
          <a:xfrm rot="2700000">
            <a:off x="7126799" y="-278554"/>
            <a:ext cx="13716" cy="5699824"/>
          </a:xfrm>
          <a:custGeom>
            <a:avLst/>
            <a:gdLst/>
            <a:ahLst/>
            <a:cxnLst/>
            <a:rect l="l" t="t" r="r" b="b"/>
            <a:pathLst>
              <a:path w="13716" h="5699824">
                <a:moveTo>
                  <a:pt x="0" y="0"/>
                </a:moveTo>
                <a:lnTo>
                  <a:pt x="13716" y="13717"/>
                </a:lnTo>
                <a:lnTo>
                  <a:pt x="13716" y="5686109"/>
                </a:lnTo>
                <a:lnTo>
                  <a:pt x="1" y="569982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9" name="Rectangle 95"/>
          <p:cNvSpPr/>
          <p:nvPr/>
        </p:nvSpPr>
        <p:spPr>
          <a:xfrm rot="2700000">
            <a:off x="7969986" y="1747381"/>
            <a:ext cx="13716" cy="3314931"/>
          </a:xfrm>
          <a:custGeom>
            <a:avLst/>
            <a:gdLst/>
            <a:ahLst/>
            <a:cxnLst/>
            <a:rect l="l" t="t" r="r" b="b"/>
            <a:pathLst>
              <a:path w="13716" h="3314931">
                <a:moveTo>
                  <a:pt x="0" y="0"/>
                </a:moveTo>
                <a:lnTo>
                  <a:pt x="13716" y="13716"/>
                </a:lnTo>
                <a:lnTo>
                  <a:pt x="13716" y="3301215"/>
                </a:lnTo>
                <a:lnTo>
                  <a:pt x="0" y="331493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0" name="Rectangle 96"/>
          <p:cNvSpPr/>
          <p:nvPr/>
        </p:nvSpPr>
        <p:spPr>
          <a:xfrm rot="2700000">
            <a:off x="8391577" y="2765192"/>
            <a:ext cx="13716" cy="2122490"/>
          </a:xfrm>
          <a:custGeom>
            <a:avLst/>
            <a:gdLst/>
            <a:ahLst/>
            <a:cxnLst/>
            <a:rect l="l" t="t" r="r" b="b"/>
            <a:pathLst>
              <a:path w="13716" h="2122490">
                <a:moveTo>
                  <a:pt x="0" y="0"/>
                </a:moveTo>
                <a:lnTo>
                  <a:pt x="13716" y="13716"/>
                </a:lnTo>
                <a:lnTo>
                  <a:pt x="13716" y="2108774"/>
                </a:lnTo>
                <a:lnTo>
                  <a:pt x="0" y="212249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1" name="Rectangle 97"/>
          <p:cNvSpPr/>
          <p:nvPr/>
        </p:nvSpPr>
        <p:spPr>
          <a:xfrm rot="2700000">
            <a:off x="8813172" y="3783010"/>
            <a:ext cx="13717" cy="930041"/>
          </a:xfrm>
          <a:custGeom>
            <a:avLst/>
            <a:gdLst/>
            <a:ahLst/>
            <a:cxnLst/>
            <a:rect l="l" t="t" r="r" b="b"/>
            <a:pathLst>
              <a:path w="13717" h="930041">
                <a:moveTo>
                  <a:pt x="0" y="0"/>
                </a:moveTo>
                <a:lnTo>
                  <a:pt x="13717" y="13717"/>
                </a:lnTo>
                <a:lnTo>
                  <a:pt x="13717" y="916324"/>
                </a:lnTo>
                <a:lnTo>
                  <a:pt x="1" y="93004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2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3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4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5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6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7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8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9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0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1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2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3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4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5" name="Rectangle 376"/>
          <p:cNvSpPr/>
          <p:nvPr/>
        </p:nvSpPr>
        <p:spPr>
          <a:xfrm rot="18900000" flipV="1">
            <a:off x="6881278" y="-950966"/>
            <a:ext cx="13716" cy="6394268"/>
          </a:xfrm>
          <a:custGeom>
            <a:avLst/>
            <a:gdLst/>
            <a:ahLst/>
            <a:cxnLst/>
            <a:rect l="l" t="t" r="r" b="b"/>
            <a:pathLst>
              <a:path w="13716" h="6394268">
                <a:moveTo>
                  <a:pt x="13716" y="6380553"/>
                </a:moveTo>
                <a:lnTo>
                  <a:pt x="13716" y="13716"/>
                </a:lnTo>
                <a:lnTo>
                  <a:pt x="0" y="0"/>
                </a:lnTo>
                <a:lnTo>
                  <a:pt x="0" y="639426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6" name="Rectangle 377"/>
          <p:cNvSpPr/>
          <p:nvPr/>
        </p:nvSpPr>
        <p:spPr>
          <a:xfrm rot="18900000" flipV="1">
            <a:off x="7302869" y="-776336"/>
            <a:ext cx="13717" cy="5201823"/>
          </a:xfrm>
          <a:custGeom>
            <a:avLst/>
            <a:gdLst/>
            <a:ahLst/>
            <a:cxnLst/>
            <a:rect l="l" t="t" r="r" b="b"/>
            <a:pathLst>
              <a:path w="13717" h="5201823">
                <a:moveTo>
                  <a:pt x="1" y="5201823"/>
                </a:moveTo>
                <a:lnTo>
                  <a:pt x="13717" y="5188106"/>
                </a:lnTo>
                <a:lnTo>
                  <a:pt x="13717" y="1371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7" name="Rectangle 378"/>
          <p:cNvSpPr/>
          <p:nvPr/>
        </p:nvSpPr>
        <p:spPr>
          <a:xfrm rot="18900000" flipV="1">
            <a:off x="7742935" y="-582310"/>
            <a:ext cx="13716" cy="4009378"/>
          </a:xfrm>
          <a:custGeom>
            <a:avLst/>
            <a:gdLst/>
            <a:ahLst/>
            <a:cxnLst/>
            <a:rect l="l" t="t" r="r" b="b"/>
            <a:pathLst>
              <a:path w="13716" h="4009378">
                <a:moveTo>
                  <a:pt x="13716" y="3995663"/>
                </a:moveTo>
                <a:lnTo>
                  <a:pt x="13716" y="13717"/>
                </a:lnTo>
                <a:lnTo>
                  <a:pt x="0" y="0"/>
                </a:lnTo>
                <a:lnTo>
                  <a:pt x="0" y="400937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8" name="Rectangle 138"/>
          <p:cNvSpPr/>
          <p:nvPr/>
        </p:nvSpPr>
        <p:spPr>
          <a:xfrm rot="18900000" flipV="1">
            <a:off x="8567649" y="-252451"/>
            <a:ext cx="13715" cy="1624488"/>
          </a:xfrm>
          <a:custGeom>
            <a:avLst/>
            <a:gdLst/>
            <a:ahLst/>
            <a:cxnLst/>
            <a:rect l="l" t="t" r="r" b="b"/>
            <a:pathLst>
              <a:path w="13715" h="1624488">
                <a:moveTo>
                  <a:pt x="0" y="1624488"/>
                </a:moveTo>
                <a:lnTo>
                  <a:pt x="13715" y="1610773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9" name="Freeform 448"/>
          <p:cNvSpPr/>
          <p:nvPr/>
        </p:nvSpPr>
        <p:spPr>
          <a:xfrm rot="18900000" flipV="1">
            <a:off x="8989243" y="-77819"/>
            <a:ext cx="13715" cy="432040"/>
          </a:xfrm>
          <a:custGeom>
            <a:avLst/>
            <a:gdLst/>
            <a:ahLst/>
            <a:cxnLst/>
            <a:rect l="l" t="t" r="r" b="b"/>
            <a:pathLst>
              <a:path w="13715" h="432040">
                <a:moveTo>
                  <a:pt x="0" y="432040"/>
                </a:moveTo>
                <a:lnTo>
                  <a:pt x="13715" y="418325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0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1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2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3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4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5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6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7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8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9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0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1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2" name="Teardrop 3"/>
          <p:cNvSpPr/>
          <p:nvPr/>
        </p:nvSpPr>
        <p:spPr>
          <a:xfrm rot="5400000" flipH="1" flipV="1">
            <a:off x="8812306" y="329061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8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3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4" name="Oval 463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5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6" name="Oval 465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7" name="Oval 466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8" name="Oval 467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9" name="Oval 468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0" name="Oval 469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1" name="Oval 470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2" name="Oval 471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3" name="Oval 472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4" name="Oval 473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5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6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7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8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9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0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1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2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3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4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" name="Oval 485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7" name="Oval 486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8" name="Oval 487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9" name="Oval 488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0" name="Oval 489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1" name="Oval 490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2" name="Oval 491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3" name="Oval 492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4" name="Oval 493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5" name="Oval 494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6" name="Oval 495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6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7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8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9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0" name="Oval 883"/>
          <p:cNvSpPr/>
          <p:nvPr/>
        </p:nvSpPr>
        <p:spPr>
          <a:xfrm>
            <a:off x="2031413" y="-10245"/>
            <a:ext cx="6910072" cy="84875"/>
          </a:xfrm>
          <a:custGeom>
            <a:avLst/>
            <a:gdLst/>
            <a:ahLst/>
            <a:cxnLst/>
            <a:rect l="l" t="t" r="r" b="b"/>
            <a:pathLst>
              <a:path w="6910072" h="84875"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1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3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4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5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6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7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8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9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0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1" name="Teardrop 3"/>
          <p:cNvSpPr/>
          <p:nvPr/>
        </p:nvSpPr>
        <p:spPr>
          <a:xfrm rot="5400000" flipH="1" flipV="1">
            <a:off x="8812306" y="117455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2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3" name="Oval 522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4" name="Oval 523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5" name="Oval 524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6" name="Oval 525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7" name="Oval 526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8" name="Oval 527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9" name="Oval 528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0" name="Oval 529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1" name="Oval 530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2" name="Oval 531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Oval 543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Oval 544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Oval 545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Oval 546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Oval 547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Oval 548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Oval 549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Oval 550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Oval 551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Oval 552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Oval 553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Teardrop 3"/>
          <p:cNvSpPr/>
          <p:nvPr/>
        </p:nvSpPr>
        <p:spPr>
          <a:xfrm rot="5400000" flipH="1" flipV="1">
            <a:off x="8812306" y="2017156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Oval 566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Oval 567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Oval 568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Oval 569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Oval 570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Oval 571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Oval 572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Oval 573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Oval 574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Oval 575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Oval 587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Oval 588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Oval 589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Oval 590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592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8812306" y="286582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Oval 610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Oval 611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Oval 612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Oval 613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Oval 614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Oval 615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Oval 616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Oval 617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Oval 618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Oval 619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63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Oval 63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Oval 63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Oval 63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Oval 63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Oval 64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Oval 64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Teardrop 3"/>
          <p:cNvSpPr/>
          <p:nvPr/>
        </p:nvSpPr>
        <p:spPr>
          <a:xfrm rot="5400000" flipH="1" flipV="1">
            <a:off x="8812306" y="3710008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Oval 65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Oval 65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Oval 65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Oval 65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Oval 65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Oval 65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Oval 66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Oval 66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Oval 66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Oval 66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Oval 683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Oval 684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Oval 685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8991444" y="4419445"/>
            <a:ext cx="171406" cy="133705"/>
          </a:xfrm>
          <a:custGeom>
            <a:avLst/>
            <a:gdLst/>
            <a:ahLst/>
            <a:cxnLst/>
            <a:rect l="l" t="t" r="r" b="b"/>
            <a:pathLst>
              <a:path w="171406" h="133705">
                <a:moveTo>
                  <a:pt x="171406" y="123429"/>
                </a:moveTo>
                <a:lnTo>
                  <a:pt x="168564" y="133705"/>
                </a:lnTo>
                <a:lnTo>
                  <a:pt x="157460" y="133705"/>
                </a:lnTo>
                <a:cubicBezTo>
                  <a:pt x="159382" y="130353"/>
                  <a:pt x="159597" y="126761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62756" y="133705"/>
                </a:lnTo>
                <a:lnTo>
                  <a:pt x="62665" y="133705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1651"/>
          <p:cNvSpPr/>
          <p:nvPr/>
        </p:nvSpPr>
        <p:spPr>
          <a:xfrm>
            <a:off x="812619" y="4561319"/>
            <a:ext cx="7660836" cy="10682"/>
          </a:xfrm>
          <a:custGeom>
            <a:avLst/>
            <a:gdLst/>
            <a:ahLst/>
            <a:cxnLst/>
            <a:rect l="l" t="t" r="r" b="b"/>
            <a:pathLst>
              <a:path w="7660836" h="10682"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1" name="Oval 70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2" name="Oval 701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3" name="Oval 702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4" name="Oval 703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5" name="Oval 704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6" name="Oval 705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7" name="Oval 706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8" name="Oval 707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9" name="Oval 708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0" name="Oval 709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1" name="Oval 71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2" name="Oval 711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3" name="Oval 712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4" name="Oval 713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5" name="Oval 714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6" name="Oval 715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7" name="Oval 716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8" name="Oval 717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9" name="Oval 718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0" name="Oval 719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1" name="Oval 720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2" name="Oval 721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3" name="Oval 722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4" name="Oval 723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5" name="Oval 724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6" name="Oval 725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7" name="Oval 726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8" name="Oval 727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9" name="Oval 728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0" name="Oval 729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1" name="Oval 730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2" name="Oval 73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3" name="Oval 732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4" name="Oval 733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5" name="Oval 734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6" name="Oval 735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7" name="Oval 736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8" name="Oval 737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9" name="Oval 738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0" name="Oval 739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1" name="Oval 740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2" name="Oval 74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3" name="Oval 742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4" name="Oval 743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5" name="Oval 744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6" name="Oval 74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7" name="Oval 74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8" name="Oval 74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9" name="Oval 74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0" name="Oval 74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1" name="Oval 75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2" name="Oval 75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3" name="Oval 752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4" name="Oval 753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FDB9E02-A396-435D-832D-D4CD566EBAE1}" type="uaqdatetime1">
              <a:rPr lang="ar-SA" smtClean="0"/>
              <a:t>25/02/1442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9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5788-9B12-43DE-AACD-DD861B45A22C}" type="uaqdatetime1">
              <a:rPr lang="ar-SA" smtClean="0"/>
              <a:t>25/02/1442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09471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420256"/>
            <a:ext cx="9144000" cy="3795497"/>
            <a:chOff x="0" y="420256"/>
            <a:chExt cx="12188952" cy="3795497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379"/>
          <p:cNvSpPr/>
          <p:nvPr/>
        </p:nvSpPr>
        <p:spPr>
          <a:xfrm rot="18900000" flipV="1">
            <a:off x="8146056" y="-427079"/>
            <a:ext cx="13716" cy="2816931"/>
          </a:xfrm>
          <a:custGeom>
            <a:avLst/>
            <a:gdLst/>
            <a:ahLst/>
            <a:cxnLst/>
            <a:rect l="l" t="t" r="r" b="b"/>
            <a:pathLst>
              <a:path w="13716" h="2816931">
                <a:moveTo>
                  <a:pt x="0" y="2816931"/>
                </a:moveTo>
                <a:lnTo>
                  <a:pt x="13716" y="28032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56"/>
          <p:cNvSpPr/>
          <p:nvPr/>
        </p:nvSpPr>
        <p:spPr>
          <a:xfrm>
            <a:off x="1" y="0"/>
            <a:ext cx="8865825" cy="4572004"/>
          </a:xfrm>
          <a:custGeom>
            <a:avLst/>
            <a:gdLst/>
            <a:ahLst/>
            <a:cxnLst/>
            <a:rect l="l" t="t" r="r" b="b"/>
            <a:pathLst>
              <a:path w="8865825" h="4572004"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93"/>
          <p:cNvSpPr/>
          <p:nvPr/>
        </p:nvSpPr>
        <p:spPr>
          <a:xfrm rot="2700000">
            <a:off x="7126799" y="-278554"/>
            <a:ext cx="13716" cy="5699824"/>
          </a:xfrm>
          <a:custGeom>
            <a:avLst/>
            <a:gdLst/>
            <a:ahLst/>
            <a:cxnLst/>
            <a:rect l="l" t="t" r="r" b="b"/>
            <a:pathLst>
              <a:path w="13716" h="5699824">
                <a:moveTo>
                  <a:pt x="0" y="0"/>
                </a:moveTo>
                <a:lnTo>
                  <a:pt x="13716" y="13717"/>
                </a:lnTo>
                <a:lnTo>
                  <a:pt x="13716" y="5686109"/>
                </a:lnTo>
                <a:lnTo>
                  <a:pt x="1" y="569982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Rectangle 95"/>
          <p:cNvSpPr/>
          <p:nvPr/>
        </p:nvSpPr>
        <p:spPr>
          <a:xfrm rot="2700000">
            <a:off x="7969986" y="1747381"/>
            <a:ext cx="13716" cy="3314931"/>
          </a:xfrm>
          <a:custGeom>
            <a:avLst/>
            <a:gdLst/>
            <a:ahLst/>
            <a:cxnLst/>
            <a:rect l="l" t="t" r="r" b="b"/>
            <a:pathLst>
              <a:path w="13716" h="3314931">
                <a:moveTo>
                  <a:pt x="0" y="0"/>
                </a:moveTo>
                <a:lnTo>
                  <a:pt x="13716" y="13716"/>
                </a:lnTo>
                <a:lnTo>
                  <a:pt x="13716" y="3301215"/>
                </a:lnTo>
                <a:lnTo>
                  <a:pt x="0" y="331493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96"/>
          <p:cNvSpPr/>
          <p:nvPr/>
        </p:nvSpPr>
        <p:spPr>
          <a:xfrm rot="2700000">
            <a:off x="8391577" y="2765192"/>
            <a:ext cx="13716" cy="2122490"/>
          </a:xfrm>
          <a:custGeom>
            <a:avLst/>
            <a:gdLst/>
            <a:ahLst/>
            <a:cxnLst/>
            <a:rect l="l" t="t" r="r" b="b"/>
            <a:pathLst>
              <a:path w="13716" h="2122490">
                <a:moveTo>
                  <a:pt x="0" y="0"/>
                </a:moveTo>
                <a:lnTo>
                  <a:pt x="13716" y="13716"/>
                </a:lnTo>
                <a:lnTo>
                  <a:pt x="13716" y="2108774"/>
                </a:lnTo>
                <a:lnTo>
                  <a:pt x="0" y="212249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97"/>
          <p:cNvSpPr/>
          <p:nvPr/>
        </p:nvSpPr>
        <p:spPr>
          <a:xfrm rot="2700000">
            <a:off x="8813172" y="3783010"/>
            <a:ext cx="13717" cy="930041"/>
          </a:xfrm>
          <a:custGeom>
            <a:avLst/>
            <a:gdLst/>
            <a:ahLst/>
            <a:cxnLst/>
            <a:rect l="l" t="t" r="r" b="b"/>
            <a:pathLst>
              <a:path w="13717" h="930041">
                <a:moveTo>
                  <a:pt x="0" y="0"/>
                </a:moveTo>
                <a:lnTo>
                  <a:pt x="13717" y="13717"/>
                </a:lnTo>
                <a:lnTo>
                  <a:pt x="13717" y="916324"/>
                </a:lnTo>
                <a:lnTo>
                  <a:pt x="1" y="93004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376"/>
          <p:cNvSpPr/>
          <p:nvPr/>
        </p:nvSpPr>
        <p:spPr>
          <a:xfrm rot="18900000" flipV="1">
            <a:off x="6881278" y="-950966"/>
            <a:ext cx="13716" cy="6394268"/>
          </a:xfrm>
          <a:custGeom>
            <a:avLst/>
            <a:gdLst/>
            <a:ahLst/>
            <a:cxnLst/>
            <a:rect l="l" t="t" r="r" b="b"/>
            <a:pathLst>
              <a:path w="13716" h="6394268">
                <a:moveTo>
                  <a:pt x="13716" y="6380553"/>
                </a:moveTo>
                <a:lnTo>
                  <a:pt x="13716" y="13716"/>
                </a:lnTo>
                <a:lnTo>
                  <a:pt x="0" y="0"/>
                </a:lnTo>
                <a:lnTo>
                  <a:pt x="0" y="639426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Rectangle 377"/>
          <p:cNvSpPr/>
          <p:nvPr/>
        </p:nvSpPr>
        <p:spPr>
          <a:xfrm rot="18900000" flipV="1">
            <a:off x="7302869" y="-776336"/>
            <a:ext cx="13717" cy="5201823"/>
          </a:xfrm>
          <a:custGeom>
            <a:avLst/>
            <a:gdLst/>
            <a:ahLst/>
            <a:cxnLst/>
            <a:rect l="l" t="t" r="r" b="b"/>
            <a:pathLst>
              <a:path w="13717" h="5201823">
                <a:moveTo>
                  <a:pt x="1" y="5201823"/>
                </a:moveTo>
                <a:lnTo>
                  <a:pt x="13717" y="5188106"/>
                </a:lnTo>
                <a:lnTo>
                  <a:pt x="13717" y="1371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378"/>
          <p:cNvSpPr/>
          <p:nvPr/>
        </p:nvSpPr>
        <p:spPr>
          <a:xfrm rot="18900000" flipV="1">
            <a:off x="7742935" y="-582310"/>
            <a:ext cx="13716" cy="4009378"/>
          </a:xfrm>
          <a:custGeom>
            <a:avLst/>
            <a:gdLst/>
            <a:ahLst/>
            <a:cxnLst/>
            <a:rect l="l" t="t" r="r" b="b"/>
            <a:pathLst>
              <a:path w="13716" h="4009378">
                <a:moveTo>
                  <a:pt x="13716" y="3995663"/>
                </a:moveTo>
                <a:lnTo>
                  <a:pt x="13716" y="13717"/>
                </a:lnTo>
                <a:lnTo>
                  <a:pt x="0" y="0"/>
                </a:lnTo>
                <a:lnTo>
                  <a:pt x="0" y="400937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Rectangle 138"/>
          <p:cNvSpPr/>
          <p:nvPr/>
        </p:nvSpPr>
        <p:spPr>
          <a:xfrm rot="18900000" flipV="1">
            <a:off x="8567649" y="-252451"/>
            <a:ext cx="13715" cy="1624488"/>
          </a:xfrm>
          <a:custGeom>
            <a:avLst/>
            <a:gdLst/>
            <a:ahLst/>
            <a:cxnLst/>
            <a:rect l="l" t="t" r="r" b="b"/>
            <a:pathLst>
              <a:path w="13715" h="1624488">
                <a:moveTo>
                  <a:pt x="0" y="1624488"/>
                </a:moveTo>
                <a:lnTo>
                  <a:pt x="13715" y="1610773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Freeform 48"/>
          <p:cNvSpPr/>
          <p:nvPr/>
        </p:nvSpPr>
        <p:spPr>
          <a:xfrm rot="18900000" flipV="1">
            <a:off x="8989243" y="-77819"/>
            <a:ext cx="13715" cy="432040"/>
          </a:xfrm>
          <a:custGeom>
            <a:avLst/>
            <a:gdLst/>
            <a:ahLst/>
            <a:cxnLst/>
            <a:rect l="l" t="t" r="r" b="b"/>
            <a:pathLst>
              <a:path w="13715" h="432040">
                <a:moveTo>
                  <a:pt x="0" y="432040"/>
                </a:moveTo>
                <a:lnTo>
                  <a:pt x="13715" y="418325"/>
                </a:lnTo>
                <a:lnTo>
                  <a:pt x="13715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Teardrop 3"/>
          <p:cNvSpPr/>
          <p:nvPr/>
        </p:nvSpPr>
        <p:spPr>
          <a:xfrm rot="5400000" flipH="1" flipV="1">
            <a:off x="8812306" y="329061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8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" name="Teardrop 3"/>
          <p:cNvSpPr/>
          <p:nvPr/>
        </p:nvSpPr>
        <p:spPr>
          <a:xfrm rot="5400000" flipH="1" flipV="1">
            <a:off x="8812306" y="117455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3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2" y="169383"/>
                  <a:pt x="0" y="164657"/>
                  <a:pt x="0" y="159854"/>
                </a:cubicBezTo>
                <a:cubicBezTo>
                  <a:pt x="0" y="132604"/>
                  <a:pt x="10705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" name="Teardrop 3"/>
          <p:cNvSpPr/>
          <p:nvPr/>
        </p:nvSpPr>
        <p:spPr>
          <a:xfrm rot="5400000" flipH="1" flipV="1">
            <a:off x="8812306" y="2017156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1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1" y="73244"/>
                  <a:pt x="301103" y="113792"/>
                  <a:pt x="301103" y="163811"/>
                </a:cubicBezTo>
                <a:lnTo>
                  <a:pt x="299829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0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6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" name="Teardrop 3"/>
          <p:cNvSpPr/>
          <p:nvPr/>
        </p:nvSpPr>
        <p:spPr>
          <a:xfrm rot="5400000" flipH="1" flipV="1">
            <a:off x="8812306" y="2865829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0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" name="Teardrop 3"/>
          <p:cNvSpPr/>
          <p:nvPr/>
        </p:nvSpPr>
        <p:spPr>
          <a:xfrm rot="5400000" flipH="1" flipV="1">
            <a:off x="8812306" y="3710008"/>
            <a:ext cx="489780" cy="173608"/>
          </a:xfrm>
          <a:custGeom>
            <a:avLst/>
            <a:gdLst/>
            <a:ahLst/>
            <a:cxnLst/>
            <a:rect l="l" t="t" r="r" b="b"/>
            <a:pathLst>
              <a:path w="489780" h="173608">
                <a:moveTo>
                  <a:pt x="489780" y="159854"/>
                </a:moveTo>
                <a:lnTo>
                  <a:pt x="485976" y="173608"/>
                </a:lnTo>
                <a:lnTo>
                  <a:pt x="475132" y="173608"/>
                </a:lnTo>
                <a:cubicBezTo>
                  <a:pt x="477585" y="169211"/>
                  <a:pt x="477971" y="164422"/>
                  <a:pt x="477971" y="159544"/>
                </a:cubicBezTo>
                <a:cubicBezTo>
                  <a:pt x="477971" y="135634"/>
                  <a:pt x="468705" y="113887"/>
                  <a:pt x="453384" y="97876"/>
                </a:cubicBezTo>
                <a:lnTo>
                  <a:pt x="377652" y="173608"/>
                </a:lnTo>
                <a:lnTo>
                  <a:pt x="377561" y="173608"/>
                </a:lnTo>
                <a:lnTo>
                  <a:pt x="453339" y="97830"/>
                </a:lnTo>
                <a:cubicBezTo>
                  <a:pt x="437327" y="82509"/>
                  <a:pt x="415581" y="73244"/>
                  <a:pt x="391670" y="73244"/>
                </a:cubicBezTo>
                <a:cubicBezTo>
                  <a:pt x="341652" y="73244"/>
                  <a:pt x="301103" y="113792"/>
                  <a:pt x="301103" y="163811"/>
                </a:cubicBezTo>
                <a:lnTo>
                  <a:pt x="299830" y="173608"/>
                </a:lnTo>
                <a:lnTo>
                  <a:pt x="288634" y="173608"/>
                </a:lnTo>
                <a:cubicBezTo>
                  <a:pt x="289602" y="170367"/>
                  <a:pt x="289617" y="166907"/>
                  <a:pt x="289547" y="163248"/>
                </a:cubicBezTo>
                <a:cubicBezTo>
                  <a:pt x="289547" y="130228"/>
                  <a:pt x="305265" y="100880"/>
                  <a:pt x="329868" y="82592"/>
                </a:cubicBezTo>
                <a:cubicBezTo>
                  <a:pt x="326825" y="66091"/>
                  <a:pt x="318670" y="50477"/>
                  <a:pt x="305914" y="37722"/>
                </a:cubicBezTo>
                <a:cubicBezTo>
                  <a:pt x="289007" y="20815"/>
                  <a:pt x="267078" y="11989"/>
                  <a:pt x="244922" y="11501"/>
                </a:cubicBezTo>
                <a:lnTo>
                  <a:pt x="244922" y="96667"/>
                </a:lnTo>
                <a:lnTo>
                  <a:pt x="244858" y="96667"/>
                </a:lnTo>
                <a:lnTo>
                  <a:pt x="244858" y="11501"/>
                </a:lnTo>
                <a:cubicBezTo>
                  <a:pt x="222703" y="11990"/>
                  <a:pt x="200774" y="20815"/>
                  <a:pt x="183866" y="37722"/>
                </a:cubicBezTo>
                <a:cubicBezTo>
                  <a:pt x="171105" y="50483"/>
                  <a:pt x="162948" y="66105"/>
                  <a:pt x="159939" y="82613"/>
                </a:cubicBezTo>
                <a:cubicBezTo>
                  <a:pt x="184526" y="100902"/>
                  <a:pt x="200233" y="130241"/>
                  <a:pt x="200233" y="163248"/>
                </a:cubicBezTo>
                <a:lnTo>
                  <a:pt x="201368" y="173608"/>
                </a:lnTo>
                <a:lnTo>
                  <a:pt x="189949" y="173608"/>
                </a:lnTo>
                <a:cubicBezTo>
                  <a:pt x="188710" y="170302"/>
                  <a:pt x="188616" y="166986"/>
                  <a:pt x="188677" y="163811"/>
                </a:cubicBezTo>
                <a:cubicBezTo>
                  <a:pt x="188677" y="113792"/>
                  <a:pt x="148129" y="73244"/>
                  <a:pt x="98110" y="73244"/>
                </a:cubicBezTo>
                <a:cubicBezTo>
                  <a:pt x="74200" y="73244"/>
                  <a:pt x="52453" y="82510"/>
                  <a:pt x="36441" y="97831"/>
                </a:cubicBezTo>
                <a:lnTo>
                  <a:pt x="112218" y="173608"/>
                </a:lnTo>
                <a:lnTo>
                  <a:pt x="112128" y="173608"/>
                </a:lnTo>
                <a:lnTo>
                  <a:pt x="36396" y="97876"/>
                </a:lnTo>
                <a:cubicBezTo>
                  <a:pt x="21075" y="113887"/>
                  <a:pt x="11809" y="135634"/>
                  <a:pt x="11809" y="159544"/>
                </a:cubicBezTo>
                <a:lnTo>
                  <a:pt x="14649" y="173608"/>
                </a:lnTo>
                <a:lnTo>
                  <a:pt x="3810" y="173608"/>
                </a:lnTo>
                <a:cubicBezTo>
                  <a:pt x="333" y="169383"/>
                  <a:pt x="0" y="164657"/>
                  <a:pt x="0" y="159854"/>
                </a:cubicBezTo>
                <a:cubicBezTo>
                  <a:pt x="0" y="132604"/>
                  <a:pt x="10706" y="107854"/>
                  <a:pt x="28286" y="89721"/>
                </a:cubicBezTo>
                <a:lnTo>
                  <a:pt x="28286" y="89721"/>
                </a:lnTo>
                <a:cubicBezTo>
                  <a:pt x="46420" y="72140"/>
                  <a:pt x="71170" y="61435"/>
                  <a:pt x="98420" y="61435"/>
                </a:cubicBezTo>
                <a:cubicBezTo>
                  <a:pt x="117023" y="61435"/>
                  <a:pt x="134461" y="66424"/>
                  <a:pt x="149250" y="75515"/>
                </a:cubicBezTo>
                <a:cubicBezTo>
                  <a:pt x="153323" y="58635"/>
                  <a:pt x="162130" y="42758"/>
                  <a:pt x="175297" y="29591"/>
                </a:cubicBezTo>
                <a:cubicBezTo>
                  <a:pt x="194566" y="10322"/>
                  <a:pt x="219636" y="391"/>
                  <a:pt x="244890" y="0"/>
                </a:cubicBezTo>
                <a:lnTo>
                  <a:pt x="244890" y="0"/>
                </a:lnTo>
                <a:cubicBezTo>
                  <a:pt x="270144" y="391"/>
                  <a:pt x="295215" y="10322"/>
                  <a:pt x="314484" y="29591"/>
                </a:cubicBezTo>
                <a:cubicBezTo>
                  <a:pt x="327644" y="42751"/>
                  <a:pt x="336448" y="58618"/>
                  <a:pt x="340604" y="75474"/>
                </a:cubicBezTo>
                <a:cubicBezTo>
                  <a:pt x="355376" y="66408"/>
                  <a:pt x="372787" y="61434"/>
                  <a:pt x="391360" y="61434"/>
                </a:cubicBezTo>
                <a:cubicBezTo>
                  <a:pt x="418611" y="61434"/>
                  <a:pt x="443360" y="72140"/>
                  <a:pt x="461494" y="89721"/>
                </a:cubicBezTo>
                <a:cubicBezTo>
                  <a:pt x="479075" y="107854"/>
                  <a:pt x="489780" y="132604"/>
                  <a:pt x="489780" y="1598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" name="Teardrop 3"/>
          <p:cNvSpPr/>
          <p:nvPr/>
        </p:nvSpPr>
        <p:spPr>
          <a:xfrm rot="5400000" flipH="1" flipV="1">
            <a:off x="8991444" y="4419445"/>
            <a:ext cx="171406" cy="133705"/>
          </a:xfrm>
          <a:custGeom>
            <a:avLst/>
            <a:gdLst/>
            <a:ahLst/>
            <a:cxnLst/>
            <a:rect l="l" t="t" r="r" b="b"/>
            <a:pathLst>
              <a:path w="171406" h="133705">
                <a:moveTo>
                  <a:pt x="171406" y="123429"/>
                </a:moveTo>
                <a:lnTo>
                  <a:pt x="168564" y="133705"/>
                </a:lnTo>
                <a:lnTo>
                  <a:pt x="157460" y="133705"/>
                </a:lnTo>
                <a:cubicBezTo>
                  <a:pt x="159382" y="130353"/>
                  <a:pt x="159597" y="126761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62756" y="133705"/>
                </a:lnTo>
                <a:lnTo>
                  <a:pt x="62665" y="133705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" name="Oval 189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" name="Oval 191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" name="Oval 192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" name="Oval 193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" name="Oval 194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" name="Oval 195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" name="Oval 196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" name="Oval 197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" name="Oval 198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" name="Oval 199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" name="Oval 200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" name="Oval 201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3" name="Oval 202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" name="Oval 203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" name="Oval 204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" name="Oval 205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" name="Oval 206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" name="Oval 207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" name="Oval 208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" name="Oval 209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" name="Oval 210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" name="Oval 883"/>
          <p:cNvSpPr/>
          <p:nvPr/>
        </p:nvSpPr>
        <p:spPr>
          <a:xfrm>
            <a:off x="2031413" y="-10245"/>
            <a:ext cx="6910072" cy="84875"/>
          </a:xfrm>
          <a:custGeom>
            <a:avLst/>
            <a:gdLst/>
            <a:ahLst/>
            <a:cxnLst/>
            <a:rect l="l" t="t" r="r" b="b"/>
            <a:pathLst>
              <a:path w="6910072" h="84875"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5" name="Oval 214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6" name="Oval 215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7" name="Oval 216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8" name="Oval 217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9" name="Oval 218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0" name="Oval 219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1" name="Oval 220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2" name="Oval 221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3" name="Oval 222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4" name="Oval 223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5" name="Oval 224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6" name="Oval 225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7" name="Oval 226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8" name="Oval 227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9" name="Oval 228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0" name="Oval 229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1" name="Oval 230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2" name="Oval 231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3" name="Oval 232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4" name="Oval 233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5" name="Oval 234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6" name="Oval 235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7" name="Oval 236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8" name="Oval 237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9" name="Oval 238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0" name="Oval 239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1" name="Oval 240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2" name="Oval 241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3" name="Oval 242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4" name="Oval 243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5" name="Oval 244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6" name="Oval 245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7" name="Oval 246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8" name="Oval 247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9" name="Oval 248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0" name="Oval 249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1" name="Oval 250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2" name="Oval 251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3" name="Oval 252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4" name="Oval 253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5" name="Oval 254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6" name="Oval 255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7" name="Oval 256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8" name="Oval 257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9" name="Oval 258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0" name="Oval 259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1" name="Oval 260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2" name="Oval 261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3" name="Oval 262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4" name="Oval 263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5" name="Oval 264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6" name="Oval 265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7" name="Oval 266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8" name="Oval 267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9" name="Oval 268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0" name="Oval 269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1" name="Oval 270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2" name="Oval 271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3" name="Oval 272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4" name="Oval 273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5" name="Oval 274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6" name="Oval 275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7" name="Oval 276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8" name="Oval 277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9" name="Oval 278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0" name="Oval 279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1" name="Oval 280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2" name="Oval 281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3" name="Oval 282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4" name="Oval 283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5" name="Oval 284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6" name="Oval 285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7" name="Oval 286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8" name="Oval 287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9" name="Oval 288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0" name="Oval 289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1" name="Oval 290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2" name="Oval 291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3" name="Oval 292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4" name="Oval 293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5" name="Oval 294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6" name="Oval 295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7" name="Oval 296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8" name="Oval 297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9" name="Oval 1651"/>
          <p:cNvSpPr/>
          <p:nvPr/>
        </p:nvSpPr>
        <p:spPr>
          <a:xfrm>
            <a:off x="812619" y="4561319"/>
            <a:ext cx="7660836" cy="10682"/>
          </a:xfrm>
          <a:custGeom>
            <a:avLst/>
            <a:gdLst/>
            <a:ahLst/>
            <a:cxnLst/>
            <a:rect l="l" t="t" r="r" b="b"/>
            <a:pathLst>
              <a:path w="7660836" h="10682"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0" name="Oval 299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1" name="Oval 30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2" name="Oval 301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3" name="Oval 302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4" name="Oval 303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5" name="Oval 304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6" name="Oval 305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7" name="Oval 306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8" name="Oval 307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9" name="Oval 308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0" name="Oval 309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1" name="Oval 31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2" name="Oval 311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3" name="Oval 312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4" name="Oval 313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5" name="Oval 314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6" name="Oval 315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7" name="Oval 316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8" name="Oval 317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9" name="Oval 318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0" name="Oval 319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1" name="Oval 320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2" name="Oval 321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3" name="Oval 322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4" name="Oval 323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5" name="Oval 324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6" name="Oval 325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7" name="Oval 326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8" name="Oval 327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9" name="Oval 328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0" name="Oval 329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1" name="Oval 330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2" name="Oval 33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3" name="Oval 332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4" name="Oval 333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5" name="Oval 334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6" name="Oval 335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7" name="Oval 336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8" name="Oval 337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9" name="Oval 338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0" name="Oval 339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1" name="Oval 340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2" name="Oval 34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3" name="Oval 342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4" name="Oval 343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5" name="Oval 344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6" name="Oval 34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7" name="Oval 34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8" name="Oval 34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9" name="Oval 34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0" name="Oval 34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1" name="Oval 35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2" name="Oval 35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3" name="Oval 352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4" name="Oval 353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2483-5B30-42B8-A2B5-1915E46D745C}" type="uaqdatetime1">
              <a:rPr lang="ar-SA" smtClean="0"/>
              <a:t>25/02/1442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23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5BF3A-0B97-4F70-8DC7-EA5EF6204554}" type="uaqdatetime1">
              <a:rPr lang="ar-SA" smtClean="0"/>
              <a:t>25/02/1442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8743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7C12D-1B51-4DFD-9DB2-1533E5C9D217}" type="uaqdatetime1">
              <a:rPr lang="ar-SA" smtClean="0"/>
              <a:t>25/02/1442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4050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03BB-B6AE-4B8E-B845-B204F16F6CA9}" type="uaqdatetime1">
              <a:rPr lang="ar-SA" smtClean="0"/>
              <a:t>25/02/1442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81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4C6E-D1B5-4619-AFDE-791FC1DC3C44}" type="uaqdatetime1">
              <a:rPr lang="ar-SA" smtClean="0"/>
              <a:t>25/02/1442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719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F44-D191-4BA8-86F3-F00F268CF883}" type="uaqdatetime1">
              <a:rPr lang="ar-SA" smtClean="0"/>
              <a:t>25/02/1442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8630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8BFF-5FC2-4166-87D9-7698A81CA861}" type="uaqdatetime1">
              <a:rPr lang="ar-SA" smtClean="0"/>
              <a:t>25/02/1442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94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4D2F1-BE25-4A73-A6A2-684E8E61CEEF}" type="uaqdatetime1">
              <a:rPr lang="ar-SA" smtClean="0"/>
              <a:t>25/02/1442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2110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9EC4-7B8B-4D4F-89B9-256565CF918F}" type="uaqdatetime1">
              <a:rPr lang="ar-SA" smtClean="0"/>
              <a:t>25/02/1442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49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4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6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60F5747-4286-4BDB-A7D9-4AFB61326839}" type="uaqdatetime1">
              <a:rPr lang="ar-SA" smtClean="0"/>
              <a:t>25/02/1442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199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511CCAB-BB91-442C-8C71-F09E2B838991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5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Algorithms analysis and Design</a:t>
            </a:r>
            <a:endParaRPr 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 By : Dr. Basem Alijla</a:t>
            </a:r>
            <a:endParaRPr lang="en-US" sz="2400" dirty="0"/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9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66440" y="2226503"/>
            <a:ext cx="6945920" cy="2550877"/>
          </a:xfrm>
        </p:spPr>
        <p:txBody>
          <a:bodyPr/>
          <a:lstStyle/>
          <a:p>
            <a:pPr algn="ctr"/>
            <a:r>
              <a:rPr lang="en-US" sz="4000" dirty="0"/>
              <a:t>Chapter 5</a:t>
            </a:r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9503E6-0400-464C-9594-A33DA3356EF0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4960137"/>
            <a:ext cx="58293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Divide and Conquer technique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00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Introduction to Divide and Conquer technique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dirty="0"/>
              <a:t>Divide-and-Conquer Examples</a:t>
            </a:r>
            <a:endParaRPr lang="en-US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Merge Sort Algorithm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Quick Sort Algorithm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altLang="en-US" sz="2200" dirty="0"/>
              <a:t>Binary tree traversals</a:t>
            </a:r>
            <a:endParaRPr lang="en-US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Closest-Pair Problem by Divide and Conquer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altLang="en-US" sz="2200" dirty="0"/>
              <a:t>Binary search:</a:t>
            </a:r>
            <a:endParaRPr lang="en-US" sz="2200" dirty="0"/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0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C9F8-6109-4AB3-8F8C-E31F966F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Divide-and-Conquer Technique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8323-C32B-43DE-8D3B-5D006F0E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In politics , Divide  is a combination of political, military,  and economic strategy of gaining and maintaining power by </a:t>
            </a:r>
            <a:r>
              <a:rPr lang="en-US" altLang="en-US" sz="2400" b="1" u="sng" dirty="0">
                <a:solidFill>
                  <a:srgbClr val="FF0000"/>
                </a:solidFill>
              </a:rPr>
              <a:t>breaking larger construction of power into chunks </a:t>
            </a:r>
            <a:r>
              <a:rPr lang="en-US" altLang="en-US" sz="2400" dirty="0"/>
              <a:t>that </a:t>
            </a:r>
            <a:r>
              <a:rPr lang="en-US" altLang="en-US" sz="2400" b="1" u="sng" dirty="0">
                <a:solidFill>
                  <a:srgbClr val="FF0000"/>
                </a:solidFill>
              </a:rPr>
              <a:t>individually have less power than the one </a:t>
            </a:r>
            <a:r>
              <a:rPr lang="en-US" altLang="en-US" sz="2400" dirty="0"/>
              <a:t>who is implementing the strategy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CCA97-B4DC-4940-B1C0-05A4F46E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4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7738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C9F8-6109-4AB3-8F8C-E31F966F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Divide-and-Conquer Technique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8323-C32B-43DE-8D3B-5D006F0E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/>
              <a:t>The most-well known algorithm design strategy:</a:t>
            </a:r>
          </a:p>
          <a:p>
            <a:pPr>
              <a:lnSpc>
                <a:spcPct val="150000"/>
              </a:lnSpc>
            </a:pPr>
            <a:r>
              <a:rPr lang="en-US" altLang="en-US" sz="2400" b="1" dirty="0"/>
              <a:t>Three steps are involved in Divide and Conquer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/>
              <a:t>Divide instance of problem into two or more smaller instances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/>
              <a:t>Solve smaller instances recursively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/>
              <a:t>Obtain solution to original (larger) instance by combining these solutions</a:t>
            </a:r>
          </a:p>
          <a:p>
            <a:endParaRPr lang="en-US" alt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CCA97-B4DC-4940-B1C0-05A4F46E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5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27065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C9F8-6109-4AB3-8F8C-E31F966F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Divide-and-Conquer Technique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8323-C32B-43DE-8D3B-5D006F0E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CCA97-B4DC-4940-B1C0-05A4F46E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6</a:t>
            </a:fld>
            <a:endParaRPr lang="ar-SA" dirty="0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9F87F1E5-9BD9-4C05-AC65-126C8566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719536"/>
            <a:ext cx="2286000" cy="838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dirty="0"/>
              <a:t>subproblem 2 </a:t>
            </a:r>
          </a:p>
          <a:p>
            <a:r>
              <a:rPr lang="en-US" altLang="en-US" sz="2000" dirty="0"/>
              <a:t>of size </a:t>
            </a:r>
            <a:r>
              <a:rPr lang="en-US" altLang="en-US" sz="2000" i="1" dirty="0"/>
              <a:t>n</a:t>
            </a:r>
            <a:r>
              <a:rPr lang="en-US" altLang="en-US" sz="2000" dirty="0"/>
              <a:t>/2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2ADF27D3-A3D5-4CD2-A54B-A00E1570D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719536"/>
            <a:ext cx="2286000" cy="838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dirty="0"/>
              <a:t>subproblem 1 </a:t>
            </a:r>
          </a:p>
          <a:p>
            <a:r>
              <a:rPr lang="en-US" altLang="en-US" sz="2000" dirty="0"/>
              <a:t>of size </a:t>
            </a:r>
            <a:r>
              <a:rPr lang="en-US" altLang="en-US" sz="2000" i="1" dirty="0"/>
              <a:t>n</a:t>
            </a:r>
            <a:r>
              <a:rPr lang="en-US" altLang="en-US" sz="2000" dirty="0"/>
              <a:t>/2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9A1FFAA-4E23-4EAD-A8E8-FAFE6A202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014936"/>
            <a:ext cx="2286000" cy="685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dirty="0"/>
              <a:t>a solution to </a:t>
            </a:r>
          </a:p>
          <a:p>
            <a:pPr algn="ctr"/>
            <a:r>
              <a:rPr lang="en-US" altLang="en-US" sz="2000" dirty="0"/>
              <a:t>subproblem 1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E78F9F0-10D4-4BEB-8E6A-B258DA321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767536"/>
            <a:ext cx="2286000" cy="685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dirty="0"/>
              <a:t>a solution to</a:t>
            </a:r>
          </a:p>
          <a:p>
            <a:pPr algn="ctr"/>
            <a:r>
              <a:rPr lang="en-US" altLang="en-US" sz="2000" dirty="0"/>
              <a:t>the original problem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EA530493-FE0E-4B7C-B55E-8F1E17C3B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014936"/>
            <a:ext cx="2286000" cy="685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dirty="0"/>
              <a:t>a solution to </a:t>
            </a:r>
          </a:p>
          <a:p>
            <a:pPr algn="ctr"/>
            <a:r>
              <a:rPr lang="en-US" altLang="en-US" sz="2000" dirty="0"/>
              <a:t>subproblem 2</a:t>
            </a: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8C72A234-A1E6-4C5F-858D-BC23844204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14736"/>
            <a:ext cx="144780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2222A7C0-C3E1-47B3-A2A8-CF5A8A454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414736"/>
            <a:ext cx="152400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22E31A74-C331-4117-AB8E-4F9221C03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652736"/>
            <a:ext cx="2286000" cy="838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dirty="0"/>
              <a:t>a problem of size </a:t>
            </a:r>
            <a:r>
              <a:rPr lang="en-US" altLang="en-US" sz="2000" i="1" dirty="0"/>
              <a:t>n</a:t>
            </a:r>
            <a:endParaRPr lang="en-US" altLang="en-US" sz="2000" dirty="0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21B2CA6F-E61A-40C0-B909-93C5AEF3B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557736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66437C06-7912-4505-B7C9-310B2A015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557736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4CF10563-99AE-4E32-8194-693E1E800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700736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02D01067-47C2-4604-875B-2E8A61D7B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700736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6D0448DC-F24C-4B98-BD62-21F04FE40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234136"/>
            <a:ext cx="44196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FD7666E6-EFAD-435B-8BC6-80C8FBADE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234136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B62E28-384F-4ED6-923E-0193FB593C2E}"/>
              </a:ext>
            </a:extLst>
          </p:cNvPr>
          <p:cNvSpPr/>
          <p:nvPr/>
        </p:nvSpPr>
        <p:spPr>
          <a:xfrm>
            <a:off x="3204854" y="3286571"/>
            <a:ext cx="280557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Don’t assume always</a:t>
            </a:r>
          </a:p>
          <a:p>
            <a:pPr algn="ctr"/>
            <a:r>
              <a:rPr lang="en-US" altLang="en-US" dirty="0">
                <a:solidFill>
                  <a:srgbClr val="FF0000"/>
                </a:solidFill>
              </a:rPr>
              <a:t>break up into 2 could be &gt;2</a:t>
            </a:r>
          </a:p>
          <a:p>
            <a:pPr algn="ctr"/>
            <a:r>
              <a:rPr lang="en-US" altLang="en-US" dirty="0">
                <a:solidFill>
                  <a:srgbClr val="FF0000"/>
                </a:solidFill>
              </a:rPr>
              <a:t>Subproblems </a:t>
            </a:r>
          </a:p>
        </p:txBody>
      </p:sp>
    </p:spTree>
    <p:extLst>
      <p:ext uri="{BB962C8B-B14F-4D97-AF65-F5344CB8AC3E}">
        <p14:creationId xmlns:p14="http://schemas.microsoft.com/office/powerpoint/2010/main" val="409196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9D4E-E271-4E4F-B3D8-E16F7521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Divide-and-Conquer Technique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5F84A-33C9-4D5D-9EFC-C6B5DE4A5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4675" indent="-574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Usually in div &amp; </a:t>
            </a:r>
            <a:r>
              <a:rPr lang="en-US" sz="2400" dirty="0" err="1"/>
              <a:t>Conq</a:t>
            </a:r>
            <a:r>
              <a:rPr lang="en-US" sz="2400" dirty="0"/>
              <a:t>. A problem instance of size n is divided into two instances of size n / 2.</a:t>
            </a:r>
          </a:p>
          <a:p>
            <a:pPr marL="574675" indent="-574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More Generally, it could be divided into b instances. 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T(n) = a T (n / b) + f(n)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F1629-832E-40E3-B650-63DB44C2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7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26431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B566-F1C5-4533-A7C7-C8372CA1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 : Computing Powers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C5D26-7EC1-4080-B78A-48E3B21F9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ahoma" charset="0"/>
              </a:rPr>
              <a:t>The power function, p(</a:t>
            </a:r>
            <a:r>
              <a:rPr lang="en-US" sz="2400" dirty="0" err="1">
                <a:latin typeface="Tahoma" charset="0"/>
              </a:rPr>
              <a:t>x,n</a:t>
            </a:r>
            <a:r>
              <a:rPr lang="en-US" sz="2400" dirty="0">
                <a:latin typeface="Tahoma" charset="0"/>
              </a:rPr>
              <a:t>)=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r>
              <a:rPr lang="en-US" sz="2400" baseline="30000" dirty="0">
                <a:latin typeface="Tahoma" charset="0"/>
              </a:rPr>
              <a:t> </a:t>
            </a:r>
            <a:r>
              <a:rPr lang="en-US" sz="2400" dirty="0">
                <a:latin typeface="Tahoma" charset="0"/>
              </a:rPr>
              <a:t> = x * x</a:t>
            </a:r>
            <a:r>
              <a:rPr lang="en-US" sz="2400" baseline="30000" dirty="0">
                <a:latin typeface="Tahoma" charset="0"/>
              </a:rPr>
              <a:t>n-1</a:t>
            </a:r>
          </a:p>
          <a:p>
            <a:endParaRPr lang="en-US" baseline="30000" dirty="0">
              <a:latin typeface="Tahoma" charset="0"/>
            </a:endParaRPr>
          </a:p>
          <a:p>
            <a:endParaRPr lang="en-US" baseline="30000" dirty="0">
              <a:latin typeface="Tahoma" charset="0"/>
            </a:endParaRPr>
          </a:p>
          <a:p>
            <a:endParaRPr lang="en-US" baseline="30000" dirty="0">
              <a:latin typeface="Tahoma" charset="0"/>
            </a:endParaRPr>
          </a:p>
          <a:p>
            <a:endParaRPr lang="en-US" baseline="30000" dirty="0">
              <a:latin typeface="Tahoma" charset="0"/>
            </a:endParaRPr>
          </a:p>
          <a:p>
            <a:pPr algn="ctr"/>
            <a:endParaRPr lang="en-US" sz="2600" baseline="30000" dirty="0">
              <a:solidFill>
                <a:srgbClr val="FF0000"/>
              </a:solidFill>
              <a:latin typeface="Tahoma" charset="0"/>
            </a:endParaRPr>
          </a:p>
          <a:p>
            <a:pPr algn="ctr"/>
            <a:endParaRPr lang="en-US" sz="2600" baseline="30000" dirty="0">
              <a:solidFill>
                <a:srgbClr val="FF0000"/>
              </a:solidFill>
              <a:latin typeface="Tahoma" charset="0"/>
            </a:endParaRPr>
          </a:p>
          <a:p>
            <a:pPr algn="ctr"/>
            <a:endParaRPr lang="en-US" sz="2600" baseline="30000" dirty="0">
              <a:solidFill>
                <a:srgbClr val="FF0000"/>
              </a:solidFill>
              <a:latin typeface="Tahoma" charset="0"/>
            </a:endParaRPr>
          </a:p>
          <a:p>
            <a:pPr algn="ctr"/>
            <a:r>
              <a:rPr lang="en-US" sz="2600" baseline="30000" dirty="0">
                <a:solidFill>
                  <a:srgbClr val="FF0000"/>
                </a:solidFill>
                <a:latin typeface="Tahoma" charset="0"/>
              </a:rPr>
              <a:t>O( n 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D6343-02F6-4BA8-9513-0DF1695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8</a:t>
            </a:fld>
            <a:endParaRPr lang="ar-S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31B9C07D-C527-494C-A316-D193F3598BA4}"/>
                  </a:ext>
                </a:extLst>
              </p:cNvPr>
              <p:cNvSpPr txBox="1"/>
              <p:nvPr/>
            </p:nvSpPr>
            <p:spPr bwMode="auto">
              <a:xfrm>
                <a:off x="1905000" y="3429000"/>
                <a:ext cx="5334000" cy="13446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rgbClr val="80808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/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,(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/>
                                          </m:sSup>
                                        </m:e>
                                      </m:eqArr>
                                    </m:e>
                                  </m:mr>
                                  <m:mr>
                                    <m:e/>
                                  </m:mr>
                                </m:m>
                              </m:e>
                              <m:e>
                                <m:eqArr>
                                  <m:eqArr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sz="2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/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𝑒𝑙𝑠𝑒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  <m:mr>
                                        <m:e/>
                                      </m:mr>
                                    </m:m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31B9C07D-C527-494C-A316-D193F3598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429000"/>
                <a:ext cx="5334000" cy="1344612"/>
              </a:xfrm>
              <a:prstGeom prst="rect">
                <a:avLst/>
              </a:prstGeom>
              <a:blipFill>
                <a:blip r:embed="rId2"/>
                <a:stretch>
                  <a:fillRect b="-454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29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B566-F1C5-4533-A7C7-C8372CA1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 : Computing Powers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C5D26-7EC1-4080-B78A-48E3B21F9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ahoma" charset="0"/>
              </a:rPr>
              <a:t>The power function, p(</a:t>
            </a:r>
            <a:r>
              <a:rPr lang="en-US" sz="2400" dirty="0" err="1">
                <a:latin typeface="Tahoma" charset="0"/>
              </a:rPr>
              <a:t>x,n</a:t>
            </a:r>
            <a:r>
              <a:rPr lang="en-US" sz="2400" dirty="0">
                <a:latin typeface="Tahoma" charset="0"/>
              </a:rPr>
              <a:t>)=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r>
              <a:rPr lang="en-US" sz="2400" baseline="30000" dirty="0">
                <a:latin typeface="Tahoma" charset="0"/>
              </a:rPr>
              <a:t> </a:t>
            </a:r>
            <a:r>
              <a:rPr lang="en-US" sz="2400" dirty="0">
                <a:latin typeface="Tahoma" charset="0"/>
              </a:rPr>
              <a:t> = 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r>
              <a:rPr lang="en-US" sz="2400" baseline="30000" dirty="0">
                <a:latin typeface="Tahoma" charset="0"/>
              </a:rPr>
              <a:t>/2</a:t>
            </a:r>
            <a:r>
              <a:rPr lang="en-US" sz="2400" dirty="0">
                <a:latin typeface="Tahoma" charset="0"/>
              </a:rPr>
              <a:t> * 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r>
              <a:rPr lang="en-US" sz="2400" baseline="30000" dirty="0">
                <a:latin typeface="Tahoma" charset="0"/>
              </a:rPr>
              <a:t>/2</a:t>
            </a:r>
            <a:r>
              <a:rPr lang="en-US" sz="2400" dirty="0">
                <a:latin typeface="Tahoma" charset="0"/>
              </a:rPr>
              <a:t> </a:t>
            </a:r>
          </a:p>
          <a:p>
            <a:endParaRPr lang="en-US" baseline="30000" dirty="0">
              <a:latin typeface="Tahoma" charset="0"/>
            </a:endParaRPr>
          </a:p>
          <a:p>
            <a:endParaRPr lang="en-US" baseline="30000" dirty="0">
              <a:latin typeface="Tahoma" charset="0"/>
            </a:endParaRPr>
          </a:p>
          <a:p>
            <a:endParaRPr lang="en-US" baseline="30000" dirty="0">
              <a:latin typeface="Tahoma" charset="0"/>
            </a:endParaRPr>
          </a:p>
          <a:p>
            <a:endParaRPr lang="en-US" baseline="30000" dirty="0">
              <a:latin typeface="Tahoma" charset="0"/>
            </a:endParaRPr>
          </a:p>
          <a:p>
            <a:pPr marL="0" indent="0">
              <a:buNone/>
            </a:pPr>
            <a:r>
              <a:rPr lang="en-US" sz="2800" dirty="0">
                <a:latin typeface="Tahoma" charset="0"/>
              </a:rPr>
              <a:t> Examples </a:t>
            </a:r>
          </a:p>
          <a:p>
            <a:pPr lvl="1">
              <a:buNone/>
            </a:pP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16</a:t>
            </a:r>
          </a:p>
          <a:p>
            <a:pPr lvl="1">
              <a:buNone/>
            </a:pP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5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+(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4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32</a:t>
            </a:r>
            <a:endParaRPr lang="en-US" sz="2200" dirty="0">
              <a:solidFill>
                <a:srgbClr val="000000"/>
              </a:solidFill>
              <a:latin typeface="CMR10" charset="0"/>
            </a:endParaRPr>
          </a:p>
          <a:p>
            <a:pPr lvl="1">
              <a:buNone/>
            </a:pP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 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2)2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8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64</a:t>
            </a:r>
          </a:p>
          <a:p>
            <a:pPr lvl="1">
              <a:buNone/>
            </a:pP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7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1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+(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6</a:t>
            </a:r>
            <a:r>
              <a:rPr lang="en-US" sz="2200" i="1" baseline="30000" dirty="0">
                <a:solidFill>
                  <a:srgbClr val="000000"/>
                </a:solidFill>
                <a:latin typeface="CMMI10" charset="0"/>
              </a:rPr>
              <a:t>/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 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8</a:t>
            </a:r>
            <a:r>
              <a:rPr lang="en-US" sz="2200" baseline="30000" dirty="0">
                <a:solidFill>
                  <a:srgbClr val="000000"/>
                </a:solidFill>
                <a:latin typeface="Times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sz="2200" dirty="0">
                <a:solidFill>
                  <a:srgbClr val="000000"/>
                </a:solidFill>
                <a:latin typeface="Times" charset="0"/>
              </a:rPr>
              <a:t>128</a:t>
            </a:r>
            <a:endParaRPr lang="en-US" sz="2200" baseline="30000" dirty="0">
              <a:latin typeface="Tahoma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D6343-02F6-4BA8-9513-0DF1695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9</a:t>
            </a:fld>
            <a:endParaRPr lang="ar-S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FD415C1-5426-4BCC-813C-2DA89A35FF50}"/>
                  </a:ext>
                </a:extLst>
              </p:cNvPr>
              <p:cNvSpPr txBox="1"/>
              <p:nvPr/>
            </p:nvSpPr>
            <p:spPr bwMode="auto">
              <a:xfrm>
                <a:off x="1905000" y="2953068"/>
                <a:ext cx="5334000" cy="13446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rgbClr val="80808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)/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if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if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odd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if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even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FD415C1-5426-4BCC-813C-2DA89A35F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2953068"/>
                <a:ext cx="5334000" cy="1344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69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C8F5672-C8DD-3E47-B7D2-D36109E0E29A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Analysis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5317976" cy="4419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Algorithm </a:t>
            </a:r>
            <a:r>
              <a:rPr lang="en-US" sz="2400" dirty="0">
                <a:solidFill>
                  <a:srgbClr val="FF0000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n):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 Input: </a:t>
            </a:r>
            <a:r>
              <a:rPr lang="en-US" sz="2400" dirty="0">
                <a:latin typeface="Tahoma" charset="0"/>
              </a:rPr>
              <a:t>A number x and integer n = 0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 Output: </a:t>
            </a:r>
            <a:r>
              <a:rPr lang="en-US" sz="2400" dirty="0">
                <a:latin typeface="Tahoma" charset="0"/>
              </a:rPr>
              <a:t>The value </a:t>
            </a:r>
            <a:r>
              <a:rPr lang="en-US" sz="2400" dirty="0" err="1">
                <a:latin typeface="Tahoma" charset="0"/>
              </a:rPr>
              <a:t>x</a:t>
            </a:r>
            <a:r>
              <a:rPr lang="en-US" sz="2400" baseline="30000" dirty="0" err="1">
                <a:latin typeface="Tahoma" charset="0"/>
              </a:rPr>
              <a:t>n</a:t>
            </a:r>
            <a:endParaRPr lang="en-US" sz="2400" baseline="300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if </a:t>
            </a:r>
            <a:r>
              <a:rPr lang="en-US" sz="2400" dirty="0">
                <a:latin typeface="Tahoma" charset="0"/>
              </a:rPr>
              <a:t>n = 0	</a:t>
            </a:r>
            <a:r>
              <a:rPr lang="en-US" sz="2400" b="1" dirty="0">
                <a:latin typeface="Tahoma" charset="0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1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if </a:t>
            </a:r>
            <a:r>
              <a:rPr lang="en-US" sz="2400" dirty="0">
                <a:latin typeface="Tahoma" charset="0"/>
              </a:rPr>
              <a:t>n is odd </a:t>
            </a:r>
            <a:r>
              <a:rPr lang="en-US" sz="2400" b="1" dirty="0">
                <a:latin typeface="Tahoma" charset="0"/>
              </a:rPr>
              <a:t>then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dirty="0">
                <a:latin typeface="Tahoma" charset="0"/>
              </a:rPr>
              <a:t>		y  = </a:t>
            </a:r>
            <a:r>
              <a:rPr lang="en-US" sz="2400" dirty="0">
                <a:solidFill>
                  <a:srgbClr val="FF0000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(n - 1)/ 2)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x · y · y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     else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dirty="0">
                <a:latin typeface="Tahoma" charset="0"/>
              </a:rPr>
              <a:t>		y = </a:t>
            </a:r>
            <a:r>
              <a:rPr lang="en-US" sz="2400" dirty="0">
                <a:solidFill>
                  <a:srgbClr val="FF0000"/>
                </a:solidFill>
                <a:latin typeface="Tahoma" charset="0"/>
              </a:rPr>
              <a:t>Power</a:t>
            </a:r>
            <a:r>
              <a:rPr lang="en-US" sz="2400" dirty="0">
                <a:latin typeface="Tahoma" charset="0"/>
              </a:rPr>
              <a:t>(x, n/ 2)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Tahoma" charset="0"/>
              </a:rPr>
              <a:t>		return </a:t>
            </a:r>
            <a:r>
              <a:rPr lang="en-US" sz="2400" dirty="0">
                <a:latin typeface="Tahoma" charset="0"/>
              </a:rPr>
              <a:t>y · 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498069-990C-4341-9FFD-B5553D3C4582}"/>
              </a:ext>
            </a:extLst>
          </p:cNvPr>
          <p:cNvGrpSpPr/>
          <p:nvPr/>
        </p:nvGrpSpPr>
        <p:grpSpPr>
          <a:xfrm>
            <a:off x="3275856" y="4732338"/>
            <a:ext cx="5503019" cy="1620837"/>
            <a:chOff x="3275856" y="4732338"/>
            <a:chExt cx="5503019" cy="1620837"/>
          </a:xfrm>
        </p:grpSpPr>
        <p:sp>
          <p:nvSpPr>
            <p:cNvPr id="12295" name="Text Box 5"/>
            <p:cNvSpPr txBox="1">
              <a:spLocks noChangeArrowheads="1"/>
            </p:cNvSpPr>
            <p:nvPr/>
          </p:nvSpPr>
          <p:spPr bwMode="auto">
            <a:xfrm>
              <a:off x="5715000" y="5029200"/>
              <a:ext cx="3063875" cy="1323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Comic Sans MS" pitchFamily="66" charset="0"/>
                  <a:ea typeface="+mn-ea"/>
                  <a:cs typeface="+mn-cs"/>
                </a:rPr>
                <a:t>It is important that we use a variable twice here rather than calling the method twice.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DEE0A98-A7A3-4810-BB52-19D8D52C03FE}"/>
                </a:ext>
              </a:extLst>
            </p:cNvPr>
            <p:cNvGrpSpPr/>
            <p:nvPr/>
          </p:nvGrpSpPr>
          <p:grpSpPr>
            <a:xfrm>
              <a:off x="3275856" y="4732338"/>
              <a:ext cx="2439144" cy="1071616"/>
              <a:chOff x="3275856" y="4732338"/>
              <a:chExt cx="2439144" cy="1071616"/>
            </a:xfrm>
          </p:grpSpPr>
          <p:sp>
            <p:nvSpPr>
              <p:cNvPr id="12294" name="Line 4"/>
              <p:cNvSpPr>
                <a:spLocks noChangeShapeType="1"/>
              </p:cNvSpPr>
              <p:nvPr/>
            </p:nvSpPr>
            <p:spPr bwMode="auto">
              <a:xfrm>
                <a:off x="3275856" y="4732338"/>
                <a:ext cx="2439144" cy="954087"/>
              </a:xfrm>
              <a:prstGeom prst="line">
                <a:avLst/>
              </a:prstGeom>
              <a:noFill/>
              <a:ln w="38100">
                <a:solidFill>
                  <a:schemeClr val="bg2">
                    <a:lumMod val="75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>
                  <a:solidFill>
                    <a:schemeClr val="bg2">
                      <a:lumMod val="75000"/>
                    </a:schemeClr>
                  </a:solidFill>
                  <a:latin typeface="Tahom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Line 4"/>
              <p:cNvSpPr>
                <a:spLocks noChangeShapeType="1"/>
              </p:cNvSpPr>
              <p:nvPr/>
            </p:nvSpPr>
            <p:spPr bwMode="auto">
              <a:xfrm flipV="1">
                <a:off x="3275856" y="5715000"/>
                <a:ext cx="2439144" cy="88954"/>
              </a:xfrm>
              <a:prstGeom prst="line">
                <a:avLst/>
              </a:prstGeom>
              <a:noFill/>
              <a:ln w="38100">
                <a:solidFill>
                  <a:schemeClr val="bg2">
                    <a:lumMod val="75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>
                  <a:solidFill>
                    <a:schemeClr val="bg2">
                      <a:lumMod val="75000"/>
                    </a:schemeClr>
                  </a:solidFill>
                  <a:latin typeface="Tahoma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FCB7BAB-C65D-4927-A3A8-E11F0F9F7901}"/>
              </a:ext>
            </a:extLst>
          </p:cNvPr>
          <p:cNvGrpSpPr/>
          <p:nvPr/>
        </p:nvGrpSpPr>
        <p:grpSpPr>
          <a:xfrm>
            <a:off x="2987749" y="2514600"/>
            <a:ext cx="5775251" cy="2801579"/>
            <a:chOff x="2987749" y="2514600"/>
            <a:chExt cx="5775251" cy="2801579"/>
          </a:xfrm>
        </p:grpSpPr>
        <p:sp>
          <p:nvSpPr>
            <p:cNvPr id="27655" name="Text Box 7"/>
            <p:cNvSpPr txBox="1">
              <a:spLocks noChangeArrowheads="1"/>
            </p:cNvSpPr>
            <p:nvPr/>
          </p:nvSpPr>
          <p:spPr bwMode="auto">
            <a:xfrm>
              <a:off x="5715000" y="2514600"/>
              <a:ext cx="3048000" cy="2246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Comic Sans MS" charset="0"/>
                </a:rPr>
                <a:t>Each time we make a recursive call we halve the value of n; hence, we make log n recursive calls. That is, this method runs in O(log n) time</a:t>
              </a:r>
              <a:r>
                <a:rPr lang="en-US" sz="2000" dirty="0">
                  <a:solidFill>
                    <a:schemeClr val="tx2"/>
                  </a:solidFill>
                  <a:latin typeface="Comic Sans MS" charset="0"/>
                </a:rPr>
                <a:t>.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485A846-596A-4E86-93FF-813D1076CA22}"/>
                </a:ext>
              </a:extLst>
            </p:cNvPr>
            <p:cNvGrpSpPr/>
            <p:nvPr/>
          </p:nvGrpSpPr>
          <p:grpSpPr>
            <a:xfrm>
              <a:off x="2987749" y="2978553"/>
              <a:ext cx="2684469" cy="2337626"/>
              <a:chOff x="2987749" y="2978553"/>
              <a:chExt cx="2684469" cy="2337626"/>
            </a:xfrm>
          </p:grpSpPr>
          <p:sp>
            <p:nvSpPr>
              <p:cNvPr id="27658" name="Line 4"/>
              <p:cNvSpPr>
                <a:spLocks noChangeShapeType="1"/>
              </p:cNvSpPr>
              <p:nvPr/>
            </p:nvSpPr>
            <p:spPr bwMode="auto">
              <a:xfrm flipV="1">
                <a:off x="2987749" y="2978553"/>
                <a:ext cx="2684469" cy="115450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659" name="Line 4"/>
              <p:cNvSpPr>
                <a:spLocks noChangeShapeType="1"/>
              </p:cNvSpPr>
              <p:nvPr/>
            </p:nvSpPr>
            <p:spPr bwMode="auto">
              <a:xfrm flipV="1">
                <a:off x="3065395" y="2978553"/>
                <a:ext cx="2606823" cy="233762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Add n number using divide and conquer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11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322736"/>
              </p:ext>
            </p:extLst>
          </p:nvPr>
        </p:nvGraphicFramePr>
        <p:xfrm>
          <a:off x="3851920" y="1935096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981510"/>
              </p:ext>
            </p:extLst>
          </p:nvPr>
        </p:nvGraphicFramePr>
        <p:xfrm>
          <a:off x="1871700" y="26369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833594"/>
              </p:ext>
            </p:extLst>
          </p:nvPr>
        </p:nvGraphicFramePr>
        <p:xfrm>
          <a:off x="6588224" y="26369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06256"/>
              </p:ext>
            </p:extLst>
          </p:nvPr>
        </p:nvGraphicFramePr>
        <p:xfrm>
          <a:off x="1187624" y="3146688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723802"/>
              </p:ext>
            </p:extLst>
          </p:nvPr>
        </p:nvGraphicFramePr>
        <p:xfrm>
          <a:off x="3083104" y="3140968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518735"/>
              </p:ext>
            </p:extLst>
          </p:nvPr>
        </p:nvGraphicFramePr>
        <p:xfrm>
          <a:off x="5796136" y="3140968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380790"/>
              </p:ext>
            </p:extLst>
          </p:nvPr>
        </p:nvGraphicFramePr>
        <p:xfrm>
          <a:off x="7740352" y="3140968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1278872" y="388822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3165828" y="388822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5881160" y="3909072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6855308" y="4378815"/>
            <a:ext cx="43794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7762058" y="3873062"/>
            <a:ext cx="43794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117976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117976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2819792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2819792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 flipH="1">
            <a:off x="7981029" y="3506728"/>
            <a:ext cx="2350" cy="366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flipH="1">
            <a:off x="6036812" y="3506728"/>
            <a:ext cx="2351" cy="402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2819792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2819792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1430651" y="3512448"/>
            <a:ext cx="3873" cy="37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3321480" y="3506728"/>
            <a:ext cx="4651" cy="381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55679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69248" y="2243728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27973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79548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C81D93D-1ED2-4A03-A1C4-EBD40644D5AC}"/>
              </a:ext>
            </a:extLst>
          </p:cNvPr>
          <p:cNvSpPr/>
          <p:nvPr/>
        </p:nvSpPr>
        <p:spPr>
          <a:xfrm>
            <a:off x="2138784" y="4378815"/>
            <a:ext cx="43794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D3B8AFD-60DB-45CD-BF03-28284839B396}"/>
              </a:ext>
            </a:extLst>
          </p:cNvPr>
          <p:cNvCxnSpPr>
            <a:cxnSpLocks/>
            <a:stCxn id="17" idx="2"/>
            <a:endCxn id="66" idx="3"/>
          </p:cNvCxnSpPr>
          <p:nvPr/>
        </p:nvCxnSpPr>
        <p:spPr>
          <a:xfrm rot="5400000">
            <a:off x="2796143" y="4038144"/>
            <a:ext cx="305920" cy="7447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46AD25E-B531-416A-B466-4A8D711A370A}"/>
              </a:ext>
            </a:extLst>
          </p:cNvPr>
          <p:cNvCxnSpPr>
            <a:cxnSpLocks/>
            <a:stCxn id="15" idx="2"/>
            <a:endCxn id="66" idx="1"/>
          </p:cNvCxnSpPr>
          <p:nvPr/>
        </p:nvCxnSpPr>
        <p:spPr>
          <a:xfrm rot="16200000" flipH="1">
            <a:off x="1633694" y="4058391"/>
            <a:ext cx="305920" cy="7042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DED6B1E-4DC5-4934-95DA-1E6B23B26339}"/>
              </a:ext>
            </a:extLst>
          </p:cNvPr>
          <p:cNvCxnSpPr>
            <a:cxnSpLocks/>
            <a:stCxn id="20" idx="2"/>
            <a:endCxn id="22" idx="1"/>
          </p:cNvCxnSpPr>
          <p:nvPr/>
        </p:nvCxnSpPr>
        <p:spPr>
          <a:xfrm rot="16200000" flipH="1">
            <a:off x="6303522" y="4011694"/>
            <a:ext cx="285077" cy="8184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0652100-336A-4A45-A704-088207208DE0}"/>
              </a:ext>
            </a:extLst>
          </p:cNvPr>
          <p:cNvCxnSpPr>
            <a:cxnSpLocks/>
            <a:stCxn id="23" idx="2"/>
            <a:endCxn id="22" idx="3"/>
          </p:cNvCxnSpPr>
          <p:nvPr/>
        </p:nvCxnSpPr>
        <p:spPr>
          <a:xfrm rot="5400000">
            <a:off x="7476596" y="4059047"/>
            <a:ext cx="321087" cy="6877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185F7AEF-8FE8-4430-ABF3-1BECC6C50EC4}"/>
              </a:ext>
            </a:extLst>
          </p:cNvPr>
          <p:cNvSpPr/>
          <p:nvPr/>
        </p:nvSpPr>
        <p:spPr>
          <a:xfrm>
            <a:off x="4605057" y="5003884"/>
            <a:ext cx="43794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FD7FBCB-C1A1-4DF2-B6F7-6574EDC3D7C0}"/>
              </a:ext>
            </a:extLst>
          </p:cNvPr>
          <p:cNvCxnSpPr>
            <a:cxnSpLocks/>
            <a:stCxn id="22" idx="2"/>
            <a:endCxn id="77" idx="3"/>
          </p:cNvCxnSpPr>
          <p:nvPr/>
        </p:nvCxnSpPr>
        <p:spPr>
          <a:xfrm rot="5400000">
            <a:off x="5838438" y="3952708"/>
            <a:ext cx="440403" cy="20312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9C576C7-DF5F-4727-A247-7A19CDFDB7DC}"/>
              </a:ext>
            </a:extLst>
          </p:cNvPr>
          <p:cNvCxnSpPr>
            <a:cxnSpLocks/>
            <a:stCxn id="66" idx="2"/>
            <a:endCxn id="77" idx="1"/>
          </p:cNvCxnSpPr>
          <p:nvPr/>
        </p:nvCxnSpPr>
        <p:spPr>
          <a:xfrm rot="16200000" flipH="1">
            <a:off x="3261205" y="3844697"/>
            <a:ext cx="440403" cy="22473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E77A389-F1EC-4A2C-8136-87E7FB67623E}"/>
              </a:ext>
            </a:extLst>
          </p:cNvPr>
          <p:cNvSpPr/>
          <p:nvPr/>
        </p:nvSpPr>
        <p:spPr>
          <a:xfrm>
            <a:off x="21203" y="3873061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Add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F43756-8028-4E5A-94AE-73B46069D011}"/>
              </a:ext>
            </a:extLst>
          </p:cNvPr>
          <p:cNvSpPr/>
          <p:nvPr/>
        </p:nvSpPr>
        <p:spPr>
          <a:xfrm>
            <a:off x="497460" y="5493507"/>
            <a:ext cx="77055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# of additions is the same as in brute force , need stack for recursion , it could be better for parallel processor thought</a:t>
            </a:r>
            <a:endParaRPr lang="en-US" sz="24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935A74-3ABF-476D-AB56-5A7930969045}"/>
              </a:ext>
            </a:extLst>
          </p:cNvPr>
          <p:cNvSpPr/>
          <p:nvPr/>
        </p:nvSpPr>
        <p:spPr>
          <a:xfrm>
            <a:off x="2369248" y="6277503"/>
            <a:ext cx="4812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0070C0"/>
                </a:solidFill>
              </a:rPr>
              <a:t>Not all Divide and Conquer works 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C3683E6-7638-441C-BC0F-BFF08C162583}"/>
              </a:ext>
            </a:extLst>
          </p:cNvPr>
          <p:cNvSpPr/>
          <p:nvPr/>
        </p:nvSpPr>
        <p:spPr>
          <a:xfrm>
            <a:off x="4442620" y="4001794"/>
            <a:ext cx="10679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Comic Sans MS" charset="0"/>
              </a:rPr>
              <a:t>O( n)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3502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0" grpId="0" animBg="1"/>
      <p:bldP spid="22" grpId="0" animBg="1"/>
      <p:bldP spid="23" grpId="0" animBg="1"/>
      <p:bldP spid="139" grpId="0"/>
      <p:bldP spid="66" grpId="0" animBg="1"/>
      <p:bldP spid="77" grpId="0" animBg="1"/>
      <p:bldP spid="82" grpId="0"/>
      <p:bldP spid="50" grpId="0"/>
      <p:bldP spid="52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/>
              <a:t>Introduction to Divide and Conquer strategy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dirty="0">
                <a:solidFill>
                  <a:srgbClr val="FF0000"/>
                </a:solidFill>
              </a:rPr>
              <a:t>Divide-and-Conquer Examples</a:t>
            </a:r>
            <a:endParaRPr lang="en-US" sz="24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>
                <a:solidFill>
                  <a:srgbClr val="FF0000"/>
                </a:solidFill>
              </a:rPr>
              <a:t>Merge Sort Algorithm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Quick Sort Algorithm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altLang="en-US" sz="2200" dirty="0"/>
              <a:t>Binary tree traversals</a:t>
            </a:r>
            <a:endParaRPr lang="en-US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Closest-Pair Problem by Divide and Conquer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altLang="en-US" sz="2200" dirty="0"/>
              <a:t>Binary search:</a:t>
            </a:r>
            <a:endParaRPr lang="en-US" sz="2200" dirty="0"/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56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A98-6D44-4351-9125-92D9DF9C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A5A9E-50AA-45D7-9FD5-C207F5412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8463" indent="-39846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Split array A[0..</a:t>
            </a:r>
            <a:r>
              <a:rPr lang="en-US" altLang="en-US" sz="2400" i="1" dirty="0"/>
              <a:t>n</a:t>
            </a:r>
            <a:r>
              <a:rPr lang="en-US" altLang="en-US" sz="2400" dirty="0"/>
              <a:t>-1] in two about equal halves and make copies of each half  in arrays B and C</a:t>
            </a:r>
          </a:p>
          <a:p>
            <a:pPr marL="398463" indent="-39846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Sort arrays B and C recursively</a:t>
            </a:r>
          </a:p>
          <a:p>
            <a:pPr marL="398463" indent="-39846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Merge sorted arrays B and C into array A as follows:</a:t>
            </a:r>
          </a:p>
          <a:p>
            <a:pPr>
              <a:lnSpc>
                <a:spcPct val="150000"/>
              </a:lnSpc>
            </a:pPr>
            <a:endParaRPr lang="en-US" alt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0B9D6-F658-4207-AA15-6AB66FCF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13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80395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A98-6D44-4351-9125-92D9DF9C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A5A9E-50AA-45D7-9FD5-C207F5412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980368" cy="4023360"/>
          </a:xfrm>
        </p:spPr>
        <p:txBody>
          <a:bodyPr>
            <a:normAutofit fontScale="85000" lnSpcReduction="10000"/>
          </a:bodyPr>
          <a:lstStyle/>
          <a:p>
            <a:pPr marL="398463" lvl="1" indent="-398463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altLang="en-US" sz="2400" b="1" dirty="0"/>
              <a:t>Repeat the following until no elements remain in one of the arrays:</a:t>
            </a:r>
          </a:p>
          <a:p>
            <a:pPr marL="544767" lvl="3" indent="-398463">
              <a:lnSpc>
                <a:spcPct val="16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altLang="en-US" sz="2400" dirty="0"/>
              <a:t>compare the first elements in the remaining unprocessed portions of the arrays</a:t>
            </a:r>
          </a:p>
          <a:p>
            <a:pPr marL="544767" lvl="3" indent="-398463">
              <a:lnSpc>
                <a:spcPct val="16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altLang="en-US" sz="2400" dirty="0"/>
              <a:t>copy the smaller of the two into A, while incrementing the index indicating the unprocessed portion of that array </a:t>
            </a:r>
          </a:p>
          <a:p>
            <a:pPr marL="398463" lvl="1" indent="-398463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altLang="en-US" sz="2400" dirty="0"/>
              <a:t>Once all elements in one of the arrays are processed, copy the remaining unprocessed elements from the other array into A.</a:t>
            </a:r>
          </a:p>
          <a:p>
            <a:pPr>
              <a:lnSpc>
                <a:spcPct val="150000"/>
              </a:lnSpc>
            </a:pPr>
            <a:endParaRPr lang="en-US" alt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0B9D6-F658-4207-AA15-6AB66FCF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14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8013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15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79016"/>
              </p:ext>
            </p:extLst>
          </p:nvPr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509823"/>
              </p:ext>
            </p:extLst>
          </p:nvPr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63661"/>
              </p:ext>
            </p:extLst>
          </p:nvPr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472900"/>
              </p:ext>
            </p:extLst>
          </p:nvPr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07284"/>
              </p:ext>
            </p:extLst>
          </p:nvPr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971353"/>
              </p:ext>
            </p:extLst>
          </p:nvPr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10243"/>
              </p:ext>
            </p:extLst>
          </p:nvPr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56044"/>
              </p:ext>
            </p:extLst>
          </p:nvPr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838321"/>
              </p:ext>
            </p:extLst>
          </p:nvPr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520462"/>
              </p:ext>
            </p:extLst>
          </p:nvPr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620057"/>
              </p:ext>
            </p:extLst>
          </p:nvPr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291312"/>
              </p:ext>
            </p:extLst>
          </p:nvPr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26665"/>
              </p:ext>
            </p:extLst>
          </p:nvPr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29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139" grpId="0"/>
      <p:bldP spid="1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16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787757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BD55B-6EBE-4B52-A2A9-67D22990E21C}"/>
              </a:ext>
            </a:extLst>
          </p:cNvPr>
          <p:cNvCxnSpPr>
            <a:cxnSpLocks/>
          </p:cNvCxnSpPr>
          <p:nvPr/>
        </p:nvCxnSpPr>
        <p:spPr>
          <a:xfrm flipV="1">
            <a:off x="1979712" y="5871552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6702744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98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17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1647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BD55B-6EBE-4B52-A2A9-67D22990E21C}"/>
              </a:ext>
            </a:extLst>
          </p:cNvPr>
          <p:cNvCxnSpPr>
            <a:cxnSpLocks/>
          </p:cNvCxnSpPr>
          <p:nvPr/>
        </p:nvCxnSpPr>
        <p:spPr>
          <a:xfrm flipV="1">
            <a:off x="1979712" y="5871552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6948264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58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18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81308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BD55B-6EBE-4B52-A2A9-67D22990E21C}"/>
              </a:ext>
            </a:extLst>
          </p:cNvPr>
          <p:cNvCxnSpPr>
            <a:cxnSpLocks/>
          </p:cNvCxnSpPr>
          <p:nvPr/>
        </p:nvCxnSpPr>
        <p:spPr>
          <a:xfrm flipV="1">
            <a:off x="2239980" y="5871552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6948264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960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19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286651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BD55B-6EBE-4B52-A2A9-67D22990E21C}"/>
              </a:ext>
            </a:extLst>
          </p:cNvPr>
          <p:cNvCxnSpPr>
            <a:cxnSpLocks/>
          </p:cNvCxnSpPr>
          <p:nvPr/>
        </p:nvCxnSpPr>
        <p:spPr>
          <a:xfrm flipV="1">
            <a:off x="2469020" y="5871552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6948264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61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20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394089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BD55B-6EBE-4B52-A2A9-67D22990E21C}"/>
              </a:ext>
            </a:extLst>
          </p:cNvPr>
          <p:cNvCxnSpPr>
            <a:cxnSpLocks/>
          </p:cNvCxnSpPr>
          <p:nvPr/>
        </p:nvCxnSpPr>
        <p:spPr>
          <a:xfrm flipV="1">
            <a:off x="2469020" y="5871552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7164288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344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21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451558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9BD55B-6EBE-4B52-A2A9-67D22990E21C}"/>
              </a:ext>
            </a:extLst>
          </p:cNvPr>
          <p:cNvCxnSpPr>
            <a:cxnSpLocks/>
          </p:cNvCxnSpPr>
          <p:nvPr/>
        </p:nvCxnSpPr>
        <p:spPr>
          <a:xfrm flipV="1">
            <a:off x="2469020" y="5871552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7452320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581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22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9E92AE3-DC7E-4832-949B-92AB8E5E6354}"/>
              </a:ext>
            </a:extLst>
          </p:cNvPr>
          <p:cNvGraphicFramePr>
            <a:graphicFrameLocks noGrp="1"/>
          </p:cNvGraphicFramePr>
          <p:nvPr/>
        </p:nvGraphicFramePr>
        <p:xfrm>
          <a:off x="1871700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910DDCFA-182F-4FE3-9057-97206BF57904}"/>
              </a:ext>
            </a:extLst>
          </p:cNvPr>
          <p:cNvGraphicFramePr>
            <a:graphicFrameLocks noGrp="1"/>
          </p:cNvGraphicFramePr>
          <p:nvPr/>
        </p:nvGraphicFramePr>
        <p:xfrm>
          <a:off x="6588224" y="2852936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F9F4CCCB-C474-48A6-91CF-03144A72AB26}"/>
              </a:ext>
            </a:extLst>
          </p:cNvPr>
          <p:cNvGraphicFramePr>
            <a:graphicFrameLocks noGrp="1"/>
          </p:cNvGraphicFramePr>
          <p:nvPr/>
        </p:nvGraphicFramePr>
        <p:xfrm>
          <a:off x="1187624" y="336271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/>
        </p:nvGraphicFramePr>
        <p:xfrm>
          <a:off x="3083104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202B8D1-D3C9-4A45-819E-C90B558212CE}"/>
              </a:ext>
            </a:extLst>
          </p:cNvPr>
          <p:cNvGraphicFramePr>
            <a:graphicFrameLocks noGrp="1"/>
          </p:cNvGraphicFramePr>
          <p:nvPr/>
        </p:nvGraphicFramePr>
        <p:xfrm>
          <a:off x="7740352" y="335699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9211A2A-8D86-40F8-B1D1-DF6756F29AEA}"/>
              </a:ext>
            </a:extLst>
          </p:cNvPr>
          <p:cNvSpPr/>
          <p:nvPr/>
        </p:nvSpPr>
        <p:spPr>
          <a:xfrm>
            <a:off x="827584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1668408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277180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587160" y="3935209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393305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091B61-AF40-4CFA-98DB-36C8943C72D1}"/>
              </a:ext>
            </a:extLst>
          </p:cNvPr>
          <p:cNvSpPr/>
          <p:nvPr/>
        </p:nvSpPr>
        <p:spPr>
          <a:xfrm>
            <a:off x="7404680" y="395451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8D7B4-09A7-482E-ADF1-97B9B5B988D1}"/>
              </a:ext>
            </a:extLst>
          </p:cNvPr>
          <p:cNvSpPr/>
          <p:nvPr/>
        </p:nvSpPr>
        <p:spPr>
          <a:xfrm>
            <a:off x="8244408" y="393935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2357754" y="2334000"/>
            <a:ext cx="1494166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796136" y="2334000"/>
            <a:ext cx="1278142" cy="51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flipH="1">
            <a:off x="6039163" y="3035816"/>
            <a:ext cx="549061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7560332" y="3035816"/>
            <a:ext cx="423047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B922C7-FF1B-4A57-B434-95FA56752B5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56033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95ED37-396F-412F-A6E6-3D1020B29772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226406" y="3600197"/>
            <a:ext cx="173654" cy="3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13828" y="3600197"/>
            <a:ext cx="180020" cy="332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297904" y="3600197"/>
            <a:ext cx="134668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1430651" y="3035816"/>
            <a:ext cx="441049" cy="32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>
            <a:off x="2843808" y="3035816"/>
            <a:ext cx="482323" cy="32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3236" y="3600197"/>
            <a:ext cx="225025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>
            <a:off x="1673678" y="3545592"/>
            <a:ext cx="150382" cy="40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2927452" y="3600197"/>
            <a:ext cx="155652" cy="35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69158" y="3588757"/>
            <a:ext cx="173654" cy="34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6">
            <a:extLst>
              <a:ext uri="{FF2B5EF4-FFF2-40B4-BE49-F238E27FC236}">
                <a16:creationId xmlns:a16="http://schemas.microsoft.com/office/drawing/2014/main" id="{C3308B29-0FB6-414D-BF32-472179685A48}"/>
              </a:ext>
            </a:extLst>
          </p:cNvPr>
          <p:cNvGraphicFramePr>
            <a:graphicFrameLocks noGrp="1"/>
          </p:cNvGraphicFramePr>
          <p:nvPr/>
        </p:nvGraphicFramePr>
        <p:xfrm>
          <a:off x="1863176" y="551151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1" name="Table 6">
            <a:extLst>
              <a:ext uri="{FF2B5EF4-FFF2-40B4-BE49-F238E27FC236}">
                <a16:creationId xmlns:a16="http://schemas.microsoft.com/office/drawing/2014/main" id="{0B95E287-82D8-4D80-8B78-23CA1B54AC26}"/>
              </a:ext>
            </a:extLst>
          </p:cNvPr>
          <p:cNvGraphicFramePr>
            <a:graphicFrameLocks noGrp="1"/>
          </p:cNvGraphicFramePr>
          <p:nvPr/>
        </p:nvGraphicFramePr>
        <p:xfrm>
          <a:off x="6579700" y="5517232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2" name="Table 6">
            <a:extLst>
              <a:ext uri="{FF2B5EF4-FFF2-40B4-BE49-F238E27FC236}">
                <a16:creationId xmlns:a16="http://schemas.microsoft.com/office/drawing/2014/main" id="{7BD19786-AE92-468C-A8E1-229C386FAC5C}"/>
              </a:ext>
            </a:extLst>
          </p:cNvPr>
          <p:cNvGraphicFramePr>
            <a:graphicFrameLocks noGrp="1"/>
          </p:cNvGraphicFramePr>
          <p:nvPr/>
        </p:nvGraphicFramePr>
        <p:xfrm>
          <a:off x="117910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3" name="Table 6">
            <a:extLst>
              <a:ext uri="{FF2B5EF4-FFF2-40B4-BE49-F238E27FC236}">
                <a16:creationId xmlns:a16="http://schemas.microsoft.com/office/drawing/2014/main" id="{E1E2306E-3AD0-4477-9C16-6CC375C518D4}"/>
              </a:ext>
            </a:extLst>
          </p:cNvPr>
          <p:cNvGraphicFramePr>
            <a:graphicFrameLocks noGrp="1"/>
          </p:cNvGraphicFramePr>
          <p:nvPr/>
        </p:nvGraphicFramePr>
        <p:xfrm>
          <a:off x="3074580" y="479715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4" name="Table 6">
            <a:extLst>
              <a:ext uri="{FF2B5EF4-FFF2-40B4-BE49-F238E27FC236}">
                <a16:creationId xmlns:a16="http://schemas.microsoft.com/office/drawing/2014/main" id="{927DB8E3-6325-4608-8689-5394B19B1375}"/>
              </a:ext>
            </a:extLst>
          </p:cNvPr>
          <p:cNvGraphicFramePr>
            <a:graphicFrameLocks noGrp="1"/>
          </p:cNvGraphicFramePr>
          <p:nvPr/>
        </p:nvGraphicFramePr>
        <p:xfrm>
          <a:off x="5787612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3EE229D2-318E-464B-9546-6795AAB03DF0}"/>
              </a:ext>
            </a:extLst>
          </p:cNvPr>
          <p:cNvGraphicFramePr>
            <a:graphicFrameLocks noGrp="1"/>
          </p:cNvGraphicFramePr>
          <p:nvPr/>
        </p:nvGraphicFramePr>
        <p:xfrm>
          <a:off x="7731828" y="4791432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DBF9D10-5AC0-4EBC-8CD9-85BA7B4B602F}"/>
              </a:ext>
            </a:extLst>
          </p:cNvPr>
          <p:cNvCxnSpPr/>
          <p:nvPr/>
        </p:nvCxnSpPr>
        <p:spPr>
          <a:xfrm>
            <a:off x="178246" y="4365104"/>
            <a:ext cx="8858250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Table 6">
            <a:extLst>
              <a:ext uri="{FF2B5EF4-FFF2-40B4-BE49-F238E27FC236}">
                <a16:creationId xmlns:a16="http://schemas.microsoft.com/office/drawing/2014/main" id="{24A83A1A-EF00-435A-8ACC-D71C2A19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493930"/>
              </p:ext>
            </p:extLst>
          </p:nvPr>
        </p:nvGraphicFramePr>
        <p:xfrm>
          <a:off x="3843396" y="6375608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EF8654A-474D-4AAB-B234-39F586FF3A17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 flipH="1">
            <a:off x="1422127" y="4323849"/>
            <a:ext cx="401933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25CAF28-3486-4528-810C-740DE2D751E7}"/>
              </a:ext>
            </a:extLst>
          </p:cNvPr>
          <p:cNvCxnSpPr>
            <a:cxnSpLocks/>
            <a:stCxn id="15" idx="2"/>
            <a:endCxn id="62" idx="0"/>
          </p:cNvCxnSpPr>
          <p:nvPr/>
        </p:nvCxnSpPr>
        <p:spPr>
          <a:xfrm>
            <a:off x="983236" y="4323849"/>
            <a:ext cx="438891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7DCCF29-97D6-4D43-9B1F-5BF45B14DC7B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2927452" y="4323849"/>
            <a:ext cx="390155" cy="47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3E1400-05DA-4F53-8A68-62984DAD6214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 flipH="1">
            <a:off x="3317607" y="4304541"/>
            <a:ext cx="425205" cy="49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8C408A-7535-48D9-8B48-6020250ED28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613828" y="4302388"/>
            <a:ext cx="325262" cy="472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CBBF2B-C5B9-4F62-B953-08D44A1BFB4F}"/>
              </a:ext>
            </a:extLst>
          </p:cNvPr>
          <p:cNvCxnSpPr>
            <a:cxnSpLocks/>
            <a:stCxn id="20" idx="2"/>
            <a:endCxn id="64" idx="0"/>
          </p:cNvCxnSpPr>
          <p:nvPr/>
        </p:nvCxnSpPr>
        <p:spPr>
          <a:xfrm flipH="1">
            <a:off x="6030639" y="4323849"/>
            <a:ext cx="40193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EE2176-011D-4BE6-8731-17CA4F71D6BC}"/>
              </a:ext>
            </a:extLst>
          </p:cNvPr>
          <p:cNvCxnSpPr>
            <a:cxnSpLocks/>
            <a:stCxn id="22" idx="2"/>
            <a:endCxn id="65" idx="0"/>
          </p:cNvCxnSpPr>
          <p:nvPr/>
        </p:nvCxnSpPr>
        <p:spPr>
          <a:xfrm>
            <a:off x="7560332" y="4323849"/>
            <a:ext cx="414523" cy="4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64C3ED-EBAD-4778-9F43-C61A2DE87E5B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 flipH="1">
            <a:off x="7974855" y="4308682"/>
            <a:ext cx="425205" cy="48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339E4C-8797-44B8-9CFB-9DCC553D9752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6030639" y="5157192"/>
            <a:ext cx="1035115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43BAA7-9265-4BB5-840B-2B0118C84FCE}"/>
              </a:ext>
            </a:extLst>
          </p:cNvPr>
          <p:cNvCxnSpPr>
            <a:cxnSpLocks/>
            <a:stCxn id="65" idx="2"/>
            <a:endCxn id="61" idx="0"/>
          </p:cNvCxnSpPr>
          <p:nvPr/>
        </p:nvCxnSpPr>
        <p:spPr>
          <a:xfrm flipH="1">
            <a:off x="7065754" y="5157192"/>
            <a:ext cx="909101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8DD0DCD-73BA-445B-B413-E35ED0FDB2EB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422127" y="5162912"/>
            <a:ext cx="927103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AA46427-2129-4AAE-84BD-4B9EB6D6042D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flipH="1">
            <a:off x="2349230" y="5162912"/>
            <a:ext cx="968377" cy="34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28CBC9-7FDA-4496-A5B1-FCEBAE0530AD}"/>
              </a:ext>
            </a:extLst>
          </p:cNvPr>
          <p:cNvCxnSpPr>
            <a:cxnSpLocks/>
            <a:stCxn id="60" idx="2"/>
            <a:endCxn id="89" idx="0"/>
          </p:cNvCxnSpPr>
          <p:nvPr/>
        </p:nvCxnSpPr>
        <p:spPr>
          <a:xfrm>
            <a:off x="2349230" y="5877272"/>
            <a:ext cx="2466274" cy="49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10BA26-B642-454B-95F8-5E7A29F3C915}"/>
              </a:ext>
            </a:extLst>
          </p:cNvPr>
          <p:cNvCxnSpPr>
            <a:cxnSpLocks/>
            <a:stCxn id="61" idx="2"/>
            <a:endCxn id="89" idx="0"/>
          </p:cNvCxnSpPr>
          <p:nvPr/>
        </p:nvCxnSpPr>
        <p:spPr>
          <a:xfrm flipH="1">
            <a:off x="4815504" y="5882992"/>
            <a:ext cx="2250250" cy="49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F7689-2363-4095-BF3D-418C59119597}"/>
              </a:ext>
            </a:extLst>
          </p:cNvPr>
          <p:cNvCxnSpPr/>
          <p:nvPr/>
        </p:nvCxnSpPr>
        <p:spPr>
          <a:xfrm>
            <a:off x="4817520" y="1772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A8E603-C748-4CB2-9A7E-039621888889}"/>
              </a:ext>
            </a:extLst>
          </p:cNvPr>
          <p:cNvCxnSpPr/>
          <p:nvPr/>
        </p:nvCxnSpPr>
        <p:spPr>
          <a:xfrm>
            <a:off x="2357468" y="245975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3FEA0A-6754-470C-8A62-33689FC32CA5}"/>
              </a:ext>
            </a:extLst>
          </p:cNvPr>
          <p:cNvCxnSpPr/>
          <p:nvPr/>
        </p:nvCxnSpPr>
        <p:spPr>
          <a:xfrm>
            <a:off x="7065754" y="249575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B8CF08-7ABC-4987-9C19-6DD39ADFB6F6}"/>
              </a:ext>
            </a:extLst>
          </p:cNvPr>
          <p:cNvCxnSpPr/>
          <p:nvPr/>
        </p:nvCxnSpPr>
        <p:spPr>
          <a:xfrm>
            <a:off x="1422127" y="303581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72D206-AB80-41C1-B822-3E4BECAE6F41}"/>
              </a:ext>
            </a:extLst>
          </p:cNvPr>
          <p:cNvCxnSpPr/>
          <p:nvPr/>
        </p:nvCxnSpPr>
        <p:spPr>
          <a:xfrm>
            <a:off x="7974855" y="3048697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235A85A-776D-471A-8B0A-D1E02122F29D}"/>
              </a:ext>
            </a:extLst>
          </p:cNvPr>
          <p:cNvCxnSpPr/>
          <p:nvPr/>
        </p:nvCxnSpPr>
        <p:spPr>
          <a:xfrm>
            <a:off x="3317607" y="2999812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6B1C7A-76D2-4DDF-8DEE-5D986D7E2D75}"/>
              </a:ext>
            </a:extLst>
          </p:cNvPr>
          <p:cNvCxnSpPr/>
          <p:nvPr/>
        </p:nvCxnSpPr>
        <p:spPr>
          <a:xfrm>
            <a:off x="6056682" y="2949096"/>
            <a:ext cx="0" cy="108012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D1D85B-18B3-4C66-A773-70193295C3C5}"/>
              </a:ext>
            </a:extLst>
          </p:cNvPr>
          <p:cNvSpPr/>
          <p:nvPr/>
        </p:nvSpPr>
        <p:spPr>
          <a:xfrm>
            <a:off x="119186" y="1915895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Divide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FB7083C-84F6-4E95-96D0-3377FE6B49FF}"/>
              </a:ext>
            </a:extLst>
          </p:cNvPr>
          <p:cNvSpPr/>
          <p:nvPr/>
        </p:nvSpPr>
        <p:spPr>
          <a:xfrm>
            <a:off x="107654" y="4743745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Merge</a:t>
            </a:r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2E292F-0211-4E05-BF4A-B1D6C210CDDF}"/>
              </a:ext>
            </a:extLst>
          </p:cNvPr>
          <p:cNvCxnSpPr>
            <a:cxnSpLocks/>
          </p:cNvCxnSpPr>
          <p:nvPr/>
        </p:nvCxnSpPr>
        <p:spPr>
          <a:xfrm flipV="1">
            <a:off x="7452320" y="5890288"/>
            <a:ext cx="0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A89FFB-EFEE-4B1C-ACAB-A4F6BF4F339A}"/>
                  </a:ext>
                </a:extLst>
              </p14:cNvPr>
              <p14:cNvContentPartPr/>
              <p14:nvPr/>
            </p14:nvContentPartPr>
            <p14:xfrm>
              <a:off x="3273840" y="4507200"/>
              <a:ext cx="393480" cy="234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A89FFB-EFEE-4B1C-ACAB-A4F6BF4F33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4480" y="4497840"/>
                <a:ext cx="412200" cy="236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4406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A98-6D44-4351-9125-92D9DF9C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Pseudocode of </a:t>
            </a:r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0B9D6-F658-4207-AA15-6AB66FCF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23</a:t>
            </a:fld>
            <a:endParaRPr lang="ar-SA" dirty="0"/>
          </a:p>
        </p:txBody>
      </p:sp>
      <p:pic>
        <p:nvPicPr>
          <p:cNvPr id="7" name="Picture 4" descr="4_1a">
            <a:extLst>
              <a:ext uri="{FF2B5EF4-FFF2-40B4-BE49-F238E27FC236}">
                <a16:creationId xmlns:a16="http://schemas.microsoft.com/office/drawing/2014/main" id="{382FFFAE-1B91-45E8-9F3A-C8ACF4BDC8D1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2070522"/>
            <a:ext cx="8917702" cy="440018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9339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A98-6D44-4351-9125-92D9DF9C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Pseudocode of </a:t>
            </a:r>
            <a:r>
              <a:rPr lang="en-US" altLang="en-US" b="1" dirty="0" err="1">
                <a:solidFill>
                  <a:srgbClr val="FF0000"/>
                </a:solidFill>
              </a:rPr>
              <a:t>Mergesort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0B9D6-F658-4207-AA15-6AB66FCF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24</a:t>
            </a:fld>
            <a:endParaRPr lang="ar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A08C-E876-4B72-BA33-726296ED2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4" descr="4_1b">
            <a:extLst>
              <a:ext uri="{FF2B5EF4-FFF2-40B4-BE49-F238E27FC236}">
                <a16:creationId xmlns:a16="http://schemas.microsoft.com/office/drawing/2014/main" id="{9B43BDB8-1DE9-4BA8-B47B-9E28CB000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009" y="1732076"/>
            <a:ext cx="8432241" cy="476162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566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72DC-DC03-4881-9D7F-43F4F92E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Time efficiency of </a:t>
            </a:r>
            <a:r>
              <a:rPr lang="en-US" b="1" dirty="0" err="1">
                <a:solidFill>
                  <a:srgbClr val="FF0000"/>
                </a:solidFill>
              </a:rPr>
              <a:t>mergesort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C7348-5C09-4259-94B3-B83F9FAA5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764344" cy="4023360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rgbClr val="2B2A2A"/>
                </a:solidFill>
                <a:latin typeface="Tw Cen MT (Body)"/>
              </a:rPr>
              <a:t>T</a:t>
            </a:r>
            <a:r>
              <a:rPr lang="pt-BR" sz="2400" dirty="0">
                <a:latin typeface="Tw Cen MT (Body)"/>
              </a:rPr>
              <a:t>(n) = 2T(n/2) + TMerge(n) 	 for n &gt; 1, </a:t>
            </a:r>
          </a:p>
          <a:p>
            <a:r>
              <a:rPr lang="pt-BR" sz="2400" dirty="0">
                <a:latin typeface="Tw Cen MT (Body)"/>
              </a:rPr>
              <a:t>T(1) = 0 </a:t>
            </a:r>
          </a:p>
          <a:p>
            <a:r>
              <a:rPr lang="en-US" sz="2400" dirty="0">
                <a:latin typeface="Tw Cen MT (Body)"/>
              </a:rPr>
              <a:t>In worst-case </a:t>
            </a:r>
            <a:r>
              <a:rPr lang="en-US" sz="2400" dirty="0" err="1">
                <a:latin typeface="Tw Cen MT (Body)"/>
              </a:rPr>
              <a:t>TMerge</a:t>
            </a:r>
            <a:r>
              <a:rPr lang="en-US" sz="2400" dirty="0">
                <a:latin typeface="Tw Cen MT (Body)"/>
              </a:rPr>
              <a:t>(n) = n-1</a:t>
            </a:r>
          </a:p>
          <a:p>
            <a:pPr algn="ctr"/>
            <a:r>
              <a:rPr lang="pt-BR" sz="2400" dirty="0">
                <a:latin typeface="Tw Cen MT (Body)"/>
              </a:rPr>
              <a:t>T(n) = 2T(n/2) + n-1</a:t>
            </a:r>
          </a:p>
          <a:p>
            <a:r>
              <a:rPr lang="en-US" sz="2400" dirty="0">
                <a:latin typeface="Tw Cen MT (Body)"/>
              </a:rPr>
              <a:t>a = 2, b = 2 , d = 1 </a:t>
            </a:r>
          </a:p>
          <a:p>
            <a:r>
              <a:rPr lang="en-US" altLang="en-US" sz="2400" dirty="0">
                <a:latin typeface="Tw Cen MT (Body)"/>
              </a:rPr>
              <a:t>Master Theory :</a:t>
            </a:r>
          </a:p>
          <a:p>
            <a:pPr algn="ctr"/>
            <a:r>
              <a:rPr lang="en-US" altLang="en-US" sz="2400" dirty="0">
                <a:latin typeface="Tw Cen MT (Body)"/>
              </a:rPr>
              <a:t> If </a:t>
            </a:r>
            <a:r>
              <a:rPr lang="en-US" altLang="en-US" sz="2400" i="1" dirty="0">
                <a:latin typeface="Tw Cen MT (Body)"/>
              </a:rPr>
              <a:t>a = b</a:t>
            </a:r>
            <a:r>
              <a:rPr lang="en-US" altLang="en-US" sz="2400" i="1" baseline="30000" dirty="0">
                <a:latin typeface="Tw Cen MT (Body)"/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latin typeface="Tw Cen MT (Body)"/>
                <a:cs typeface="Times New Roman" panose="02020603050405020304" pitchFamily="18" charset="0"/>
              </a:rPr>
              <a:t>,</a:t>
            </a:r>
            <a:r>
              <a:rPr lang="en-US" altLang="en-US" sz="2400" i="1" dirty="0">
                <a:latin typeface="Tw Cen MT (Body)"/>
              </a:rPr>
              <a:t>     T</a:t>
            </a:r>
            <a:r>
              <a:rPr lang="en-US" altLang="en-US" sz="2400" dirty="0">
                <a:latin typeface="Tw Cen MT (Body)"/>
              </a:rPr>
              <a:t>(</a:t>
            </a:r>
            <a:r>
              <a:rPr lang="en-US" altLang="en-US" sz="2400" i="1" dirty="0">
                <a:latin typeface="Tw Cen MT (Body)"/>
              </a:rPr>
              <a:t>n</a:t>
            </a:r>
            <a:r>
              <a:rPr lang="en-US" altLang="en-US" sz="2400" dirty="0">
                <a:latin typeface="Tw Cen MT (Body)"/>
              </a:rPr>
              <a:t>) </a:t>
            </a:r>
            <a:r>
              <a:rPr lang="en-US" altLang="en-US" sz="2400" dirty="0">
                <a:latin typeface="Tw Cen MT (Body)"/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latin typeface="Tw Cen MT (Body)"/>
              </a:rPr>
              <a:t> </a:t>
            </a:r>
            <a:r>
              <a:rPr lang="en-US" altLang="en-US" sz="2400" dirty="0">
                <a:latin typeface="Tw Cen MT (Body)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 dirty="0">
                <a:latin typeface="Tw Cen MT (Body)"/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latin typeface="Tw Cen MT (Body)"/>
                <a:cs typeface="Times New Roman" panose="02020603050405020304" pitchFamily="18" charset="0"/>
              </a:rPr>
              <a:t>n</a:t>
            </a:r>
            <a:r>
              <a:rPr lang="en-US" altLang="en-US" sz="2400" i="1" baseline="30000" dirty="0" err="1">
                <a:latin typeface="Tw Cen MT (Body)"/>
                <a:cs typeface="Times New Roman" panose="02020603050405020304" pitchFamily="18" charset="0"/>
              </a:rPr>
              <a:t>d</a:t>
            </a:r>
            <a:r>
              <a:rPr lang="en-US" altLang="en-US" sz="2400" i="1" baseline="30000" dirty="0">
                <a:latin typeface="Tw Cen MT (Body)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w Cen MT (Body)"/>
              </a:rPr>
              <a:t>log </a:t>
            </a:r>
            <a:r>
              <a:rPr lang="en-US" altLang="en-US" sz="2400" i="1" dirty="0">
                <a:latin typeface="Tw Cen MT (Body)"/>
              </a:rPr>
              <a:t>n</a:t>
            </a:r>
            <a:r>
              <a:rPr lang="en-US" altLang="en-US" sz="2400" dirty="0">
                <a:latin typeface="Tw Cen MT (Body)"/>
              </a:rPr>
              <a:t>) = O( n log n ) </a:t>
            </a:r>
            <a:endParaRPr lang="en-US" sz="2400" dirty="0">
              <a:solidFill>
                <a:srgbClr val="2B2A2A"/>
              </a:solidFill>
              <a:latin typeface="Tw Cen MT (Body)"/>
            </a:endParaRPr>
          </a:p>
          <a:p>
            <a:r>
              <a:rPr lang="en-US" sz="2400" dirty="0">
                <a:latin typeface="Tw Cen MT (Body)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C03AD-0AD2-4E0C-BC1F-5D1BB733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25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51728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72DC-DC03-4881-9D7F-43F4F92E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Time efficiency of </a:t>
            </a:r>
            <a:r>
              <a:rPr lang="en-US" b="1" dirty="0" err="1">
                <a:solidFill>
                  <a:srgbClr val="FF0000"/>
                </a:solidFill>
              </a:rPr>
              <a:t>mergesort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C7348-5C09-4259-94B3-B83F9FAA5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764344" cy="4023360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w Cen MT (Body)"/>
              </a:rPr>
              <a:t>MergerSort</a:t>
            </a:r>
            <a:endParaRPr lang="en-US" sz="2400" dirty="0">
              <a:latin typeface="Tw Cen MT (Body)"/>
            </a:endParaRPr>
          </a:p>
          <a:p>
            <a:pPr marL="574675" indent="-574675">
              <a:buFont typeface="Wingdings" panose="05000000000000000000" pitchFamily="2" charset="2"/>
              <a:buChar char="v"/>
              <a:defRPr/>
            </a:pPr>
            <a:r>
              <a:rPr lang="pt-BR" altLang="ar-EG" sz="2400" dirty="0">
                <a:solidFill>
                  <a:srgbClr val="2B2A2A"/>
                </a:solidFill>
                <a:latin typeface="Tw Cen MT (Body)"/>
                <a:cs typeface="Times New Roman" panose="02020603050405020304" pitchFamily="18" charset="0"/>
              </a:rPr>
              <a:t>Time Efficiency in all cases is O ( nlog n)</a:t>
            </a:r>
          </a:p>
          <a:p>
            <a:pPr marL="574675" indent="-574675">
              <a:buFont typeface="Wingdings" panose="05000000000000000000" pitchFamily="2" charset="2"/>
              <a:buChar char="v"/>
              <a:defRPr/>
            </a:pPr>
            <a:r>
              <a:rPr lang="en-US" altLang="ar-EG" sz="2400" dirty="0">
                <a:solidFill>
                  <a:srgbClr val="2B2A2A"/>
                </a:solidFill>
                <a:latin typeface="Tw Cen MT (Body)"/>
                <a:cs typeface="Times New Roman" panose="02020603050405020304" pitchFamily="18" charset="0"/>
              </a:rPr>
              <a:t>Space requirement: O(n) (not in-place)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C03AD-0AD2-4E0C-BC1F-5D1BB733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26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7583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sz="2400" b="1" dirty="0"/>
              <a:t>Introduction to Divide and Conquer strategy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96875" algn="l"/>
              </a:tabLst>
            </a:pPr>
            <a:r>
              <a:rPr lang="en-US" altLang="en-US" sz="2400" b="1" dirty="0">
                <a:solidFill>
                  <a:srgbClr val="FF0000"/>
                </a:solidFill>
              </a:rPr>
              <a:t>Divide-and-Conquer Examples</a:t>
            </a:r>
            <a:endParaRPr lang="en-US" sz="24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Merge Sort Algorithm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Quick Sort Algorithm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altLang="en-US" sz="2200" dirty="0"/>
              <a:t>Binary tree traversals</a:t>
            </a:r>
            <a:endParaRPr lang="en-US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sz="2200" dirty="0"/>
              <a:t>Closest-Pair Problem by Divide and Conquer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96875" algn="l"/>
              </a:tabLst>
            </a:pPr>
            <a:r>
              <a:rPr lang="en-US" altLang="en-US" sz="2200" dirty="0"/>
              <a:t>Binary search:</a:t>
            </a:r>
            <a:endParaRPr lang="en-US" sz="2200" dirty="0"/>
          </a:p>
        </p:txBody>
      </p:sp>
      <p:sp>
        <p:nvSpPr>
          <p:cNvPr id="27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7AB7-D961-4CE0-8EC1-8747B9C4F9E9}" type="slidenum">
              <a:rPr lang="en-US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880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2212-3085-4FBB-90CB-7F512430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Quicksort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5CEFA-A9D4-4823-9C04-51104A25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8196392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Another divide and conquer based sorting algorithm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Quicksort uses the idea of partitioning</a:t>
            </a:r>
            <a:endParaRPr lang="en-US" alt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/>
              <a:t>Select a pivot (partitioning element) (P) – here, the first element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/>
              <a:t>Rearrange the list so that all the elements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/>
              <a:t>The first s positions are ≤ P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/>
              <a:t>The remaining n-s positions are &gt; 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23664-68EE-4737-8D73-A9FE7F1C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28</a:t>
            </a:fld>
            <a:endParaRPr lang="ar-SA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5BCFA2-D9DF-4582-9B74-B9088880D975}"/>
              </a:ext>
            </a:extLst>
          </p:cNvPr>
          <p:cNvGrpSpPr>
            <a:grpSpLocks/>
          </p:cNvGrpSpPr>
          <p:nvPr/>
        </p:nvGrpSpPr>
        <p:grpSpPr bwMode="auto">
          <a:xfrm>
            <a:off x="1480154" y="5104003"/>
            <a:ext cx="7010400" cy="1406525"/>
            <a:chOff x="672" y="2928"/>
            <a:chExt cx="4416" cy="88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BFA330D-3B0B-4F4A-AB0E-05DB43E30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928"/>
              <a:ext cx="4416" cy="672"/>
              <a:chOff x="672" y="3312"/>
              <a:chExt cx="4416" cy="672"/>
            </a:xfrm>
          </p:grpSpPr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BB819462-96CB-4E46-BF3A-09131A2F6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3312"/>
                <a:ext cx="4416" cy="33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CFE2E5B7-C3FB-47DF-A137-BD947B54E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312"/>
                <a:ext cx="0" cy="33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28084AA8-317B-487C-8F28-C08C3C8B0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312"/>
                <a:ext cx="0" cy="33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id="{FF7A511B-762E-47F0-AAB0-830BEE3D8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3312"/>
                <a:ext cx="0" cy="33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450C7950-BB40-4746-8D30-7429AE4CA9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3312"/>
                <a:ext cx="1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i="1">
                    <a:solidFill>
                      <a:schemeClr val="bg2"/>
                    </a:solidFill>
                  </a:rPr>
                  <a:t>p</a:t>
                </a:r>
              </a:p>
            </p:txBody>
          </p:sp>
          <p:sp>
            <p:nvSpPr>
              <p:cNvPr id="14" name="AutoShape 11">
                <a:extLst>
                  <a:ext uri="{FF2B5EF4-FFF2-40B4-BE49-F238E27FC236}">
                    <a16:creationId xmlns:a16="http://schemas.microsoft.com/office/drawing/2014/main" id="{4DA03D0E-5DFE-477C-9710-4DB1C05C7BC8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1584" y="2976"/>
                <a:ext cx="288" cy="1728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2">
                <a:extLst>
                  <a:ext uri="{FF2B5EF4-FFF2-40B4-BE49-F238E27FC236}">
                    <a16:creationId xmlns:a16="http://schemas.microsoft.com/office/drawing/2014/main" id="{77957C19-8BA0-4A17-9AA2-17A8E28D0900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3744" y="2640"/>
                <a:ext cx="288" cy="2400"/>
              </a:xfrm>
              <a:prstGeom prst="leftBrace">
                <a:avLst>
                  <a:gd name="adj1" fmla="val 69444"/>
                  <a:gd name="adj2" fmla="val 50000"/>
                </a:avLst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16B9633F-111D-45AE-9044-5C8DE80A6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1" y="3526"/>
              <a:ext cx="6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A[</a:t>
              </a:r>
              <a:r>
                <a:rPr lang="en-US" altLang="en-US" i="1"/>
                <a:t>i</a:t>
              </a:r>
              <a:r>
                <a:rPr lang="en-US" altLang="en-US"/>
                <a:t>]</a:t>
              </a:r>
              <a:r>
                <a:rPr lang="en-US" altLang="en-US"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en-US" i="1">
                  <a:cs typeface="Times New Roman" panose="02020603050405020304" pitchFamily="18" charset="0"/>
                </a:rPr>
                <a:t>p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8" name="Text Box 14">
              <a:extLst>
                <a:ext uri="{FF2B5EF4-FFF2-40B4-BE49-F238E27FC236}">
                  <a16:creationId xmlns:a16="http://schemas.microsoft.com/office/drawing/2014/main" id="{20B1F59E-EA0C-4D2C-AE5F-B18C71013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3548"/>
              <a:ext cx="4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A[</a:t>
              </a:r>
              <a:r>
                <a:rPr lang="en-US" altLang="en-US" i="1" dirty="0" err="1"/>
                <a:t>i</a:t>
              </a:r>
              <a:r>
                <a:rPr lang="en-US" altLang="en-US" dirty="0"/>
                <a:t>]</a:t>
              </a:r>
              <a:r>
                <a:rPr lang="en-US" altLang="en-US" dirty="0">
                  <a:cs typeface="Times New Roman" panose="02020603050405020304" pitchFamily="18" charset="0"/>
                  <a:sym typeface="Symbol" panose="05050102010706020507" pitchFamily="18" charset="2"/>
                </a:rPr>
                <a:t>&gt;</a:t>
              </a:r>
              <a:r>
                <a:rPr lang="en-US" altLang="en-US" i="1" dirty="0">
                  <a:cs typeface="Times New Roman" panose="02020603050405020304" pitchFamily="18" charset="0"/>
                </a:rPr>
                <a:t>p</a:t>
              </a:r>
              <a:endParaRPr lang="en-US" altLang="en-US" dirty="0"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66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2212-3085-4FBB-90CB-7F512430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Quicksort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5CEFA-A9D4-4823-9C04-51104A25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980368" cy="40233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Exchange the pivot with the last element in the first (i.e.,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)</a:t>
            </a:r>
            <a:r>
              <a:rPr lang="en-US" altLang="en-US" sz="2400" dirty="0">
                <a:cs typeface="Times New Roman" panose="02020603050405020304" pitchFamily="18" charset="0"/>
              </a:rPr>
              <a:t> subarray — the pivot is now in its final position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Sort the two subarrays recursively</a:t>
            </a:r>
          </a:p>
          <a:p>
            <a:endParaRPr lang="en-US" alt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23664-68EE-4737-8D73-A9FE7F1C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29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46984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QuickSort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30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73" name="Group 72">
            <a:extLst>
              <a:ext uri="{FF2B5EF4-FFF2-40B4-BE49-F238E27FC236}">
                <a16:creationId xmlns:a16="http://schemas.microsoft.com/office/drawing/2014/main" id="{D6E0A9AF-0046-47F7-BA6B-6482A009EFD9}"/>
              </a:ext>
            </a:extLst>
          </p:cNvPr>
          <p:cNvGrpSpPr/>
          <p:nvPr/>
        </p:nvGrpSpPr>
        <p:grpSpPr>
          <a:xfrm>
            <a:off x="3259697" y="1649499"/>
            <a:ext cx="764953" cy="501621"/>
            <a:chOff x="3259697" y="1649499"/>
            <a:chExt cx="764953" cy="501621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3D1D85B-18B3-4C66-A773-70193295C3C5}"/>
                </a:ext>
              </a:extLst>
            </p:cNvPr>
            <p:cNvSpPr/>
            <p:nvPr/>
          </p:nvSpPr>
          <p:spPr>
            <a:xfrm>
              <a:off x="3259697" y="1649499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CBB0D34-99CA-4D65-A8D6-F1A0C31AA360}"/>
                </a:ext>
              </a:extLst>
            </p:cNvPr>
            <p:cNvCxnSpPr/>
            <p:nvPr/>
          </p:nvCxnSpPr>
          <p:spPr>
            <a:xfrm>
              <a:off x="3986952" y="1772816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2438BF-6D8E-413A-881A-690301CC2ACF}"/>
              </a:ext>
            </a:extLst>
          </p:cNvPr>
          <p:cNvGrpSpPr/>
          <p:nvPr/>
        </p:nvGrpSpPr>
        <p:grpSpPr>
          <a:xfrm>
            <a:off x="3691217" y="2516880"/>
            <a:ext cx="295735" cy="419014"/>
            <a:chOff x="3691217" y="2516880"/>
            <a:chExt cx="295735" cy="41901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D6A32C3-8075-48CB-AC01-A3B3FDE522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952" y="2516880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F7CB307-72D8-483C-8199-FCE0934682C9}"/>
                </a:ext>
              </a:extLst>
            </p:cNvPr>
            <p:cNvSpPr/>
            <p:nvPr/>
          </p:nvSpPr>
          <p:spPr>
            <a:xfrm>
              <a:off x="3691217" y="2566562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DC1EED-BEBC-47FE-B8EE-E11E89A126E2}"/>
              </a:ext>
            </a:extLst>
          </p:cNvPr>
          <p:cNvGrpSpPr/>
          <p:nvPr/>
        </p:nvGrpSpPr>
        <p:grpSpPr>
          <a:xfrm>
            <a:off x="5652120" y="2521879"/>
            <a:ext cx="266005" cy="430621"/>
            <a:chOff x="3986952" y="2516880"/>
            <a:chExt cx="266005" cy="430621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CF66A8F-4B3E-46F8-AC91-3B15113E30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952" y="2516880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63DEF15-34CD-4D3F-8ABE-0A50E55C4CC3}"/>
                </a:ext>
              </a:extLst>
            </p:cNvPr>
            <p:cNvSpPr/>
            <p:nvPr/>
          </p:nvSpPr>
          <p:spPr>
            <a:xfrm>
              <a:off x="4008979" y="2578169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020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QuickSort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31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73" name="Group 72">
            <a:extLst>
              <a:ext uri="{FF2B5EF4-FFF2-40B4-BE49-F238E27FC236}">
                <a16:creationId xmlns:a16="http://schemas.microsoft.com/office/drawing/2014/main" id="{D6E0A9AF-0046-47F7-BA6B-6482A009EFD9}"/>
              </a:ext>
            </a:extLst>
          </p:cNvPr>
          <p:cNvGrpSpPr/>
          <p:nvPr/>
        </p:nvGrpSpPr>
        <p:grpSpPr>
          <a:xfrm>
            <a:off x="3259697" y="1649499"/>
            <a:ext cx="764953" cy="501621"/>
            <a:chOff x="3259697" y="1649499"/>
            <a:chExt cx="764953" cy="501621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3D1D85B-18B3-4C66-A773-70193295C3C5}"/>
                </a:ext>
              </a:extLst>
            </p:cNvPr>
            <p:cNvSpPr/>
            <p:nvPr/>
          </p:nvSpPr>
          <p:spPr>
            <a:xfrm>
              <a:off x="3259697" y="1649499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CBB0D34-99CA-4D65-A8D6-F1A0C31AA360}"/>
                </a:ext>
              </a:extLst>
            </p:cNvPr>
            <p:cNvCxnSpPr/>
            <p:nvPr/>
          </p:nvCxnSpPr>
          <p:spPr>
            <a:xfrm>
              <a:off x="3986952" y="1772816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2438BF-6D8E-413A-881A-690301CC2ACF}"/>
              </a:ext>
            </a:extLst>
          </p:cNvPr>
          <p:cNvGrpSpPr/>
          <p:nvPr/>
        </p:nvGrpSpPr>
        <p:grpSpPr>
          <a:xfrm>
            <a:off x="3691217" y="2516880"/>
            <a:ext cx="295735" cy="419014"/>
            <a:chOff x="3691217" y="2516880"/>
            <a:chExt cx="295735" cy="41901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D6A32C3-8075-48CB-AC01-A3B3FDE522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952" y="2516880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F7CB307-72D8-483C-8199-FCE0934682C9}"/>
                </a:ext>
              </a:extLst>
            </p:cNvPr>
            <p:cNvSpPr/>
            <p:nvPr/>
          </p:nvSpPr>
          <p:spPr>
            <a:xfrm>
              <a:off x="3691217" y="2566562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4DC2A7-5365-43E1-BFDB-D42730BB11F6}"/>
              </a:ext>
            </a:extLst>
          </p:cNvPr>
          <p:cNvGrpSpPr/>
          <p:nvPr/>
        </p:nvGrpSpPr>
        <p:grpSpPr>
          <a:xfrm>
            <a:off x="5436096" y="2521879"/>
            <a:ext cx="266005" cy="430621"/>
            <a:chOff x="3986952" y="2516880"/>
            <a:chExt cx="266005" cy="430621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3FA957F-3824-4AA1-9991-1BA639028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952" y="2516880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4D11FC9-8C9F-47AD-B2E4-D883D6B42989}"/>
                </a:ext>
              </a:extLst>
            </p:cNvPr>
            <p:cNvSpPr/>
            <p:nvPr/>
          </p:nvSpPr>
          <p:spPr>
            <a:xfrm>
              <a:off x="4008979" y="2578169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  <p:graphicFrame>
        <p:nvGraphicFramePr>
          <p:cNvPr id="50" name="Table 6">
            <a:extLst>
              <a:ext uri="{FF2B5EF4-FFF2-40B4-BE49-F238E27FC236}">
                <a16:creationId xmlns:a16="http://schemas.microsoft.com/office/drawing/2014/main" id="{25185699-BD04-49E9-B3AC-1C261A6D0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30361"/>
              </p:ext>
            </p:extLst>
          </p:nvPr>
        </p:nvGraphicFramePr>
        <p:xfrm>
          <a:off x="4004320" y="3851756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3C50EFFB-C605-4653-A33E-9D66FC0D224E}"/>
              </a:ext>
            </a:extLst>
          </p:cNvPr>
          <p:cNvGrpSpPr/>
          <p:nvPr/>
        </p:nvGrpSpPr>
        <p:grpSpPr>
          <a:xfrm>
            <a:off x="3412097" y="3350135"/>
            <a:ext cx="764953" cy="501621"/>
            <a:chOff x="3412097" y="3350135"/>
            <a:chExt cx="764953" cy="501621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CA098DB-C211-4D8D-87C7-DABF96C233E7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33242E3-EBB9-4D4B-B31F-D367FF31FEF5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FDFA04-A61D-4F8F-A654-B611C06A3B30}"/>
              </a:ext>
            </a:extLst>
          </p:cNvPr>
          <p:cNvGrpSpPr/>
          <p:nvPr/>
        </p:nvGrpSpPr>
        <p:grpSpPr>
          <a:xfrm>
            <a:off x="4564297" y="4217516"/>
            <a:ext cx="295735" cy="419014"/>
            <a:chOff x="3843617" y="4217516"/>
            <a:chExt cx="295735" cy="419014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00CD052-C0DB-415C-8BEF-E46565D7A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352" y="4217516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0C866CF-ECE1-45A1-A7BE-93C0775F97A8}"/>
                </a:ext>
              </a:extLst>
            </p:cNvPr>
            <p:cNvSpPr/>
            <p:nvPr/>
          </p:nvSpPr>
          <p:spPr>
            <a:xfrm>
              <a:off x="3843617" y="4267198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B311CB-7EB6-4FB3-9D09-880A716B5FA3}"/>
              </a:ext>
            </a:extLst>
          </p:cNvPr>
          <p:cNvGrpSpPr/>
          <p:nvPr/>
        </p:nvGrpSpPr>
        <p:grpSpPr>
          <a:xfrm>
            <a:off x="5588496" y="4222515"/>
            <a:ext cx="266005" cy="430621"/>
            <a:chOff x="5588496" y="4222515"/>
            <a:chExt cx="266005" cy="430621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8EFB3C1-A5F8-4A4E-A962-D708191889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96" y="4222515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686A19-95DC-4E3B-8CF7-979BAF4ED30A}"/>
                </a:ext>
              </a:extLst>
            </p:cNvPr>
            <p:cNvSpPr/>
            <p:nvPr/>
          </p:nvSpPr>
          <p:spPr>
            <a:xfrm>
              <a:off x="5610523" y="4283804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224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08021 0.0034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QuickSort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32</a:t>
            </a:fld>
            <a:endParaRPr lang="ar-SA" dirty="0"/>
          </a:p>
        </p:txBody>
      </p:sp>
      <p:graphicFrame>
        <p:nvGraphicFramePr>
          <p:cNvPr id="50" name="Table 6">
            <a:extLst>
              <a:ext uri="{FF2B5EF4-FFF2-40B4-BE49-F238E27FC236}">
                <a16:creationId xmlns:a16="http://schemas.microsoft.com/office/drawing/2014/main" id="{25185699-BD04-49E9-B3AC-1C261A6D0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029432"/>
              </p:ext>
            </p:extLst>
          </p:nvPr>
        </p:nvGraphicFramePr>
        <p:xfrm>
          <a:off x="4004320" y="2490461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3C50EFFB-C605-4653-A33E-9D66FC0D224E}"/>
              </a:ext>
            </a:extLst>
          </p:cNvPr>
          <p:cNvGrpSpPr/>
          <p:nvPr/>
        </p:nvGrpSpPr>
        <p:grpSpPr>
          <a:xfrm>
            <a:off x="3412097" y="1988840"/>
            <a:ext cx="764953" cy="501621"/>
            <a:chOff x="3412097" y="3350135"/>
            <a:chExt cx="764953" cy="501621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CA098DB-C211-4D8D-87C7-DABF96C233E7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33242E3-EBB9-4D4B-B31F-D367FF31FEF5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FDFA04-A61D-4F8F-A654-B611C06A3B30}"/>
              </a:ext>
            </a:extLst>
          </p:cNvPr>
          <p:cNvGrpSpPr/>
          <p:nvPr/>
        </p:nvGrpSpPr>
        <p:grpSpPr>
          <a:xfrm>
            <a:off x="4564297" y="2856221"/>
            <a:ext cx="295735" cy="419014"/>
            <a:chOff x="3843617" y="4217516"/>
            <a:chExt cx="295735" cy="419014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00CD052-C0DB-415C-8BEF-E46565D7A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352" y="4217516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0C866CF-ECE1-45A1-A7BE-93C0775F97A8}"/>
                </a:ext>
              </a:extLst>
            </p:cNvPr>
            <p:cNvSpPr/>
            <p:nvPr/>
          </p:nvSpPr>
          <p:spPr>
            <a:xfrm>
              <a:off x="3843617" y="4267198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B311CB-7EB6-4FB3-9D09-880A716B5FA3}"/>
              </a:ext>
            </a:extLst>
          </p:cNvPr>
          <p:cNvGrpSpPr/>
          <p:nvPr/>
        </p:nvGrpSpPr>
        <p:grpSpPr>
          <a:xfrm>
            <a:off x="5588496" y="2861220"/>
            <a:ext cx="266005" cy="430621"/>
            <a:chOff x="5588496" y="4222515"/>
            <a:chExt cx="266005" cy="430621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8EFB3C1-A5F8-4A4E-A962-D708191889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96" y="4222515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686A19-95DC-4E3B-8CF7-979BAF4ED30A}"/>
                </a:ext>
              </a:extLst>
            </p:cNvPr>
            <p:cNvSpPr/>
            <p:nvPr/>
          </p:nvSpPr>
          <p:spPr>
            <a:xfrm>
              <a:off x="5610523" y="4283804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7365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QuickSort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33</a:t>
            </a:fld>
            <a:endParaRPr lang="ar-SA" dirty="0"/>
          </a:p>
        </p:txBody>
      </p:sp>
      <p:graphicFrame>
        <p:nvGraphicFramePr>
          <p:cNvPr id="24" name="Table 6">
            <a:extLst>
              <a:ext uri="{FF2B5EF4-FFF2-40B4-BE49-F238E27FC236}">
                <a16:creationId xmlns:a16="http://schemas.microsoft.com/office/drawing/2014/main" id="{6B6EF466-C9E6-4BC2-A9C5-7BB327DE5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55984"/>
              </p:ext>
            </p:extLst>
          </p:nvPr>
        </p:nvGraphicFramePr>
        <p:xfrm>
          <a:off x="4004320" y="2483604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5F839318-3D44-43B7-B049-59E2409469A8}"/>
              </a:ext>
            </a:extLst>
          </p:cNvPr>
          <p:cNvGrpSpPr/>
          <p:nvPr/>
        </p:nvGrpSpPr>
        <p:grpSpPr>
          <a:xfrm>
            <a:off x="3412097" y="1981983"/>
            <a:ext cx="764953" cy="501621"/>
            <a:chOff x="3412097" y="3350135"/>
            <a:chExt cx="764953" cy="50162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DED937-86A7-482C-95A9-F21A3D647A25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BD7E64D-15E0-448F-9ACE-9AB8892ABAD0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4D8878-0EFE-426B-889A-B9FFCF94B473}"/>
              </a:ext>
            </a:extLst>
          </p:cNvPr>
          <p:cNvGrpSpPr/>
          <p:nvPr/>
        </p:nvGrpSpPr>
        <p:grpSpPr>
          <a:xfrm>
            <a:off x="4815013" y="2849364"/>
            <a:ext cx="295735" cy="419014"/>
            <a:chOff x="3843617" y="4217516"/>
            <a:chExt cx="295735" cy="41901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E4D1A84-2D5C-4E81-A536-D4E4B700BE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352" y="4217516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6F1FD11-A686-4EBE-89E1-C53B4D421460}"/>
                </a:ext>
              </a:extLst>
            </p:cNvPr>
            <p:cNvSpPr/>
            <p:nvPr/>
          </p:nvSpPr>
          <p:spPr>
            <a:xfrm>
              <a:off x="3843617" y="4267198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1E47DC-DCF1-4C3F-A910-534527AB674F}"/>
              </a:ext>
            </a:extLst>
          </p:cNvPr>
          <p:cNvGrpSpPr/>
          <p:nvPr/>
        </p:nvGrpSpPr>
        <p:grpSpPr>
          <a:xfrm>
            <a:off x="5321576" y="2854363"/>
            <a:ext cx="266005" cy="430621"/>
            <a:chOff x="5588496" y="4222515"/>
            <a:chExt cx="266005" cy="43062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24083F3-801F-47C3-879A-5D94BF328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96" y="4222515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5C0D4A6-7CA3-4122-BF00-1FF2ED84CFB0}"/>
                </a:ext>
              </a:extLst>
            </p:cNvPr>
            <p:cNvSpPr/>
            <p:nvPr/>
          </p:nvSpPr>
          <p:spPr>
            <a:xfrm>
              <a:off x="5610523" y="4283804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8BDDACF8-5528-4310-8EAE-BA8F865B8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949224"/>
              </p:ext>
            </p:extLst>
          </p:nvPr>
        </p:nvGraphicFramePr>
        <p:xfrm>
          <a:off x="4012095" y="4211796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08C2AFB4-FC80-4EE7-A9C8-1D4C0FAEF574}"/>
              </a:ext>
            </a:extLst>
          </p:cNvPr>
          <p:cNvGrpSpPr/>
          <p:nvPr/>
        </p:nvGrpSpPr>
        <p:grpSpPr>
          <a:xfrm>
            <a:off x="3419872" y="3710175"/>
            <a:ext cx="764953" cy="501621"/>
            <a:chOff x="3412097" y="3350135"/>
            <a:chExt cx="764953" cy="50162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A74ABBE-6E5E-45C8-8EE5-23BBE2918F1A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3EE73B2-EF96-4AD3-B295-7624CDDC9B9E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B0A8C8-83BE-4D0D-9DAA-521DAC37B070}"/>
              </a:ext>
            </a:extLst>
          </p:cNvPr>
          <p:cNvGrpSpPr/>
          <p:nvPr/>
        </p:nvGrpSpPr>
        <p:grpSpPr>
          <a:xfrm>
            <a:off x="4822788" y="4577556"/>
            <a:ext cx="295735" cy="419014"/>
            <a:chOff x="3843617" y="4217516"/>
            <a:chExt cx="295735" cy="41901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5283C4E-6CF2-4D28-BA94-E5FE2BF81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352" y="4217516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5226C1B-12C1-4D1E-91F5-0D1AAA44267B}"/>
                </a:ext>
              </a:extLst>
            </p:cNvPr>
            <p:cNvSpPr/>
            <p:nvPr/>
          </p:nvSpPr>
          <p:spPr>
            <a:xfrm>
              <a:off x="3843617" y="4267198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D776CA-00F6-44A0-8EB3-E737A9AB5257}"/>
              </a:ext>
            </a:extLst>
          </p:cNvPr>
          <p:cNvGrpSpPr/>
          <p:nvPr/>
        </p:nvGrpSpPr>
        <p:grpSpPr>
          <a:xfrm>
            <a:off x="5329351" y="4582555"/>
            <a:ext cx="266005" cy="430621"/>
            <a:chOff x="5588496" y="4222515"/>
            <a:chExt cx="266005" cy="430621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28F7920-807F-45F7-A95D-724E74E7C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96" y="4222515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946A8E0-7D1B-4145-A92C-0535CF74571D}"/>
                </a:ext>
              </a:extLst>
            </p:cNvPr>
            <p:cNvSpPr/>
            <p:nvPr/>
          </p:nvSpPr>
          <p:spPr>
            <a:xfrm>
              <a:off x="5610523" y="4283804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BA130A-953F-4478-8513-E5A0BD568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80794"/>
              </p:ext>
            </p:extLst>
          </p:nvPr>
        </p:nvGraphicFramePr>
        <p:xfrm>
          <a:off x="4067944" y="550794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49" name="Group 48">
            <a:extLst>
              <a:ext uri="{FF2B5EF4-FFF2-40B4-BE49-F238E27FC236}">
                <a16:creationId xmlns:a16="http://schemas.microsoft.com/office/drawing/2014/main" id="{BAA33E41-4BBD-4654-9103-B44815F7A36B}"/>
              </a:ext>
            </a:extLst>
          </p:cNvPr>
          <p:cNvGrpSpPr/>
          <p:nvPr/>
        </p:nvGrpSpPr>
        <p:grpSpPr>
          <a:xfrm>
            <a:off x="3475721" y="5006319"/>
            <a:ext cx="764953" cy="501621"/>
            <a:chOff x="3412097" y="3350135"/>
            <a:chExt cx="764953" cy="50162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AF81F5D-5E91-4E6E-9CBA-57DD9BAD8053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95D65E5-FBA9-432A-83EF-5D4C1118D86C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65A59F6-3B35-45BB-9870-FEC36344E6AC}"/>
              </a:ext>
            </a:extLst>
          </p:cNvPr>
          <p:cNvGrpSpPr/>
          <p:nvPr/>
        </p:nvGrpSpPr>
        <p:grpSpPr>
          <a:xfrm>
            <a:off x="4878637" y="5873700"/>
            <a:ext cx="295735" cy="419014"/>
            <a:chOff x="3843617" y="4217516"/>
            <a:chExt cx="295735" cy="419014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4EA6FF3-6832-481F-80FD-3A3F2FFB0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352" y="4217516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145CA8-DFB5-49B6-B3FB-B1D2855D4F3E}"/>
                </a:ext>
              </a:extLst>
            </p:cNvPr>
            <p:cNvSpPr/>
            <p:nvPr/>
          </p:nvSpPr>
          <p:spPr>
            <a:xfrm>
              <a:off x="3843617" y="4267198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DEF1FF8-432C-4FDA-B96E-9535B6F6456E}"/>
              </a:ext>
            </a:extLst>
          </p:cNvPr>
          <p:cNvGrpSpPr/>
          <p:nvPr/>
        </p:nvGrpSpPr>
        <p:grpSpPr>
          <a:xfrm>
            <a:off x="5385200" y="5878699"/>
            <a:ext cx="266005" cy="430621"/>
            <a:chOff x="5588496" y="4222515"/>
            <a:chExt cx="266005" cy="430621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05624F1-745E-47BD-AB9B-3F8CF59B15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96" y="4222515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582EE2-560B-4E21-B8B5-8E4A0B81F7EE}"/>
                </a:ext>
              </a:extLst>
            </p:cNvPr>
            <p:cNvSpPr/>
            <p:nvPr/>
          </p:nvSpPr>
          <p:spPr>
            <a:xfrm>
              <a:off x="5610523" y="4283804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181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QuickSort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34</a:t>
            </a:fld>
            <a:endParaRPr lang="ar-SA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BA130A-953F-4478-8513-E5A0BD568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826679"/>
              </p:ext>
            </p:extLst>
          </p:nvPr>
        </p:nvGraphicFramePr>
        <p:xfrm>
          <a:off x="4067944" y="2490461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49" name="Group 48">
            <a:extLst>
              <a:ext uri="{FF2B5EF4-FFF2-40B4-BE49-F238E27FC236}">
                <a16:creationId xmlns:a16="http://schemas.microsoft.com/office/drawing/2014/main" id="{BAA33E41-4BBD-4654-9103-B44815F7A36B}"/>
              </a:ext>
            </a:extLst>
          </p:cNvPr>
          <p:cNvGrpSpPr/>
          <p:nvPr/>
        </p:nvGrpSpPr>
        <p:grpSpPr>
          <a:xfrm>
            <a:off x="3475721" y="1988840"/>
            <a:ext cx="764953" cy="501621"/>
            <a:chOff x="3412097" y="3350135"/>
            <a:chExt cx="764953" cy="50162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AF81F5D-5E91-4E6E-9CBA-57DD9BAD8053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95D65E5-FBA9-432A-83EF-5D4C1118D86C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65A59F6-3B35-45BB-9870-FEC36344E6AC}"/>
              </a:ext>
            </a:extLst>
          </p:cNvPr>
          <p:cNvGrpSpPr/>
          <p:nvPr/>
        </p:nvGrpSpPr>
        <p:grpSpPr>
          <a:xfrm>
            <a:off x="4878637" y="2856221"/>
            <a:ext cx="295735" cy="419014"/>
            <a:chOff x="3843617" y="4217516"/>
            <a:chExt cx="295735" cy="419014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4EA6FF3-6832-481F-80FD-3A3F2FFB0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352" y="4217516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145CA8-DFB5-49B6-B3FB-B1D2855D4F3E}"/>
                </a:ext>
              </a:extLst>
            </p:cNvPr>
            <p:cNvSpPr/>
            <p:nvPr/>
          </p:nvSpPr>
          <p:spPr>
            <a:xfrm>
              <a:off x="3843617" y="4267198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j</a:t>
              </a:r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DEF1FF8-432C-4FDA-B96E-9535B6F6456E}"/>
              </a:ext>
            </a:extLst>
          </p:cNvPr>
          <p:cNvGrpSpPr/>
          <p:nvPr/>
        </p:nvGrpSpPr>
        <p:grpSpPr>
          <a:xfrm>
            <a:off x="5385200" y="2861220"/>
            <a:ext cx="266005" cy="430621"/>
            <a:chOff x="5588496" y="4222515"/>
            <a:chExt cx="266005" cy="430621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05624F1-745E-47BD-AB9B-3F8CF59B15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96" y="4222515"/>
              <a:ext cx="0" cy="342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582EE2-560B-4E21-B8B5-8E4A0B81F7EE}"/>
                </a:ext>
              </a:extLst>
            </p:cNvPr>
            <p:cNvSpPr/>
            <p:nvPr/>
          </p:nvSpPr>
          <p:spPr>
            <a:xfrm>
              <a:off x="5610523" y="4283804"/>
              <a:ext cx="2439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 err="1">
                  <a:solidFill>
                    <a:srgbClr val="FF0000"/>
                  </a:solidFill>
                </a:rPr>
                <a:t>i</a:t>
              </a:r>
              <a:endParaRPr lang="en-US" dirty="0"/>
            </a:p>
          </p:txBody>
        </p:sp>
      </p:grpSp>
      <p:graphicFrame>
        <p:nvGraphicFramePr>
          <p:cNvPr id="42" name="Table 6">
            <a:extLst>
              <a:ext uri="{FF2B5EF4-FFF2-40B4-BE49-F238E27FC236}">
                <a16:creationId xmlns:a16="http://schemas.microsoft.com/office/drawing/2014/main" id="{11F8E69F-9B6B-437A-8A81-508C55D50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41181"/>
              </p:ext>
            </p:extLst>
          </p:nvPr>
        </p:nvGraphicFramePr>
        <p:xfrm>
          <a:off x="4084103" y="4211796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1D3365FE-C696-42E1-AB70-A90515E67D3D}"/>
              </a:ext>
            </a:extLst>
          </p:cNvPr>
          <p:cNvGrpSpPr/>
          <p:nvPr/>
        </p:nvGrpSpPr>
        <p:grpSpPr>
          <a:xfrm>
            <a:off x="3491880" y="3710175"/>
            <a:ext cx="764953" cy="501621"/>
            <a:chOff x="3412097" y="3350135"/>
            <a:chExt cx="764953" cy="501621"/>
          </a:xfrm>
          <a:solidFill>
            <a:schemeClr val="bg1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4D6CB9-3BB8-460B-B6F2-8B7D2CAEFB25}"/>
                </a:ext>
              </a:extLst>
            </p:cNvPr>
            <p:cNvSpPr/>
            <p:nvPr/>
          </p:nvSpPr>
          <p:spPr>
            <a:xfrm>
              <a:off x="3412097" y="3350135"/>
              <a:ext cx="764953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12EAB4A-871C-4FB4-9319-C5D3E015D796}"/>
                </a:ext>
              </a:extLst>
            </p:cNvPr>
            <p:cNvCxnSpPr/>
            <p:nvPr/>
          </p:nvCxnSpPr>
          <p:spPr>
            <a:xfrm>
              <a:off x="4139352" y="3473452"/>
              <a:ext cx="0" cy="378304"/>
            </a:xfrm>
            <a:prstGeom prst="straightConnector1">
              <a:avLst/>
            </a:prstGeom>
            <a:grpFill/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400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C4C8-5818-40B8-AB6C-2CD31F73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FF0000"/>
                </a:solidFill>
              </a:rPr>
              <a:t>QuickSort</a:t>
            </a:r>
            <a:r>
              <a:rPr lang="en-US" altLang="en-US" b="1" dirty="0">
                <a:solidFill>
                  <a:srgbClr val="FF0000"/>
                </a:solidFill>
              </a:rPr>
              <a:t> 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2DA7-7A25-44CB-9637-82133153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35</a:t>
            </a:fld>
            <a:endParaRPr lang="ar-S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060219-DD88-4434-83D8-0E8C1BBE2553}"/>
              </a:ext>
            </a:extLst>
          </p:cNvPr>
          <p:cNvGraphicFramePr>
            <a:graphicFrameLocks noGrp="1"/>
          </p:cNvGraphicFramePr>
          <p:nvPr/>
        </p:nvGraphicFramePr>
        <p:xfrm>
          <a:off x="3851920" y="2151120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03954FC-5F45-4ED6-9C27-4136D65A9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351332"/>
              </p:ext>
            </p:extLst>
          </p:nvPr>
        </p:nvGraphicFramePr>
        <p:xfrm>
          <a:off x="1018396" y="3474683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794B41A-3C35-43D2-ACAE-145425499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36214"/>
              </p:ext>
            </p:extLst>
          </p:nvPr>
        </p:nvGraphicFramePr>
        <p:xfrm>
          <a:off x="5796136" y="3495288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45F2E2B-55A1-4C64-8B85-FE5CEAB67494}"/>
              </a:ext>
            </a:extLst>
          </p:cNvPr>
          <p:cNvSpPr/>
          <p:nvPr/>
        </p:nvSpPr>
        <p:spPr>
          <a:xfrm>
            <a:off x="539552" y="4274512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9F426-BDC1-4435-BC77-1C0471FA7E9C}"/>
              </a:ext>
            </a:extLst>
          </p:cNvPr>
          <p:cNvSpPr/>
          <p:nvPr/>
        </p:nvSpPr>
        <p:spPr>
          <a:xfrm>
            <a:off x="1668408" y="4283804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E9C42-2B89-48FD-90FC-206D299FB455}"/>
              </a:ext>
            </a:extLst>
          </p:cNvPr>
          <p:cNvSpPr/>
          <p:nvPr/>
        </p:nvSpPr>
        <p:spPr>
          <a:xfrm>
            <a:off x="3170736" y="4235012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0FA7F-6E09-4EFD-9A0B-0A2B6447B4CC}"/>
              </a:ext>
            </a:extLst>
          </p:cNvPr>
          <p:cNvSpPr/>
          <p:nvPr/>
        </p:nvSpPr>
        <p:spPr>
          <a:xfrm>
            <a:off x="5458176" y="4175587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EC672-D5C0-46CC-9B5A-20FC271067B2}"/>
              </a:ext>
            </a:extLst>
          </p:cNvPr>
          <p:cNvSpPr/>
          <p:nvPr/>
        </p:nvSpPr>
        <p:spPr>
          <a:xfrm>
            <a:off x="6276920" y="4211796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46CD1-BD93-4835-B6A6-E6F3DCE521AD}"/>
              </a:ext>
            </a:extLst>
          </p:cNvPr>
          <p:cNvCxnSpPr>
            <a:cxnSpLocks/>
            <a:stCxn id="6" idx="1"/>
            <a:endCxn id="66" idx="0"/>
          </p:cNvCxnSpPr>
          <p:nvPr/>
        </p:nvCxnSpPr>
        <p:spPr>
          <a:xfrm flipH="1">
            <a:off x="2383960" y="2334000"/>
            <a:ext cx="1467960" cy="525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E57ACA-3016-4BED-B19E-84D06E81BC07}"/>
              </a:ext>
            </a:extLst>
          </p:cNvPr>
          <p:cNvCxnSpPr>
            <a:cxnSpLocks/>
            <a:stCxn id="6" idx="3"/>
            <a:endCxn id="71" idx="0"/>
          </p:cNvCxnSpPr>
          <p:nvPr/>
        </p:nvCxnSpPr>
        <p:spPr>
          <a:xfrm>
            <a:off x="5796136" y="2334000"/>
            <a:ext cx="1281814" cy="559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907F51-223A-40F7-A880-1A5A5651DC22}"/>
              </a:ext>
            </a:extLst>
          </p:cNvPr>
          <p:cNvCxnSpPr>
            <a:cxnSpLocks/>
            <a:stCxn id="71" idx="1"/>
            <a:endCxn id="12" idx="0"/>
          </p:cNvCxnSpPr>
          <p:nvPr/>
        </p:nvCxnSpPr>
        <p:spPr>
          <a:xfrm flipH="1">
            <a:off x="6039163" y="3076361"/>
            <a:ext cx="674247" cy="41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113E1-5432-46B0-B619-290F9114C6A7}"/>
              </a:ext>
            </a:extLst>
          </p:cNvPr>
          <p:cNvCxnSpPr>
            <a:cxnSpLocks/>
            <a:stCxn id="71" idx="3"/>
            <a:endCxn id="81" idx="0"/>
          </p:cNvCxnSpPr>
          <p:nvPr/>
        </p:nvCxnSpPr>
        <p:spPr>
          <a:xfrm>
            <a:off x="7442491" y="3076361"/>
            <a:ext cx="527736" cy="28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5D6A27-5322-4335-B8A2-504F8A425CA4}"/>
              </a:ext>
            </a:extLst>
          </p:cNvPr>
          <p:cNvCxnSpPr>
            <a:cxnSpLocks/>
            <a:stCxn id="12" idx="1"/>
            <a:endCxn id="19" idx="0"/>
          </p:cNvCxnSpPr>
          <p:nvPr/>
        </p:nvCxnSpPr>
        <p:spPr>
          <a:xfrm flipH="1">
            <a:off x="5613828" y="3678168"/>
            <a:ext cx="182308" cy="497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47BF53-AE47-4270-B866-C78C91CBFF53}"/>
              </a:ext>
            </a:extLst>
          </p:cNvPr>
          <p:cNvCxnSpPr>
            <a:cxnSpLocks/>
            <a:stCxn id="12" idx="3"/>
            <a:endCxn id="20" idx="0"/>
          </p:cNvCxnSpPr>
          <p:nvPr/>
        </p:nvCxnSpPr>
        <p:spPr>
          <a:xfrm>
            <a:off x="6282190" y="3678168"/>
            <a:ext cx="150382" cy="53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8621BE-AF22-4BCD-A7EE-41F3F151272F}"/>
              </a:ext>
            </a:extLst>
          </p:cNvPr>
          <p:cNvCxnSpPr>
            <a:cxnSpLocks/>
            <a:stCxn id="66" idx="1"/>
            <a:endCxn id="11" idx="0"/>
          </p:cNvCxnSpPr>
          <p:nvPr/>
        </p:nvCxnSpPr>
        <p:spPr>
          <a:xfrm flipH="1">
            <a:off x="1261423" y="3042256"/>
            <a:ext cx="514970" cy="432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56495B-9216-4CD4-A257-3F19617DA2CD}"/>
              </a:ext>
            </a:extLst>
          </p:cNvPr>
          <p:cNvCxnSpPr>
            <a:cxnSpLocks/>
            <a:stCxn id="66" idx="3"/>
            <a:endCxn id="78" idx="0"/>
          </p:cNvCxnSpPr>
          <p:nvPr/>
        </p:nvCxnSpPr>
        <p:spPr>
          <a:xfrm>
            <a:off x="2991528" y="3042256"/>
            <a:ext cx="783883" cy="458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7CF106-A18D-48BC-8AD0-3872F21CBBD4}"/>
              </a:ext>
            </a:extLst>
          </p:cNvPr>
          <p:cNvCxnSpPr>
            <a:cxnSpLocks/>
            <a:stCxn id="11" idx="1"/>
            <a:endCxn id="16" idx="0"/>
          </p:cNvCxnSpPr>
          <p:nvPr/>
        </p:nvCxnSpPr>
        <p:spPr>
          <a:xfrm flipH="1">
            <a:off x="695204" y="3657563"/>
            <a:ext cx="323192" cy="616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8191D-27A3-457A-B226-D58F25A6B6BF}"/>
              </a:ext>
            </a:extLst>
          </p:cNvPr>
          <p:cNvCxnSpPr>
            <a:cxnSpLocks/>
            <a:stCxn id="78" idx="1"/>
            <a:endCxn id="18" idx="0"/>
          </p:cNvCxnSpPr>
          <p:nvPr/>
        </p:nvCxnSpPr>
        <p:spPr>
          <a:xfrm flipH="1">
            <a:off x="3326388" y="3683888"/>
            <a:ext cx="84483" cy="551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F9DE3A-2A07-44AA-AEE0-5E590AC377E0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>
            <a:off x="1504450" y="3657563"/>
            <a:ext cx="319610" cy="626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D05E54-D811-4D55-94A2-19965C52ADB5}"/>
              </a:ext>
            </a:extLst>
          </p:cNvPr>
          <p:cNvCxnSpPr>
            <a:cxnSpLocks/>
          </p:cNvCxnSpPr>
          <p:nvPr/>
        </p:nvCxnSpPr>
        <p:spPr>
          <a:xfrm>
            <a:off x="4141402" y="3781185"/>
            <a:ext cx="214159" cy="437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E0A9AF-0046-47F7-BA6B-6482A009EFD9}"/>
              </a:ext>
            </a:extLst>
          </p:cNvPr>
          <p:cNvGrpSpPr/>
          <p:nvPr/>
        </p:nvGrpSpPr>
        <p:grpSpPr>
          <a:xfrm>
            <a:off x="3259697" y="1649499"/>
            <a:ext cx="764953" cy="501621"/>
            <a:chOff x="3259697" y="1649499"/>
            <a:chExt cx="764953" cy="501621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3D1D85B-18B3-4C66-A773-70193295C3C5}"/>
                </a:ext>
              </a:extLst>
            </p:cNvPr>
            <p:cNvSpPr/>
            <p:nvPr/>
          </p:nvSpPr>
          <p:spPr>
            <a:xfrm>
              <a:off x="3259697" y="1649499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5 </a:t>
              </a:r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CBB0D34-99CA-4D65-A8D6-F1A0C31AA360}"/>
                </a:ext>
              </a:extLst>
            </p:cNvPr>
            <p:cNvCxnSpPr/>
            <p:nvPr/>
          </p:nvCxnSpPr>
          <p:spPr>
            <a:xfrm>
              <a:off x="3986952" y="1772816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66" name="Table 6">
            <a:extLst>
              <a:ext uri="{FF2B5EF4-FFF2-40B4-BE49-F238E27FC236}">
                <a16:creationId xmlns:a16="http://schemas.microsoft.com/office/drawing/2014/main" id="{8DB66BC1-251C-46E6-BCB5-84F2CA26F8D4}"/>
              </a:ext>
            </a:extLst>
          </p:cNvPr>
          <p:cNvGraphicFramePr>
            <a:graphicFrameLocks noGrp="1"/>
          </p:cNvGraphicFramePr>
          <p:nvPr/>
        </p:nvGraphicFramePr>
        <p:xfrm>
          <a:off x="1776393" y="2859376"/>
          <a:ext cx="121513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</a:tblGrid>
              <a:tr h="155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71" name="Table 6">
            <a:extLst>
              <a:ext uri="{FF2B5EF4-FFF2-40B4-BE49-F238E27FC236}">
                <a16:creationId xmlns:a16="http://schemas.microsoft.com/office/drawing/2014/main" id="{D7B4DACE-27D1-490D-A960-315A7F98C454}"/>
              </a:ext>
            </a:extLst>
          </p:cNvPr>
          <p:cNvGraphicFramePr>
            <a:graphicFrameLocks noGrp="1"/>
          </p:cNvGraphicFramePr>
          <p:nvPr/>
        </p:nvGraphicFramePr>
        <p:xfrm>
          <a:off x="6713410" y="2893481"/>
          <a:ext cx="72908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78" name="Table 6">
            <a:extLst>
              <a:ext uri="{FF2B5EF4-FFF2-40B4-BE49-F238E27FC236}">
                <a16:creationId xmlns:a16="http://schemas.microsoft.com/office/drawing/2014/main" id="{AE1D56F1-B194-4101-8DD8-44A2F77BF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778982"/>
              </p:ext>
            </p:extLst>
          </p:nvPr>
        </p:nvGraphicFramePr>
        <p:xfrm>
          <a:off x="3410871" y="3501008"/>
          <a:ext cx="72908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</a:tblGrid>
              <a:tr h="155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49E46893-E4C7-48AB-8200-58C09A05CCA8}"/>
              </a:ext>
            </a:extLst>
          </p:cNvPr>
          <p:cNvSpPr/>
          <p:nvPr/>
        </p:nvSpPr>
        <p:spPr>
          <a:xfrm>
            <a:off x="7814575" y="3356992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1359CF1-124B-4DE8-B51A-E7A233EC4F71}"/>
              </a:ext>
            </a:extLst>
          </p:cNvPr>
          <p:cNvSpPr/>
          <p:nvPr/>
        </p:nvSpPr>
        <p:spPr>
          <a:xfrm>
            <a:off x="3779912" y="4869160"/>
            <a:ext cx="393882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CC3144-2CB8-44B0-A3CD-AFD64FD62292}"/>
              </a:ext>
            </a:extLst>
          </p:cNvPr>
          <p:cNvSpPr/>
          <p:nvPr/>
        </p:nvSpPr>
        <p:spPr>
          <a:xfrm>
            <a:off x="4836760" y="4869160"/>
            <a:ext cx="311304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E65BAC-5A7A-4745-A507-BBD044FAF21C}"/>
              </a:ext>
            </a:extLst>
          </p:cNvPr>
          <p:cNvCxnSpPr>
            <a:cxnSpLocks/>
            <a:stCxn id="65" idx="1"/>
            <a:endCxn id="94" idx="0"/>
          </p:cNvCxnSpPr>
          <p:nvPr/>
        </p:nvCxnSpPr>
        <p:spPr>
          <a:xfrm flipH="1">
            <a:off x="3976853" y="4401668"/>
            <a:ext cx="182780" cy="467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6AF6CDA-792B-4052-AAF0-11CBD612E871}"/>
              </a:ext>
            </a:extLst>
          </p:cNvPr>
          <p:cNvCxnSpPr>
            <a:cxnSpLocks/>
            <a:stCxn id="65" idx="3"/>
            <a:endCxn id="96" idx="0"/>
          </p:cNvCxnSpPr>
          <p:nvPr/>
        </p:nvCxnSpPr>
        <p:spPr>
          <a:xfrm>
            <a:off x="4645687" y="4401668"/>
            <a:ext cx="346725" cy="467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4C6834-1988-40BD-9560-E56AFFA3AC16}"/>
              </a:ext>
            </a:extLst>
          </p:cNvPr>
          <p:cNvGrpSpPr/>
          <p:nvPr/>
        </p:nvGrpSpPr>
        <p:grpSpPr>
          <a:xfrm>
            <a:off x="1187624" y="2351315"/>
            <a:ext cx="764953" cy="501621"/>
            <a:chOff x="3259697" y="1649499"/>
            <a:chExt cx="764953" cy="50162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8CA873B-338A-486E-9C63-317B253EA7CB}"/>
                </a:ext>
              </a:extLst>
            </p:cNvPr>
            <p:cNvSpPr/>
            <p:nvPr/>
          </p:nvSpPr>
          <p:spPr>
            <a:xfrm>
              <a:off x="3259697" y="1649499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2 </a:t>
              </a:r>
              <a:endParaRPr lang="en-US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8D06D50-C50B-484A-AA65-C2717F399C11}"/>
                </a:ext>
              </a:extLst>
            </p:cNvPr>
            <p:cNvCxnSpPr/>
            <p:nvPr/>
          </p:nvCxnSpPr>
          <p:spPr>
            <a:xfrm>
              <a:off x="3986952" y="1772816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5320388-39CF-4E4F-AEC0-0BEF17B9336F}"/>
              </a:ext>
            </a:extLst>
          </p:cNvPr>
          <p:cNvGrpSpPr/>
          <p:nvPr/>
        </p:nvGrpSpPr>
        <p:grpSpPr>
          <a:xfrm>
            <a:off x="6111303" y="2396762"/>
            <a:ext cx="764953" cy="501458"/>
            <a:chOff x="6111303" y="2396762"/>
            <a:chExt cx="764953" cy="50145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9CEE24-12B9-4585-A2B7-36F03D5A1E47}"/>
                </a:ext>
              </a:extLst>
            </p:cNvPr>
            <p:cNvSpPr/>
            <p:nvPr/>
          </p:nvSpPr>
          <p:spPr>
            <a:xfrm>
              <a:off x="6111303" y="2396762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b="1" dirty="0">
                  <a:solidFill>
                    <a:srgbClr val="FF0000"/>
                  </a:solidFill>
                </a:rPr>
                <a:t>P = 8 </a:t>
              </a:r>
              <a:endParaRPr lang="en-US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639F347-9E22-4823-B7D1-EFF416DFF33D}"/>
                </a:ext>
              </a:extLst>
            </p:cNvPr>
            <p:cNvCxnSpPr/>
            <p:nvPr/>
          </p:nvCxnSpPr>
          <p:spPr>
            <a:xfrm>
              <a:off x="6876256" y="2519916"/>
              <a:ext cx="0" cy="37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65" name="Table 6">
            <a:extLst>
              <a:ext uri="{FF2B5EF4-FFF2-40B4-BE49-F238E27FC236}">
                <a16:creationId xmlns:a16="http://schemas.microsoft.com/office/drawing/2014/main" id="{81F6478B-724A-4AE4-9199-D0ED2E15B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418802"/>
              </p:ext>
            </p:extLst>
          </p:nvPr>
        </p:nvGraphicFramePr>
        <p:xfrm>
          <a:off x="4159633" y="4218788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26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52028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54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81" grpId="0" animBg="1"/>
      <p:bldP spid="94" grpId="0" animBg="1"/>
      <p:bldP spid="9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073D-D7F0-4730-8C2A-710B6692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Quick Sort Algorithm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36935-C355-41EB-A51B-23F6F5405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175" y="2191152"/>
            <a:ext cx="8442641" cy="33123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6972F-2AE7-4803-8D28-88BA902D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36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260103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073D-D7F0-4730-8C2A-710B6692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Partitioning Algorithm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0FAFF-9167-4C8F-9672-121697DBE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6972F-2AE7-4803-8D28-88BA902D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37</a:t>
            </a:fld>
            <a:endParaRPr lang="ar-SA" dirty="0"/>
          </a:p>
        </p:txBody>
      </p:sp>
      <p:pic>
        <p:nvPicPr>
          <p:cNvPr id="5" name="Picture 8" descr="partition">
            <a:extLst>
              <a:ext uri="{FF2B5EF4-FFF2-40B4-BE49-F238E27FC236}">
                <a16:creationId xmlns:a16="http://schemas.microsoft.com/office/drawing/2014/main" id="{21C49B38-F610-4C5A-8DD1-9DCA8F080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681" y="1700808"/>
            <a:ext cx="8389865" cy="476989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9357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6FC1-A15D-4B2E-A2FB-DAA44D61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Analysis of Quicksort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0B42-8B6D-4B5C-9EF9-46838C46B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02179"/>
            <a:ext cx="7290054" cy="4023360"/>
          </a:xfrm>
        </p:spPr>
        <p:txBody>
          <a:bodyPr/>
          <a:lstStyle/>
          <a:p>
            <a:r>
              <a:rPr lang="pt-BR" sz="2400" i="1" dirty="0"/>
              <a:t>Cbest(n) </a:t>
            </a:r>
            <a:r>
              <a:rPr lang="pt-BR" sz="2400" dirty="0"/>
              <a:t>= 2</a:t>
            </a:r>
            <a:r>
              <a:rPr lang="pt-BR" sz="2400" i="1" dirty="0"/>
              <a:t>Cbest(n/</a:t>
            </a:r>
            <a:r>
              <a:rPr lang="pt-BR" sz="2400" dirty="0"/>
              <a:t>2</a:t>
            </a:r>
            <a:r>
              <a:rPr lang="pt-BR" sz="2400" i="1" dirty="0"/>
              <a:t>) </a:t>
            </a:r>
            <a:r>
              <a:rPr lang="pt-BR" sz="2400" dirty="0"/>
              <a:t>+ </a:t>
            </a:r>
            <a:r>
              <a:rPr lang="pt-BR" sz="2400" i="1" dirty="0"/>
              <a:t>n </a:t>
            </a:r>
            <a:r>
              <a:rPr lang="pt-BR" sz="2400" dirty="0"/>
              <a:t>for </a:t>
            </a:r>
            <a:r>
              <a:rPr lang="pt-BR" sz="2400" i="1" dirty="0"/>
              <a:t>n &gt; </a:t>
            </a:r>
            <a:r>
              <a:rPr lang="pt-BR" sz="2400" dirty="0"/>
              <a:t>1</a:t>
            </a:r>
            <a:r>
              <a:rPr lang="pt-BR" sz="2400" i="1" dirty="0"/>
              <a:t>, Cbest(</a:t>
            </a:r>
            <a:r>
              <a:rPr lang="pt-BR" sz="2400" dirty="0"/>
              <a:t>1</a:t>
            </a:r>
            <a:r>
              <a:rPr lang="pt-BR" sz="2400" i="1" dirty="0"/>
              <a:t>) </a:t>
            </a:r>
            <a:r>
              <a:rPr lang="pt-BR" sz="2400" dirty="0"/>
              <a:t>= 0</a:t>
            </a:r>
          </a:p>
          <a:p>
            <a:pPr algn="ctr"/>
            <a:r>
              <a:rPr lang="en-US" sz="2400" b="1" dirty="0"/>
              <a:t>Master Theory , </a:t>
            </a:r>
            <a:r>
              <a:rPr lang="en-US" sz="2400" b="1" dirty="0">
                <a:solidFill>
                  <a:srgbClr val="FF0000"/>
                </a:solidFill>
              </a:rPr>
              <a:t>O(n </a:t>
            </a:r>
            <a:r>
              <a:rPr lang="en-US" sz="2400" b="1" dirty="0" err="1">
                <a:solidFill>
                  <a:srgbClr val="FF0000"/>
                </a:solidFill>
              </a:rPr>
              <a:t>logn</a:t>
            </a:r>
            <a:r>
              <a:rPr lang="en-US" sz="2400" b="1" dirty="0">
                <a:solidFill>
                  <a:srgbClr val="FF0000"/>
                </a:solidFill>
              </a:rPr>
              <a:t> )</a:t>
            </a:r>
            <a:endParaRPr lang="pt-BR" sz="2400" b="1" dirty="0">
              <a:solidFill>
                <a:srgbClr val="FF0000"/>
              </a:solidFill>
            </a:endParaRPr>
          </a:p>
          <a:p>
            <a:r>
              <a:rPr lang="en-US" b="1" i="1" dirty="0"/>
              <a:t>Worst Case 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1B65B-648E-46A9-91C9-8D59761F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1CCAB-BB91-442C-8C71-F09E2B838991}" type="slidenum">
              <a:rPr lang="ar-SA" smtClean="0"/>
              <a:pPr/>
              <a:t>38</a:t>
            </a:fld>
            <a:endParaRPr lang="ar-SA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AA1B263-8DEA-4212-AB70-42E05923A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995681"/>
              </p:ext>
            </p:extLst>
          </p:nvPr>
        </p:nvGraphicFramePr>
        <p:xfrm>
          <a:off x="2771800" y="2924944"/>
          <a:ext cx="1944216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793412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4427997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81934908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00156023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6106990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723122564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886794038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F24FA4-3580-4294-B24D-0E3F3BD8C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014390"/>
              </p:ext>
            </p:extLst>
          </p:nvPr>
        </p:nvGraphicFramePr>
        <p:xfrm>
          <a:off x="2771800" y="3429000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593198793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51147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909576-C513-494E-98A4-E3101BC27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726118"/>
              </p:ext>
            </p:extLst>
          </p:nvPr>
        </p:nvGraphicFramePr>
        <p:xfrm>
          <a:off x="3260347" y="3443332"/>
          <a:ext cx="1701189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783554242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938045845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533484282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75007151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1810906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51685882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84783951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6917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9BAC2A-9B6D-497F-9D77-F04A127B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392034"/>
              </p:ext>
            </p:extLst>
          </p:nvPr>
        </p:nvGraphicFramePr>
        <p:xfrm>
          <a:off x="3248853" y="3942084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783554242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6917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CC7F48-1F2A-4CFD-8F4A-8DDFEA670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5386"/>
              </p:ext>
            </p:extLst>
          </p:nvPr>
        </p:nvGraphicFramePr>
        <p:xfrm>
          <a:off x="3743908" y="3942192"/>
          <a:ext cx="1458162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825286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1927731105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129412221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4062958561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196118352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35283271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820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271A8D-6025-4415-B002-50D9C67F4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13266"/>
              </p:ext>
            </p:extLst>
          </p:nvPr>
        </p:nvGraphicFramePr>
        <p:xfrm>
          <a:off x="3722652" y="4418376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1825286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82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215F14-F61C-4987-9A3C-91E8B68CB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455481"/>
              </p:ext>
            </p:extLst>
          </p:nvPr>
        </p:nvGraphicFramePr>
        <p:xfrm>
          <a:off x="4211960" y="4431392"/>
          <a:ext cx="121513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65266181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1803068587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1489419896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03466795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067246009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00468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029961-6288-49C0-947C-9596FC357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811784"/>
              </p:ext>
            </p:extLst>
          </p:nvPr>
        </p:nvGraphicFramePr>
        <p:xfrm>
          <a:off x="4213928" y="4920592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65266181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00468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B14D7F-169E-4B83-8E3B-45DB65E57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054757"/>
              </p:ext>
            </p:extLst>
          </p:nvPr>
        </p:nvGraphicFramePr>
        <p:xfrm>
          <a:off x="4701268" y="4926851"/>
          <a:ext cx="97210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64965677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2389561365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557237640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463935889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02035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1015196-FD29-495C-B1C0-A5C2C3D01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540409"/>
              </p:ext>
            </p:extLst>
          </p:nvPr>
        </p:nvGraphicFramePr>
        <p:xfrm>
          <a:off x="4720680" y="5412011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64965677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02035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EC66FA3-B0BE-4BB8-BAB4-18185954B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298701"/>
              </p:ext>
            </p:extLst>
          </p:nvPr>
        </p:nvGraphicFramePr>
        <p:xfrm>
          <a:off x="5187322" y="5416051"/>
          <a:ext cx="72908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54945053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928095359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1207614233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12081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DBCDBD1-7574-4A1F-81B2-F8AEBFE15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4594"/>
              </p:ext>
            </p:extLst>
          </p:nvPr>
        </p:nvGraphicFramePr>
        <p:xfrm>
          <a:off x="5187321" y="5905251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354945053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12081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ED199A-8DDD-4D81-8F80-B3FC53FE9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81449"/>
              </p:ext>
            </p:extLst>
          </p:nvPr>
        </p:nvGraphicFramePr>
        <p:xfrm>
          <a:off x="5673376" y="5905251"/>
          <a:ext cx="48605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516260308"/>
                    </a:ext>
                  </a:extLst>
                </a:gridCol>
                <a:gridCol w="243027">
                  <a:extLst>
                    <a:ext uri="{9D8B030D-6E8A-4147-A177-3AD203B41FA5}">
                      <a16:colId xmlns:a16="http://schemas.microsoft.com/office/drawing/2014/main" val="3656093169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61382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157FEC1-B1AE-4E15-9C00-F0CF56284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49027"/>
              </p:ext>
            </p:extLst>
          </p:nvPr>
        </p:nvGraphicFramePr>
        <p:xfrm>
          <a:off x="5724128" y="6375608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64965677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02035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23D44D4-E86B-4074-9884-9D11EDAD4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245233"/>
              </p:ext>
            </p:extLst>
          </p:nvPr>
        </p:nvGraphicFramePr>
        <p:xfrm>
          <a:off x="6228184" y="6375608"/>
          <a:ext cx="24302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27">
                  <a:extLst>
                    <a:ext uri="{9D8B030D-6E8A-4147-A177-3AD203B41FA5}">
                      <a16:colId xmlns:a16="http://schemas.microsoft.com/office/drawing/2014/main" val="2649656770"/>
                    </a:ext>
                  </a:extLst>
                </a:gridCol>
              </a:tblGrid>
              <a:tr h="3120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0203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AB898B-4A3E-43F7-9059-9E0495AA4A4D}"/>
                  </a:ext>
                </a:extLst>
              </p:cNvPr>
              <p:cNvSpPr txBox="1"/>
              <p:nvPr/>
            </p:nvSpPr>
            <p:spPr>
              <a:xfrm>
                <a:off x="5724128" y="4056837"/>
                <a:ext cx="2662396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= 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AB898B-4A3E-43F7-9059-9E0495AA4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4056837"/>
                <a:ext cx="2662396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1421998D-623D-4505-A0B7-6DC4E5F6AFFE}"/>
              </a:ext>
            </a:extLst>
          </p:cNvPr>
          <p:cNvSpPr/>
          <p:nvPr/>
        </p:nvSpPr>
        <p:spPr>
          <a:xfrm>
            <a:off x="7118067" y="5593105"/>
            <a:ext cx="93487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</a:rPr>
              <a:t>O(n</a:t>
            </a:r>
            <a:r>
              <a:rPr lang="en-US" sz="2600" b="1" baseline="30000" dirty="0">
                <a:solidFill>
                  <a:srgbClr val="FF0000"/>
                </a:solidFill>
              </a:rPr>
              <a:t>2</a:t>
            </a:r>
            <a:r>
              <a:rPr lang="en-US" sz="2600" b="1" dirty="0">
                <a:solidFill>
                  <a:srgbClr val="FF0000"/>
                </a:solidFill>
              </a:rPr>
              <a:t>)</a:t>
            </a:r>
            <a:endParaRPr lang="pt-BR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76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6FC1-A15D-4B2E-A2FB-DAA44D61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Analysis of Quicksort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0B42-8B6D-4B5C-9EF9-46838C46B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02179"/>
            <a:ext cx="7290054" cy="402336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Best case: split in the middle </a:t>
            </a:r>
            <a:r>
              <a:rPr lang="en-US" altLang="en-US" sz="2400" dirty="0">
                <a:cs typeface="Times New Roman" panose="02020603050405020304" pitchFamily="18" charset="0"/>
              </a:rPr>
              <a:t>— </a:t>
            </a:r>
            <a:r>
              <a:rPr lang="el-GR" altLang="en-US" sz="2400" dirty="0"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Worst case: sorted array! — </a:t>
            </a:r>
            <a:r>
              <a:rPr lang="el-GR" altLang="en-US" sz="2400" dirty="0"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i="1" baseline="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Average case: random arrays </a:t>
            </a:r>
            <a:r>
              <a:rPr lang="en-US" altLang="en-US" sz="2400" dirty="0">
                <a:cs typeface="Times New Roman" panose="02020603050405020304" pitchFamily="18" charset="0"/>
              </a:rPr>
              <a:t>—</a:t>
            </a:r>
            <a:r>
              <a:rPr lang="en-US" altLang="en-US" sz="2400" dirty="0"/>
              <a:t> </a:t>
            </a:r>
            <a:r>
              <a:rPr lang="el-GR" altLang="en-US" sz="2400" dirty="0">
                <a:cs typeface="Times New Roman" panose="02020603050405020304" pitchFamily="18" charset="0"/>
              </a:rPr>
              <a:t>Θ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Improvements:</a:t>
            </a:r>
          </a:p>
          <a:p>
            <a:pPr marL="398463" lvl="1" indent="-3984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>
                <a:cs typeface="Times New Roman" panose="02020603050405020304" pitchFamily="18" charset="0"/>
              </a:rPr>
              <a:t>better pivot selection: median of three partitioning </a:t>
            </a:r>
          </a:p>
          <a:p>
            <a:pPr marL="398463" lvl="1" indent="-3984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>
                <a:cs typeface="Times New Roman" panose="02020603050405020304" pitchFamily="18" charset="0"/>
              </a:rPr>
              <a:t>switch to insertion sort on small subfiles</a:t>
            </a:r>
          </a:p>
          <a:p>
            <a:pPr marL="398463" lvl="1" indent="-3984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>
                <a:cs typeface="Times New Roman" panose="02020603050405020304" pitchFamily="18" charset="0"/>
              </a:rPr>
              <a:t>elimination of recursion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2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Lect 1- introduction"/>
  <p:tag name="ISPRING_FIRST_PUBLISH" val="1"/>
  <p:tag name="ISPRING_UUID" val="{04D3DB32-9EAA-4555-9716-93E9F88CE6E8}"/>
  <p:tag name="ISPRING_RESOURCE_FOLDER" val="E:\2020-2021\First Semester\Algorithm analysis and design\My course\Lect 1- introduction\"/>
  <p:tag name="ISPRING_PRESENTATION_PATH" val="E:\2020-2021\First Semester\Algorithm analysis and design\My course\Lect 1- introduction.pptx"/>
  <p:tag name="ISPRING_PROJECT_VERSION" val="9.3"/>
  <p:tag name="ISPRING_PROJECT_FOLDER_UPDATED" val="1"/>
  <p:tag name="ISPRING_SCREEN_RECS_UPDATED" val="E:\2020-2021\First Semester\Algorithm analysis and design\My course\Lect 1- introduction\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2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12750</TotalTime>
  <Words>1764</Words>
  <Application>Microsoft Office PowerPoint</Application>
  <PresentationFormat>On-screen Show (4:3)</PresentationFormat>
  <Paragraphs>839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Calibri</vt:lpstr>
      <vt:lpstr>Cambria Math</vt:lpstr>
      <vt:lpstr>CMMI10</vt:lpstr>
      <vt:lpstr>CMR10</vt:lpstr>
      <vt:lpstr>Comic Sans MS</vt:lpstr>
      <vt:lpstr>Courier New</vt:lpstr>
      <vt:lpstr>Tahoma</vt:lpstr>
      <vt:lpstr>Times</vt:lpstr>
      <vt:lpstr>Tw Cen MT</vt:lpstr>
      <vt:lpstr>Tw Cen MT (Body)</vt:lpstr>
      <vt:lpstr>Tw Cen MT Condensed</vt:lpstr>
      <vt:lpstr>Wingdings</vt:lpstr>
      <vt:lpstr>Wingdings 3</vt:lpstr>
      <vt:lpstr>Integral</vt:lpstr>
      <vt:lpstr>Algorithms analysis and Design</vt:lpstr>
      <vt:lpstr>Chapter 5</vt:lpstr>
      <vt:lpstr>OUTLINE</vt:lpstr>
      <vt:lpstr>Divide-and-Conquer Technique </vt:lpstr>
      <vt:lpstr>Divide-and-Conquer Technique </vt:lpstr>
      <vt:lpstr>Divide-and-Conquer Technique </vt:lpstr>
      <vt:lpstr>Divide-and-Conquer Technique </vt:lpstr>
      <vt:lpstr>Example : Computing Powers</vt:lpstr>
      <vt:lpstr>Example : Computing Powers</vt:lpstr>
      <vt:lpstr>Analysis</vt:lpstr>
      <vt:lpstr>Add n number using divide and conquer</vt:lpstr>
      <vt:lpstr>OUTLINE</vt:lpstr>
      <vt:lpstr>Mergesort</vt:lpstr>
      <vt:lpstr>Mergesort</vt:lpstr>
      <vt:lpstr>Mergesort Example</vt:lpstr>
      <vt:lpstr>Mergesort Example</vt:lpstr>
      <vt:lpstr>Mergesort Example</vt:lpstr>
      <vt:lpstr>Mergesort Example</vt:lpstr>
      <vt:lpstr>Mergesort Example</vt:lpstr>
      <vt:lpstr>Mergesort Example</vt:lpstr>
      <vt:lpstr>Mergesort Example</vt:lpstr>
      <vt:lpstr>Mergesort Example</vt:lpstr>
      <vt:lpstr>Pseudocode of Mergesort</vt:lpstr>
      <vt:lpstr>Pseudocode of Mergesort</vt:lpstr>
      <vt:lpstr>Time efficiency of mergesort</vt:lpstr>
      <vt:lpstr>Time efficiency of mergesort</vt:lpstr>
      <vt:lpstr>OUTLINE</vt:lpstr>
      <vt:lpstr>Quicksort</vt:lpstr>
      <vt:lpstr>Quicksort</vt:lpstr>
      <vt:lpstr>QuickSort Example</vt:lpstr>
      <vt:lpstr>QuickSort Example</vt:lpstr>
      <vt:lpstr>QuickSort Example</vt:lpstr>
      <vt:lpstr>QuickSort Example</vt:lpstr>
      <vt:lpstr>QuickSort Example</vt:lpstr>
      <vt:lpstr>QuickSort Example</vt:lpstr>
      <vt:lpstr>Quick Sort Algorithm</vt:lpstr>
      <vt:lpstr>Partitioning Algorithm</vt:lpstr>
      <vt:lpstr>Analysis of Quicksort</vt:lpstr>
      <vt:lpstr>Analysis of Quicksort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1- introduction</dc:title>
  <dc:creator>ALHALEES</dc:creator>
  <cp:lastModifiedBy>basem o. alijla</cp:lastModifiedBy>
  <cp:revision>446</cp:revision>
  <dcterms:created xsi:type="dcterms:W3CDTF">2014-07-10T11:11:59Z</dcterms:created>
  <dcterms:modified xsi:type="dcterms:W3CDTF">2020-10-12T19:11:48Z</dcterms:modified>
</cp:coreProperties>
</file>