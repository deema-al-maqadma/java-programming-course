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845" r:id="rId1"/>
  </p:sldMasterIdLst>
  <p:notesMasterIdLst>
    <p:notesMasterId r:id="rId31"/>
  </p:notesMasterIdLst>
  <p:sldIdLst>
    <p:sldId id="331" r:id="rId2"/>
    <p:sldId id="400" r:id="rId3"/>
    <p:sldId id="492" r:id="rId4"/>
    <p:sldId id="493" r:id="rId5"/>
    <p:sldId id="494" r:id="rId6"/>
    <p:sldId id="495" r:id="rId7"/>
    <p:sldId id="516" r:id="rId8"/>
    <p:sldId id="496" r:id="rId9"/>
    <p:sldId id="497" r:id="rId10"/>
    <p:sldId id="498" r:id="rId11"/>
    <p:sldId id="499" r:id="rId12"/>
    <p:sldId id="501" r:id="rId13"/>
    <p:sldId id="500" r:id="rId14"/>
    <p:sldId id="502" r:id="rId15"/>
    <p:sldId id="503" r:id="rId16"/>
    <p:sldId id="504" r:id="rId17"/>
    <p:sldId id="505" r:id="rId18"/>
    <p:sldId id="507" r:id="rId19"/>
    <p:sldId id="517" r:id="rId20"/>
    <p:sldId id="508" r:id="rId21"/>
    <p:sldId id="509" r:id="rId22"/>
    <p:sldId id="510" r:id="rId23"/>
    <p:sldId id="511" r:id="rId24"/>
    <p:sldId id="512" r:id="rId25"/>
    <p:sldId id="513" r:id="rId26"/>
    <p:sldId id="514" r:id="rId27"/>
    <p:sldId id="515" r:id="rId28"/>
    <p:sldId id="519" r:id="rId29"/>
    <p:sldId id="518" r:id="rId30"/>
  </p:sldIdLst>
  <p:sldSz cx="9144000" cy="6858000" type="screen4x3"/>
  <p:notesSz cx="6858000" cy="9144000"/>
  <p:custDataLst>
    <p:tags r:id="rId3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9DBFBE"/>
    <a:srgbClr val="728C8B"/>
    <a:srgbClr val="FF9900"/>
    <a:srgbClr val="2AA9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706" autoAdjust="0"/>
    <p:restoredTop sz="94291" autoAdjust="0"/>
  </p:normalViewPr>
  <p:slideViewPr>
    <p:cSldViewPr>
      <p:cViewPr varScale="1">
        <p:scale>
          <a:sx n="69" d="100"/>
          <a:sy n="69" d="100"/>
        </p:scale>
        <p:origin x="-1428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93FDE869-3355-499A-97D0-25B9BC1888AB}" type="datetimeFigureOut">
              <a:rPr lang="ar-SA" smtClean="0"/>
              <a:pPr/>
              <a:t>01/19/1447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2565EE41-B3BC-4473-AD98-14A5182BA06C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03322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Rectangle 105"/>
          <p:cNvSpPr/>
          <p:nvPr/>
        </p:nvSpPr>
        <p:spPr>
          <a:xfrm rot="2700000">
            <a:off x="7446946" y="993285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09" name="Group 408"/>
          <p:cNvGrpSpPr/>
          <p:nvPr/>
        </p:nvGrpSpPr>
        <p:grpSpPr>
          <a:xfrm>
            <a:off x="0" y="420256"/>
            <a:ext cx="9144000" cy="3795497"/>
            <a:chOff x="0" y="420256"/>
            <a:chExt cx="12188952" cy="3795497"/>
          </a:xfrm>
        </p:grpSpPr>
        <p:cxnSp>
          <p:nvCxnSpPr>
            <p:cNvPr id="410" name="Straight Connector 409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0" name="Rectangle 379"/>
          <p:cNvSpPr/>
          <p:nvPr/>
        </p:nvSpPr>
        <p:spPr>
          <a:xfrm rot="18900000" flipV="1">
            <a:off x="8146056" y="-427079"/>
            <a:ext cx="13716" cy="2816931"/>
          </a:xfrm>
          <a:custGeom>
            <a:avLst/>
            <a:gdLst/>
            <a:ahLst/>
            <a:cxnLst/>
            <a:rect l="l" t="t" r="r" b="b"/>
            <a:pathLst>
              <a:path w="13716" h="2816931">
                <a:moveTo>
                  <a:pt x="0" y="2816931"/>
                </a:moveTo>
                <a:lnTo>
                  <a:pt x="13716" y="28032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1" name="Rectangle 56"/>
          <p:cNvSpPr/>
          <p:nvPr/>
        </p:nvSpPr>
        <p:spPr>
          <a:xfrm>
            <a:off x="1" y="0"/>
            <a:ext cx="8865825" cy="4572004"/>
          </a:xfrm>
          <a:custGeom>
            <a:avLst/>
            <a:gdLst/>
            <a:ahLst/>
            <a:cxnLst/>
            <a:rect l="l" t="t" r="r" b="b"/>
            <a:pathLst>
              <a:path w="8865825" h="4572004"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2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3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4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5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6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7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8" name="Rectangle 93"/>
          <p:cNvSpPr/>
          <p:nvPr/>
        </p:nvSpPr>
        <p:spPr>
          <a:xfrm rot="2700000">
            <a:off x="7126799" y="-278554"/>
            <a:ext cx="13716" cy="5699824"/>
          </a:xfrm>
          <a:custGeom>
            <a:avLst/>
            <a:gdLst/>
            <a:ahLst/>
            <a:cxnLst/>
            <a:rect l="l" t="t" r="r" b="b"/>
            <a:pathLst>
              <a:path w="13716" h="5699824">
                <a:moveTo>
                  <a:pt x="0" y="0"/>
                </a:moveTo>
                <a:lnTo>
                  <a:pt x="13716" y="13717"/>
                </a:lnTo>
                <a:lnTo>
                  <a:pt x="13716" y="5686109"/>
                </a:lnTo>
                <a:lnTo>
                  <a:pt x="1" y="569982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9" name="Rectangle 95"/>
          <p:cNvSpPr/>
          <p:nvPr/>
        </p:nvSpPr>
        <p:spPr>
          <a:xfrm rot="2700000">
            <a:off x="7969986" y="1747381"/>
            <a:ext cx="13716" cy="3314931"/>
          </a:xfrm>
          <a:custGeom>
            <a:avLst/>
            <a:gdLst/>
            <a:ahLst/>
            <a:cxnLst/>
            <a:rect l="l" t="t" r="r" b="b"/>
            <a:pathLst>
              <a:path w="13716" h="3314931">
                <a:moveTo>
                  <a:pt x="0" y="0"/>
                </a:moveTo>
                <a:lnTo>
                  <a:pt x="13716" y="13716"/>
                </a:lnTo>
                <a:lnTo>
                  <a:pt x="13716" y="3301215"/>
                </a:lnTo>
                <a:lnTo>
                  <a:pt x="0" y="331493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0" name="Rectangle 96"/>
          <p:cNvSpPr/>
          <p:nvPr/>
        </p:nvSpPr>
        <p:spPr>
          <a:xfrm rot="2700000">
            <a:off x="8391577" y="2765192"/>
            <a:ext cx="13716" cy="2122490"/>
          </a:xfrm>
          <a:custGeom>
            <a:avLst/>
            <a:gdLst/>
            <a:ahLst/>
            <a:cxnLst/>
            <a:rect l="l" t="t" r="r" b="b"/>
            <a:pathLst>
              <a:path w="13716" h="2122490">
                <a:moveTo>
                  <a:pt x="0" y="0"/>
                </a:moveTo>
                <a:lnTo>
                  <a:pt x="13716" y="13716"/>
                </a:lnTo>
                <a:lnTo>
                  <a:pt x="13716" y="2108774"/>
                </a:lnTo>
                <a:lnTo>
                  <a:pt x="0" y="212249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1" name="Rectangle 97"/>
          <p:cNvSpPr/>
          <p:nvPr/>
        </p:nvSpPr>
        <p:spPr>
          <a:xfrm rot="2700000">
            <a:off x="8813172" y="3783010"/>
            <a:ext cx="13717" cy="930041"/>
          </a:xfrm>
          <a:custGeom>
            <a:avLst/>
            <a:gdLst/>
            <a:ahLst/>
            <a:cxnLst/>
            <a:rect l="l" t="t" r="r" b="b"/>
            <a:pathLst>
              <a:path w="13717" h="930041">
                <a:moveTo>
                  <a:pt x="0" y="0"/>
                </a:moveTo>
                <a:lnTo>
                  <a:pt x="13717" y="13717"/>
                </a:lnTo>
                <a:lnTo>
                  <a:pt x="13717" y="916324"/>
                </a:lnTo>
                <a:lnTo>
                  <a:pt x="1" y="93004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2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3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4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5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6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7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8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9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0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1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2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3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4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5" name="Rectangle 376"/>
          <p:cNvSpPr/>
          <p:nvPr/>
        </p:nvSpPr>
        <p:spPr>
          <a:xfrm rot="18900000" flipV="1">
            <a:off x="6881278" y="-950966"/>
            <a:ext cx="13716" cy="6394268"/>
          </a:xfrm>
          <a:custGeom>
            <a:avLst/>
            <a:gdLst/>
            <a:ahLst/>
            <a:cxnLst/>
            <a:rect l="l" t="t" r="r" b="b"/>
            <a:pathLst>
              <a:path w="13716" h="6394268">
                <a:moveTo>
                  <a:pt x="13716" y="6380553"/>
                </a:moveTo>
                <a:lnTo>
                  <a:pt x="13716" y="13716"/>
                </a:lnTo>
                <a:lnTo>
                  <a:pt x="0" y="0"/>
                </a:lnTo>
                <a:lnTo>
                  <a:pt x="0" y="639426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6" name="Rectangle 377"/>
          <p:cNvSpPr/>
          <p:nvPr/>
        </p:nvSpPr>
        <p:spPr>
          <a:xfrm rot="18900000" flipV="1">
            <a:off x="7302869" y="-776336"/>
            <a:ext cx="13717" cy="5201823"/>
          </a:xfrm>
          <a:custGeom>
            <a:avLst/>
            <a:gdLst/>
            <a:ahLst/>
            <a:cxnLst/>
            <a:rect l="l" t="t" r="r" b="b"/>
            <a:pathLst>
              <a:path w="13717" h="5201823">
                <a:moveTo>
                  <a:pt x="1" y="5201823"/>
                </a:moveTo>
                <a:lnTo>
                  <a:pt x="13717" y="5188106"/>
                </a:lnTo>
                <a:lnTo>
                  <a:pt x="13717" y="1371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7" name="Rectangle 378"/>
          <p:cNvSpPr/>
          <p:nvPr/>
        </p:nvSpPr>
        <p:spPr>
          <a:xfrm rot="18900000" flipV="1">
            <a:off x="7742935" y="-582310"/>
            <a:ext cx="13716" cy="4009378"/>
          </a:xfrm>
          <a:custGeom>
            <a:avLst/>
            <a:gdLst/>
            <a:ahLst/>
            <a:cxnLst/>
            <a:rect l="l" t="t" r="r" b="b"/>
            <a:pathLst>
              <a:path w="13716" h="4009378">
                <a:moveTo>
                  <a:pt x="13716" y="3995663"/>
                </a:moveTo>
                <a:lnTo>
                  <a:pt x="13716" y="13717"/>
                </a:lnTo>
                <a:lnTo>
                  <a:pt x="0" y="0"/>
                </a:lnTo>
                <a:lnTo>
                  <a:pt x="0" y="400937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8" name="Rectangle 138"/>
          <p:cNvSpPr/>
          <p:nvPr/>
        </p:nvSpPr>
        <p:spPr>
          <a:xfrm rot="18900000" flipV="1">
            <a:off x="8567649" y="-252451"/>
            <a:ext cx="13715" cy="1624488"/>
          </a:xfrm>
          <a:custGeom>
            <a:avLst/>
            <a:gdLst/>
            <a:ahLst/>
            <a:cxnLst/>
            <a:rect l="l" t="t" r="r" b="b"/>
            <a:pathLst>
              <a:path w="13715" h="1624488">
                <a:moveTo>
                  <a:pt x="0" y="1624488"/>
                </a:moveTo>
                <a:lnTo>
                  <a:pt x="13715" y="1610773"/>
                </a:lnTo>
                <a:lnTo>
                  <a:pt x="13715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9" name="Freeform 448"/>
          <p:cNvSpPr/>
          <p:nvPr/>
        </p:nvSpPr>
        <p:spPr>
          <a:xfrm rot="18900000" flipV="1">
            <a:off x="8989243" y="-77819"/>
            <a:ext cx="13715" cy="432040"/>
          </a:xfrm>
          <a:custGeom>
            <a:avLst/>
            <a:gdLst/>
            <a:ahLst/>
            <a:cxnLst/>
            <a:rect l="l" t="t" r="r" b="b"/>
            <a:pathLst>
              <a:path w="13715" h="432040">
                <a:moveTo>
                  <a:pt x="0" y="432040"/>
                </a:moveTo>
                <a:lnTo>
                  <a:pt x="13715" y="418325"/>
                </a:lnTo>
                <a:lnTo>
                  <a:pt x="13715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0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1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2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3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4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5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6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7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8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9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0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1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2" name="Teardrop 3"/>
          <p:cNvSpPr/>
          <p:nvPr/>
        </p:nvSpPr>
        <p:spPr>
          <a:xfrm rot="5400000" flipH="1" flipV="1">
            <a:off x="8812306" y="329061"/>
            <a:ext cx="489780" cy="173608"/>
          </a:xfrm>
          <a:custGeom>
            <a:avLst/>
            <a:gdLst/>
            <a:ahLst/>
            <a:cxnLst/>
            <a:rect l="l" t="t" r="r" b="b"/>
            <a:pathLst>
              <a:path w="489780" h="173608">
                <a:moveTo>
                  <a:pt x="489780" y="159854"/>
                </a:moveTo>
                <a:lnTo>
                  <a:pt x="485976" y="173608"/>
                </a:lnTo>
                <a:lnTo>
                  <a:pt x="475131" y="173608"/>
                </a:lnTo>
                <a:cubicBezTo>
                  <a:pt x="477585" y="169211"/>
                  <a:pt x="477971" y="164422"/>
                  <a:pt x="477971" y="159544"/>
                </a:cubicBezTo>
                <a:cubicBezTo>
                  <a:pt x="477971" y="135634"/>
                  <a:pt x="468705" y="113887"/>
                  <a:pt x="453384" y="97876"/>
                </a:cubicBezTo>
                <a:lnTo>
                  <a:pt x="377652" y="173608"/>
                </a:lnTo>
                <a:lnTo>
                  <a:pt x="377561" y="173608"/>
                </a:lnTo>
                <a:lnTo>
                  <a:pt x="453339" y="97830"/>
                </a:lnTo>
                <a:cubicBezTo>
                  <a:pt x="437327" y="82509"/>
                  <a:pt x="415581" y="73244"/>
                  <a:pt x="391670" y="73244"/>
                </a:cubicBezTo>
                <a:cubicBezTo>
                  <a:pt x="341651" y="73244"/>
                  <a:pt x="301103" y="113792"/>
                  <a:pt x="301103" y="163811"/>
                </a:cubicBezTo>
                <a:lnTo>
                  <a:pt x="299829" y="173608"/>
                </a:lnTo>
                <a:lnTo>
                  <a:pt x="288634" y="173608"/>
                </a:lnTo>
                <a:cubicBezTo>
                  <a:pt x="289602" y="170367"/>
                  <a:pt x="289617" y="166907"/>
                  <a:pt x="289547" y="163248"/>
                </a:cubicBezTo>
                <a:cubicBezTo>
                  <a:pt x="289547" y="130228"/>
                  <a:pt x="305265" y="100880"/>
                  <a:pt x="329868" y="82592"/>
                </a:cubicBezTo>
                <a:cubicBezTo>
                  <a:pt x="326825" y="66091"/>
                  <a:pt x="318670" y="50477"/>
                  <a:pt x="305914" y="37722"/>
                </a:cubicBezTo>
                <a:cubicBezTo>
                  <a:pt x="289007" y="20815"/>
                  <a:pt x="267078" y="11989"/>
                  <a:pt x="244922" y="11501"/>
                </a:cubicBezTo>
                <a:lnTo>
                  <a:pt x="244922" y="96667"/>
                </a:lnTo>
                <a:lnTo>
                  <a:pt x="244858" y="96667"/>
                </a:lnTo>
                <a:lnTo>
                  <a:pt x="244858" y="11501"/>
                </a:lnTo>
                <a:cubicBezTo>
                  <a:pt x="222703" y="11990"/>
                  <a:pt x="200773" y="20815"/>
                  <a:pt x="183866" y="37722"/>
                </a:cubicBezTo>
                <a:cubicBezTo>
                  <a:pt x="171105" y="50483"/>
                  <a:pt x="162948" y="66105"/>
                  <a:pt x="159939" y="82613"/>
                </a:cubicBezTo>
                <a:cubicBezTo>
                  <a:pt x="184526" y="100902"/>
                  <a:pt x="200233" y="130241"/>
                  <a:pt x="200233" y="163248"/>
                </a:cubicBezTo>
                <a:lnTo>
                  <a:pt x="201368" y="173608"/>
                </a:lnTo>
                <a:lnTo>
                  <a:pt x="189949" y="173608"/>
                </a:lnTo>
                <a:cubicBezTo>
                  <a:pt x="188710" y="170302"/>
                  <a:pt x="188616" y="166986"/>
                  <a:pt x="188677" y="163811"/>
                </a:cubicBezTo>
                <a:cubicBezTo>
                  <a:pt x="188677" y="113792"/>
                  <a:pt x="148129" y="73244"/>
                  <a:pt x="98110" y="73244"/>
                </a:cubicBezTo>
                <a:cubicBezTo>
                  <a:pt x="74200" y="73244"/>
                  <a:pt x="52453" y="82510"/>
                  <a:pt x="36441" y="97831"/>
                </a:cubicBezTo>
                <a:lnTo>
                  <a:pt x="112218" y="173608"/>
                </a:lnTo>
                <a:lnTo>
                  <a:pt x="112128" y="173608"/>
                </a:lnTo>
                <a:lnTo>
                  <a:pt x="36396" y="97876"/>
                </a:lnTo>
                <a:cubicBezTo>
                  <a:pt x="21075" y="113887"/>
                  <a:pt x="11809" y="135634"/>
                  <a:pt x="11809" y="159544"/>
                </a:cubicBezTo>
                <a:lnTo>
                  <a:pt x="14648" y="173608"/>
                </a:lnTo>
                <a:lnTo>
                  <a:pt x="3810" y="173608"/>
                </a:lnTo>
                <a:cubicBezTo>
                  <a:pt x="332" y="169383"/>
                  <a:pt x="0" y="164657"/>
                  <a:pt x="0" y="159854"/>
                </a:cubicBezTo>
                <a:cubicBezTo>
                  <a:pt x="0" y="132604"/>
                  <a:pt x="10705" y="107854"/>
                  <a:pt x="28286" y="89721"/>
                </a:cubicBezTo>
                <a:lnTo>
                  <a:pt x="28286" y="89721"/>
                </a:lnTo>
                <a:cubicBezTo>
                  <a:pt x="46420" y="72140"/>
                  <a:pt x="71170" y="61435"/>
                  <a:pt x="98420" y="61435"/>
                </a:cubicBezTo>
                <a:cubicBezTo>
                  <a:pt x="117023" y="61435"/>
                  <a:pt x="134461" y="66424"/>
                  <a:pt x="149250" y="75515"/>
                </a:cubicBezTo>
                <a:cubicBezTo>
                  <a:pt x="153323" y="58635"/>
                  <a:pt x="162130" y="42758"/>
                  <a:pt x="175297" y="29591"/>
                </a:cubicBezTo>
                <a:cubicBezTo>
                  <a:pt x="194566" y="10322"/>
                  <a:pt x="219636" y="391"/>
                  <a:pt x="244890" y="0"/>
                </a:cubicBezTo>
                <a:lnTo>
                  <a:pt x="244890" y="0"/>
                </a:lnTo>
                <a:cubicBezTo>
                  <a:pt x="270144" y="391"/>
                  <a:pt x="295215" y="10322"/>
                  <a:pt x="314484" y="29591"/>
                </a:cubicBezTo>
                <a:cubicBezTo>
                  <a:pt x="327644" y="42751"/>
                  <a:pt x="336448" y="58618"/>
                  <a:pt x="340604" y="75474"/>
                </a:cubicBezTo>
                <a:cubicBezTo>
                  <a:pt x="355376" y="66408"/>
                  <a:pt x="372787" y="61434"/>
                  <a:pt x="391360" y="61434"/>
                </a:cubicBezTo>
                <a:cubicBezTo>
                  <a:pt x="418610" y="61434"/>
                  <a:pt x="443360" y="72140"/>
                  <a:pt x="461494" y="89721"/>
                </a:cubicBezTo>
                <a:cubicBezTo>
                  <a:pt x="479075" y="107854"/>
                  <a:pt x="489780" y="132604"/>
                  <a:pt x="489780" y="159854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3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4" name="Oval 463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5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6" name="Oval 465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7" name="Oval 466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8" name="Oval 467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9" name="Oval 468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0" name="Oval 469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1" name="Oval 470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2" name="Oval 471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3" name="Oval 472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4" name="Oval 473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5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6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7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8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9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0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1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2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3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4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5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6" name="Oval 485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7" name="Oval 486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8" name="Oval 487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9" name="Oval 488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0" name="Oval 489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1" name="Oval 490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2" name="Oval 491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3" name="Oval 492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4" name="Oval 493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5" name="Oval 494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6" name="Oval 495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7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8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9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0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1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2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3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4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5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6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7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8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9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0" name="Oval 883"/>
          <p:cNvSpPr/>
          <p:nvPr/>
        </p:nvSpPr>
        <p:spPr>
          <a:xfrm>
            <a:off x="2031413" y="-10245"/>
            <a:ext cx="6910072" cy="84875"/>
          </a:xfrm>
          <a:custGeom>
            <a:avLst/>
            <a:gdLst/>
            <a:ahLst/>
            <a:cxnLst/>
            <a:rect l="l" t="t" r="r" b="b"/>
            <a:pathLst>
              <a:path w="6910072" h="84875"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1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2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3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4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5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6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7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8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9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0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1" name="Teardrop 3"/>
          <p:cNvSpPr/>
          <p:nvPr/>
        </p:nvSpPr>
        <p:spPr>
          <a:xfrm rot="5400000" flipH="1" flipV="1">
            <a:off x="8812306" y="1174559"/>
            <a:ext cx="489780" cy="173608"/>
          </a:xfrm>
          <a:custGeom>
            <a:avLst/>
            <a:gdLst/>
            <a:ahLst/>
            <a:cxnLst/>
            <a:rect l="l" t="t" r="r" b="b"/>
            <a:pathLst>
              <a:path w="489780" h="173608">
                <a:moveTo>
                  <a:pt x="489780" y="159854"/>
                </a:moveTo>
                <a:lnTo>
                  <a:pt x="485976" y="173608"/>
                </a:lnTo>
                <a:lnTo>
                  <a:pt x="475131" y="173608"/>
                </a:lnTo>
                <a:cubicBezTo>
                  <a:pt x="477585" y="169211"/>
                  <a:pt x="477971" y="164422"/>
                  <a:pt x="477971" y="159544"/>
                </a:cubicBezTo>
                <a:cubicBezTo>
                  <a:pt x="477971" y="135634"/>
                  <a:pt x="468705" y="113887"/>
                  <a:pt x="453384" y="97876"/>
                </a:cubicBezTo>
                <a:lnTo>
                  <a:pt x="377652" y="173608"/>
                </a:lnTo>
                <a:lnTo>
                  <a:pt x="377561" y="173608"/>
                </a:lnTo>
                <a:lnTo>
                  <a:pt x="453339" y="97830"/>
                </a:lnTo>
                <a:cubicBezTo>
                  <a:pt x="437327" y="82509"/>
                  <a:pt x="415581" y="73244"/>
                  <a:pt x="391670" y="73244"/>
                </a:cubicBezTo>
                <a:cubicBezTo>
                  <a:pt x="341651" y="73244"/>
                  <a:pt x="301103" y="113792"/>
                  <a:pt x="301103" y="163811"/>
                </a:cubicBezTo>
                <a:lnTo>
                  <a:pt x="299830" y="173608"/>
                </a:lnTo>
                <a:lnTo>
                  <a:pt x="288634" y="173608"/>
                </a:lnTo>
                <a:cubicBezTo>
                  <a:pt x="289602" y="170367"/>
                  <a:pt x="289617" y="166907"/>
                  <a:pt x="289547" y="163248"/>
                </a:cubicBezTo>
                <a:cubicBezTo>
                  <a:pt x="289547" y="130228"/>
                  <a:pt x="305265" y="100880"/>
                  <a:pt x="329868" y="82592"/>
                </a:cubicBezTo>
                <a:cubicBezTo>
                  <a:pt x="326825" y="66091"/>
                  <a:pt x="318670" y="50477"/>
                  <a:pt x="305914" y="37722"/>
                </a:cubicBezTo>
                <a:cubicBezTo>
                  <a:pt x="289007" y="20815"/>
                  <a:pt x="267078" y="11989"/>
                  <a:pt x="244922" y="11501"/>
                </a:cubicBezTo>
                <a:lnTo>
                  <a:pt x="244922" y="96667"/>
                </a:lnTo>
                <a:lnTo>
                  <a:pt x="244858" y="96667"/>
                </a:lnTo>
                <a:lnTo>
                  <a:pt x="244858" y="11501"/>
                </a:lnTo>
                <a:cubicBezTo>
                  <a:pt x="222703" y="11990"/>
                  <a:pt x="200773" y="20815"/>
                  <a:pt x="183866" y="37722"/>
                </a:cubicBezTo>
                <a:cubicBezTo>
                  <a:pt x="171105" y="50483"/>
                  <a:pt x="162948" y="66105"/>
                  <a:pt x="159939" y="82613"/>
                </a:cubicBezTo>
                <a:cubicBezTo>
                  <a:pt x="184526" y="100902"/>
                  <a:pt x="200233" y="130241"/>
                  <a:pt x="200233" y="163248"/>
                </a:cubicBezTo>
                <a:lnTo>
                  <a:pt x="201368" y="173608"/>
                </a:lnTo>
                <a:lnTo>
                  <a:pt x="189949" y="173608"/>
                </a:lnTo>
                <a:cubicBezTo>
                  <a:pt x="188710" y="170302"/>
                  <a:pt x="188616" y="166986"/>
                  <a:pt x="188677" y="163811"/>
                </a:cubicBezTo>
                <a:cubicBezTo>
                  <a:pt x="188677" y="113792"/>
                  <a:pt x="148129" y="73244"/>
                  <a:pt x="98110" y="73244"/>
                </a:cubicBezTo>
                <a:cubicBezTo>
                  <a:pt x="74200" y="73244"/>
                  <a:pt x="52453" y="82510"/>
                  <a:pt x="36441" y="97831"/>
                </a:cubicBezTo>
                <a:lnTo>
                  <a:pt x="112218" y="173608"/>
                </a:lnTo>
                <a:lnTo>
                  <a:pt x="112128" y="173608"/>
                </a:lnTo>
                <a:lnTo>
                  <a:pt x="36396" y="97876"/>
                </a:lnTo>
                <a:cubicBezTo>
                  <a:pt x="21075" y="113887"/>
                  <a:pt x="11809" y="135634"/>
                  <a:pt x="11809" y="159544"/>
                </a:cubicBezTo>
                <a:lnTo>
                  <a:pt x="14649" y="173608"/>
                </a:lnTo>
                <a:lnTo>
                  <a:pt x="3810" y="173608"/>
                </a:lnTo>
                <a:cubicBezTo>
                  <a:pt x="332" y="169383"/>
                  <a:pt x="0" y="164657"/>
                  <a:pt x="0" y="159854"/>
                </a:cubicBezTo>
                <a:cubicBezTo>
                  <a:pt x="0" y="132604"/>
                  <a:pt x="10705" y="107854"/>
                  <a:pt x="28286" y="89721"/>
                </a:cubicBezTo>
                <a:lnTo>
                  <a:pt x="28286" y="89721"/>
                </a:lnTo>
                <a:cubicBezTo>
                  <a:pt x="46420" y="72140"/>
                  <a:pt x="71170" y="61435"/>
                  <a:pt x="98420" y="61435"/>
                </a:cubicBezTo>
                <a:cubicBezTo>
                  <a:pt x="117023" y="61435"/>
                  <a:pt x="134461" y="66424"/>
                  <a:pt x="149250" y="75515"/>
                </a:cubicBezTo>
                <a:cubicBezTo>
                  <a:pt x="153323" y="58635"/>
                  <a:pt x="162130" y="42758"/>
                  <a:pt x="175297" y="29591"/>
                </a:cubicBezTo>
                <a:cubicBezTo>
                  <a:pt x="194566" y="10322"/>
                  <a:pt x="219636" y="391"/>
                  <a:pt x="244890" y="0"/>
                </a:cubicBezTo>
                <a:lnTo>
                  <a:pt x="244890" y="0"/>
                </a:lnTo>
                <a:cubicBezTo>
                  <a:pt x="270144" y="391"/>
                  <a:pt x="295215" y="10322"/>
                  <a:pt x="314484" y="29591"/>
                </a:cubicBezTo>
                <a:cubicBezTo>
                  <a:pt x="327644" y="42751"/>
                  <a:pt x="336448" y="58618"/>
                  <a:pt x="340604" y="75474"/>
                </a:cubicBezTo>
                <a:cubicBezTo>
                  <a:pt x="355376" y="66408"/>
                  <a:pt x="372787" y="61434"/>
                  <a:pt x="391360" y="61434"/>
                </a:cubicBezTo>
                <a:cubicBezTo>
                  <a:pt x="418610" y="61434"/>
                  <a:pt x="443360" y="72140"/>
                  <a:pt x="461494" y="89721"/>
                </a:cubicBezTo>
                <a:cubicBezTo>
                  <a:pt x="479075" y="107854"/>
                  <a:pt x="489780" y="132604"/>
                  <a:pt x="489780" y="159854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2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3" name="Oval 522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4" name="Oval 523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5" name="Oval 524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6" name="Oval 525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7" name="Oval 526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8" name="Oval 527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9" name="Oval 528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0" name="Oval 529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1" name="Oval 530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2" name="Oval 531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3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4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5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6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7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8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9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0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1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2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3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4" name="Oval 543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5" name="Oval 544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6" name="Oval 545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7" name="Oval 546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8" name="Oval 547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9" name="Oval 548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0" name="Oval 549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1" name="Oval 550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2" name="Oval 551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3" name="Oval 552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4" name="Oval 553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5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6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7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8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9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0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1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2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3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4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5" name="Teardrop 3"/>
          <p:cNvSpPr/>
          <p:nvPr/>
        </p:nvSpPr>
        <p:spPr>
          <a:xfrm rot="5400000" flipH="1" flipV="1">
            <a:off x="8812306" y="2017156"/>
            <a:ext cx="489780" cy="173608"/>
          </a:xfrm>
          <a:custGeom>
            <a:avLst/>
            <a:gdLst/>
            <a:ahLst/>
            <a:cxnLst/>
            <a:rect l="l" t="t" r="r" b="b"/>
            <a:pathLst>
              <a:path w="489780" h="173608">
                <a:moveTo>
                  <a:pt x="489780" y="159854"/>
                </a:moveTo>
                <a:lnTo>
                  <a:pt x="485976" y="173608"/>
                </a:lnTo>
                <a:lnTo>
                  <a:pt x="475131" y="173608"/>
                </a:lnTo>
                <a:cubicBezTo>
                  <a:pt x="477585" y="169211"/>
                  <a:pt x="477971" y="164422"/>
                  <a:pt x="477971" y="159544"/>
                </a:cubicBezTo>
                <a:cubicBezTo>
                  <a:pt x="477971" y="135634"/>
                  <a:pt x="468705" y="113887"/>
                  <a:pt x="453384" y="97876"/>
                </a:cubicBezTo>
                <a:lnTo>
                  <a:pt x="377652" y="173608"/>
                </a:lnTo>
                <a:lnTo>
                  <a:pt x="377561" y="173608"/>
                </a:lnTo>
                <a:lnTo>
                  <a:pt x="453339" y="97830"/>
                </a:lnTo>
                <a:cubicBezTo>
                  <a:pt x="437327" y="82509"/>
                  <a:pt x="415581" y="73244"/>
                  <a:pt x="391670" y="73244"/>
                </a:cubicBezTo>
                <a:cubicBezTo>
                  <a:pt x="341651" y="73244"/>
                  <a:pt x="301103" y="113792"/>
                  <a:pt x="301103" y="163811"/>
                </a:cubicBezTo>
                <a:lnTo>
                  <a:pt x="299829" y="173608"/>
                </a:lnTo>
                <a:lnTo>
                  <a:pt x="288634" y="173608"/>
                </a:lnTo>
                <a:cubicBezTo>
                  <a:pt x="289602" y="170367"/>
                  <a:pt x="289617" y="166907"/>
                  <a:pt x="289547" y="163248"/>
                </a:cubicBezTo>
                <a:cubicBezTo>
                  <a:pt x="289547" y="130228"/>
                  <a:pt x="305265" y="100880"/>
                  <a:pt x="329868" y="82592"/>
                </a:cubicBezTo>
                <a:cubicBezTo>
                  <a:pt x="326825" y="66091"/>
                  <a:pt x="318670" y="50477"/>
                  <a:pt x="305914" y="37722"/>
                </a:cubicBezTo>
                <a:cubicBezTo>
                  <a:pt x="289007" y="20815"/>
                  <a:pt x="267078" y="11989"/>
                  <a:pt x="244922" y="11501"/>
                </a:cubicBezTo>
                <a:lnTo>
                  <a:pt x="244922" y="96667"/>
                </a:lnTo>
                <a:lnTo>
                  <a:pt x="244858" y="96667"/>
                </a:lnTo>
                <a:lnTo>
                  <a:pt x="244858" y="11501"/>
                </a:lnTo>
                <a:cubicBezTo>
                  <a:pt x="222703" y="11990"/>
                  <a:pt x="200774" y="20815"/>
                  <a:pt x="183866" y="37722"/>
                </a:cubicBezTo>
                <a:cubicBezTo>
                  <a:pt x="171105" y="50483"/>
                  <a:pt x="162948" y="66105"/>
                  <a:pt x="159939" y="82613"/>
                </a:cubicBezTo>
                <a:cubicBezTo>
                  <a:pt x="184526" y="100902"/>
                  <a:pt x="200233" y="130241"/>
                  <a:pt x="200233" y="163248"/>
                </a:cubicBezTo>
                <a:lnTo>
                  <a:pt x="201368" y="173608"/>
                </a:lnTo>
                <a:lnTo>
                  <a:pt x="189949" y="173608"/>
                </a:lnTo>
                <a:cubicBezTo>
                  <a:pt x="188710" y="170302"/>
                  <a:pt x="188616" y="166986"/>
                  <a:pt x="188677" y="163811"/>
                </a:cubicBezTo>
                <a:cubicBezTo>
                  <a:pt x="188677" y="113792"/>
                  <a:pt x="148129" y="73244"/>
                  <a:pt x="98110" y="73244"/>
                </a:cubicBezTo>
                <a:cubicBezTo>
                  <a:pt x="74200" y="73244"/>
                  <a:pt x="52453" y="82510"/>
                  <a:pt x="36441" y="97831"/>
                </a:cubicBezTo>
                <a:lnTo>
                  <a:pt x="112218" y="173608"/>
                </a:lnTo>
                <a:lnTo>
                  <a:pt x="112128" y="173608"/>
                </a:lnTo>
                <a:lnTo>
                  <a:pt x="36396" y="97876"/>
                </a:lnTo>
                <a:cubicBezTo>
                  <a:pt x="21075" y="113887"/>
                  <a:pt x="11809" y="135634"/>
                  <a:pt x="11809" y="159544"/>
                </a:cubicBezTo>
                <a:lnTo>
                  <a:pt x="14649" y="173608"/>
                </a:lnTo>
                <a:lnTo>
                  <a:pt x="3810" y="173608"/>
                </a:lnTo>
                <a:cubicBezTo>
                  <a:pt x="333" y="169383"/>
                  <a:pt x="0" y="164657"/>
                  <a:pt x="0" y="159854"/>
                </a:cubicBezTo>
                <a:cubicBezTo>
                  <a:pt x="0" y="132604"/>
                  <a:pt x="10706" y="107854"/>
                  <a:pt x="28286" y="89721"/>
                </a:cubicBezTo>
                <a:lnTo>
                  <a:pt x="28286" y="89721"/>
                </a:lnTo>
                <a:cubicBezTo>
                  <a:pt x="46420" y="72140"/>
                  <a:pt x="71170" y="61435"/>
                  <a:pt x="98420" y="61435"/>
                </a:cubicBezTo>
                <a:cubicBezTo>
                  <a:pt x="117023" y="61435"/>
                  <a:pt x="134461" y="66424"/>
                  <a:pt x="149250" y="75515"/>
                </a:cubicBezTo>
                <a:cubicBezTo>
                  <a:pt x="153323" y="58635"/>
                  <a:pt x="162130" y="42758"/>
                  <a:pt x="175297" y="29591"/>
                </a:cubicBezTo>
                <a:cubicBezTo>
                  <a:pt x="194566" y="10322"/>
                  <a:pt x="219636" y="391"/>
                  <a:pt x="244890" y="0"/>
                </a:cubicBezTo>
                <a:lnTo>
                  <a:pt x="244890" y="0"/>
                </a:lnTo>
                <a:cubicBezTo>
                  <a:pt x="270144" y="391"/>
                  <a:pt x="295215" y="10322"/>
                  <a:pt x="314484" y="29591"/>
                </a:cubicBezTo>
                <a:cubicBezTo>
                  <a:pt x="327644" y="42751"/>
                  <a:pt x="336448" y="58618"/>
                  <a:pt x="340604" y="75474"/>
                </a:cubicBezTo>
                <a:cubicBezTo>
                  <a:pt x="355376" y="66408"/>
                  <a:pt x="372787" y="61434"/>
                  <a:pt x="391360" y="61434"/>
                </a:cubicBezTo>
                <a:cubicBezTo>
                  <a:pt x="418610" y="61434"/>
                  <a:pt x="443360" y="72140"/>
                  <a:pt x="461494" y="89721"/>
                </a:cubicBezTo>
                <a:cubicBezTo>
                  <a:pt x="479075" y="107854"/>
                  <a:pt x="489780" y="132604"/>
                  <a:pt x="489780" y="159854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6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7" name="Oval 566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8" name="Oval 567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9" name="Oval 568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0" name="Oval 569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1" name="Oval 570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2" name="Oval 571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3" name="Oval 572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4" name="Oval 573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5" name="Oval 574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6" name="Oval 575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7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8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9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0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1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2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3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4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5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6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7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8" name="Oval 587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9" name="Oval 588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0" name="Oval 589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1" name="Oval 590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2" name="Oval 591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3" name="Oval 592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4" name="Oval 593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5" name="Oval 594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6" name="Oval 595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7" name="Oval 596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8" name="Oval 597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9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0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1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2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3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4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5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6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7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8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9" name="Teardrop 3"/>
          <p:cNvSpPr/>
          <p:nvPr/>
        </p:nvSpPr>
        <p:spPr>
          <a:xfrm rot="5400000" flipH="1" flipV="1">
            <a:off x="8812306" y="2865829"/>
            <a:ext cx="489780" cy="173608"/>
          </a:xfrm>
          <a:custGeom>
            <a:avLst/>
            <a:gdLst/>
            <a:ahLst/>
            <a:cxnLst/>
            <a:rect l="l" t="t" r="r" b="b"/>
            <a:pathLst>
              <a:path w="489780" h="173608">
                <a:moveTo>
                  <a:pt x="489780" y="159854"/>
                </a:moveTo>
                <a:lnTo>
                  <a:pt x="485976" y="173608"/>
                </a:lnTo>
                <a:lnTo>
                  <a:pt x="475132" y="173608"/>
                </a:lnTo>
                <a:cubicBezTo>
                  <a:pt x="477585" y="169211"/>
                  <a:pt x="477971" y="164422"/>
                  <a:pt x="477971" y="159544"/>
                </a:cubicBezTo>
                <a:cubicBezTo>
                  <a:pt x="477971" y="135634"/>
                  <a:pt x="468705" y="113887"/>
                  <a:pt x="453384" y="97876"/>
                </a:cubicBezTo>
                <a:lnTo>
                  <a:pt x="377652" y="173608"/>
                </a:lnTo>
                <a:lnTo>
                  <a:pt x="377561" y="173608"/>
                </a:lnTo>
                <a:lnTo>
                  <a:pt x="453339" y="97830"/>
                </a:lnTo>
                <a:cubicBezTo>
                  <a:pt x="437327" y="82509"/>
                  <a:pt x="415581" y="73244"/>
                  <a:pt x="391670" y="73244"/>
                </a:cubicBezTo>
                <a:cubicBezTo>
                  <a:pt x="341652" y="73244"/>
                  <a:pt x="301103" y="113792"/>
                  <a:pt x="301103" y="163811"/>
                </a:cubicBezTo>
                <a:lnTo>
                  <a:pt x="299830" y="173608"/>
                </a:lnTo>
                <a:lnTo>
                  <a:pt x="288634" y="173608"/>
                </a:lnTo>
                <a:cubicBezTo>
                  <a:pt x="289602" y="170367"/>
                  <a:pt x="289617" y="166907"/>
                  <a:pt x="289547" y="163248"/>
                </a:cubicBezTo>
                <a:cubicBezTo>
                  <a:pt x="289547" y="130228"/>
                  <a:pt x="305265" y="100880"/>
                  <a:pt x="329868" y="82592"/>
                </a:cubicBezTo>
                <a:cubicBezTo>
                  <a:pt x="326825" y="66091"/>
                  <a:pt x="318670" y="50477"/>
                  <a:pt x="305914" y="37722"/>
                </a:cubicBezTo>
                <a:cubicBezTo>
                  <a:pt x="289007" y="20815"/>
                  <a:pt x="267078" y="11989"/>
                  <a:pt x="244922" y="11501"/>
                </a:cubicBezTo>
                <a:lnTo>
                  <a:pt x="244922" y="96667"/>
                </a:lnTo>
                <a:lnTo>
                  <a:pt x="244858" y="96667"/>
                </a:lnTo>
                <a:lnTo>
                  <a:pt x="244858" y="11501"/>
                </a:lnTo>
                <a:cubicBezTo>
                  <a:pt x="222703" y="11990"/>
                  <a:pt x="200774" y="20815"/>
                  <a:pt x="183866" y="37722"/>
                </a:cubicBezTo>
                <a:cubicBezTo>
                  <a:pt x="171105" y="50483"/>
                  <a:pt x="162948" y="66105"/>
                  <a:pt x="159939" y="82613"/>
                </a:cubicBezTo>
                <a:cubicBezTo>
                  <a:pt x="184526" y="100902"/>
                  <a:pt x="200233" y="130241"/>
                  <a:pt x="200233" y="163248"/>
                </a:cubicBezTo>
                <a:lnTo>
                  <a:pt x="201368" y="173608"/>
                </a:lnTo>
                <a:lnTo>
                  <a:pt x="189949" y="173608"/>
                </a:lnTo>
                <a:cubicBezTo>
                  <a:pt x="188710" y="170302"/>
                  <a:pt x="188616" y="166986"/>
                  <a:pt x="188677" y="163811"/>
                </a:cubicBezTo>
                <a:cubicBezTo>
                  <a:pt x="188677" y="113792"/>
                  <a:pt x="148129" y="73244"/>
                  <a:pt x="98110" y="73244"/>
                </a:cubicBezTo>
                <a:cubicBezTo>
                  <a:pt x="74200" y="73244"/>
                  <a:pt x="52453" y="82510"/>
                  <a:pt x="36441" y="97831"/>
                </a:cubicBezTo>
                <a:lnTo>
                  <a:pt x="112218" y="173608"/>
                </a:lnTo>
                <a:lnTo>
                  <a:pt x="112128" y="173608"/>
                </a:lnTo>
                <a:lnTo>
                  <a:pt x="36396" y="97876"/>
                </a:lnTo>
                <a:cubicBezTo>
                  <a:pt x="21075" y="113887"/>
                  <a:pt x="11809" y="135634"/>
                  <a:pt x="11809" y="159544"/>
                </a:cubicBezTo>
                <a:lnTo>
                  <a:pt x="14649" y="173608"/>
                </a:lnTo>
                <a:lnTo>
                  <a:pt x="3810" y="173608"/>
                </a:lnTo>
                <a:cubicBezTo>
                  <a:pt x="333" y="169383"/>
                  <a:pt x="0" y="164657"/>
                  <a:pt x="0" y="159854"/>
                </a:cubicBezTo>
                <a:cubicBezTo>
                  <a:pt x="0" y="132604"/>
                  <a:pt x="10706" y="107854"/>
                  <a:pt x="28286" y="89721"/>
                </a:cubicBezTo>
                <a:lnTo>
                  <a:pt x="28286" y="89721"/>
                </a:lnTo>
                <a:cubicBezTo>
                  <a:pt x="46420" y="72140"/>
                  <a:pt x="71170" y="61435"/>
                  <a:pt x="98420" y="61435"/>
                </a:cubicBezTo>
                <a:cubicBezTo>
                  <a:pt x="117023" y="61435"/>
                  <a:pt x="134461" y="66424"/>
                  <a:pt x="149250" y="75515"/>
                </a:cubicBezTo>
                <a:cubicBezTo>
                  <a:pt x="153323" y="58635"/>
                  <a:pt x="162130" y="42758"/>
                  <a:pt x="175297" y="29591"/>
                </a:cubicBezTo>
                <a:cubicBezTo>
                  <a:pt x="194566" y="10322"/>
                  <a:pt x="219636" y="391"/>
                  <a:pt x="244890" y="0"/>
                </a:cubicBezTo>
                <a:lnTo>
                  <a:pt x="244890" y="0"/>
                </a:lnTo>
                <a:cubicBezTo>
                  <a:pt x="270144" y="391"/>
                  <a:pt x="295215" y="10322"/>
                  <a:pt x="314484" y="29591"/>
                </a:cubicBezTo>
                <a:cubicBezTo>
                  <a:pt x="327644" y="42751"/>
                  <a:pt x="336448" y="58618"/>
                  <a:pt x="340604" y="75474"/>
                </a:cubicBezTo>
                <a:cubicBezTo>
                  <a:pt x="355376" y="66408"/>
                  <a:pt x="372787" y="61434"/>
                  <a:pt x="391360" y="61434"/>
                </a:cubicBezTo>
                <a:cubicBezTo>
                  <a:pt x="418611" y="61434"/>
                  <a:pt x="443360" y="72140"/>
                  <a:pt x="461494" y="89721"/>
                </a:cubicBezTo>
                <a:cubicBezTo>
                  <a:pt x="479075" y="107854"/>
                  <a:pt x="489780" y="132604"/>
                  <a:pt x="489780" y="159854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0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1" name="Oval 610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2" name="Oval 611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3" name="Oval 612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4" name="Oval 613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5" name="Oval 614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6" name="Oval 615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7" name="Oval 616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8" name="Oval 617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9" name="Oval 618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0" name="Oval 619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1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2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3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4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5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6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7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8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9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0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1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2" name="Oval 631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3" name="Oval 632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4" name="Oval 633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5" name="Oval 634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6" name="Oval 635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7" name="Oval 636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8" name="Oval 637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9" name="Oval 638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0" name="Oval 639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1" name="Oval 640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2" name="Oval 641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3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4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5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6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7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8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9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0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1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2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3" name="Teardrop 3"/>
          <p:cNvSpPr/>
          <p:nvPr/>
        </p:nvSpPr>
        <p:spPr>
          <a:xfrm rot="5400000" flipH="1" flipV="1">
            <a:off x="8812306" y="3710008"/>
            <a:ext cx="489780" cy="173608"/>
          </a:xfrm>
          <a:custGeom>
            <a:avLst/>
            <a:gdLst/>
            <a:ahLst/>
            <a:cxnLst/>
            <a:rect l="l" t="t" r="r" b="b"/>
            <a:pathLst>
              <a:path w="489780" h="173608">
                <a:moveTo>
                  <a:pt x="489780" y="159854"/>
                </a:moveTo>
                <a:lnTo>
                  <a:pt x="485976" y="173608"/>
                </a:lnTo>
                <a:lnTo>
                  <a:pt x="475132" y="173608"/>
                </a:lnTo>
                <a:cubicBezTo>
                  <a:pt x="477585" y="169211"/>
                  <a:pt x="477971" y="164422"/>
                  <a:pt x="477971" y="159544"/>
                </a:cubicBezTo>
                <a:cubicBezTo>
                  <a:pt x="477971" y="135634"/>
                  <a:pt x="468705" y="113887"/>
                  <a:pt x="453384" y="97876"/>
                </a:cubicBezTo>
                <a:lnTo>
                  <a:pt x="377652" y="173608"/>
                </a:lnTo>
                <a:lnTo>
                  <a:pt x="377561" y="173608"/>
                </a:lnTo>
                <a:lnTo>
                  <a:pt x="453339" y="97830"/>
                </a:lnTo>
                <a:cubicBezTo>
                  <a:pt x="437327" y="82509"/>
                  <a:pt x="415581" y="73244"/>
                  <a:pt x="391670" y="73244"/>
                </a:cubicBezTo>
                <a:cubicBezTo>
                  <a:pt x="341652" y="73244"/>
                  <a:pt x="301103" y="113792"/>
                  <a:pt x="301103" y="163811"/>
                </a:cubicBezTo>
                <a:lnTo>
                  <a:pt x="299830" y="173608"/>
                </a:lnTo>
                <a:lnTo>
                  <a:pt x="288634" y="173608"/>
                </a:lnTo>
                <a:cubicBezTo>
                  <a:pt x="289602" y="170367"/>
                  <a:pt x="289617" y="166907"/>
                  <a:pt x="289547" y="163248"/>
                </a:cubicBezTo>
                <a:cubicBezTo>
                  <a:pt x="289547" y="130228"/>
                  <a:pt x="305265" y="100880"/>
                  <a:pt x="329868" y="82592"/>
                </a:cubicBezTo>
                <a:cubicBezTo>
                  <a:pt x="326825" y="66091"/>
                  <a:pt x="318670" y="50477"/>
                  <a:pt x="305914" y="37722"/>
                </a:cubicBezTo>
                <a:cubicBezTo>
                  <a:pt x="289007" y="20815"/>
                  <a:pt x="267078" y="11989"/>
                  <a:pt x="244922" y="11501"/>
                </a:cubicBezTo>
                <a:lnTo>
                  <a:pt x="244922" y="96667"/>
                </a:lnTo>
                <a:lnTo>
                  <a:pt x="244858" y="96667"/>
                </a:lnTo>
                <a:lnTo>
                  <a:pt x="244858" y="11501"/>
                </a:lnTo>
                <a:cubicBezTo>
                  <a:pt x="222703" y="11990"/>
                  <a:pt x="200774" y="20815"/>
                  <a:pt x="183866" y="37722"/>
                </a:cubicBezTo>
                <a:cubicBezTo>
                  <a:pt x="171105" y="50483"/>
                  <a:pt x="162948" y="66105"/>
                  <a:pt x="159939" y="82613"/>
                </a:cubicBezTo>
                <a:cubicBezTo>
                  <a:pt x="184526" y="100902"/>
                  <a:pt x="200233" y="130241"/>
                  <a:pt x="200233" y="163248"/>
                </a:cubicBezTo>
                <a:lnTo>
                  <a:pt x="201368" y="173608"/>
                </a:lnTo>
                <a:lnTo>
                  <a:pt x="189949" y="173608"/>
                </a:lnTo>
                <a:cubicBezTo>
                  <a:pt x="188710" y="170302"/>
                  <a:pt x="188616" y="166986"/>
                  <a:pt x="188677" y="163811"/>
                </a:cubicBezTo>
                <a:cubicBezTo>
                  <a:pt x="188677" y="113792"/>
                  <a:pt x="148129" y="73244"/>
                  <a:pt x="98110" y="73244"/>
                </a:cubicBezTo>
                <a:cubicBezTo>
                  <a:pt x="74200" y="73244"/>
                  <a:pt x="52453" y="82510"/>
                  <a:pt x="36441" y="97831"/>
                </a:cubicBezTo>
                <a:lnTo>
                  <a:pt x="112218" y="173608"/>
                </a:lnTo>
                <a:lnTo>
                  <a:pt x="112128" y="173608"/>
                </a:lnTo>
                <a:lnTo>
                  <a:pt x="36396" y="97876"/>
                </a:lnTo>
                <a:cubicBezTo>
                  <a:pt x="21075" y="113887"/>
                  <a:pt x="11809" y="135634"/>
                  <a:pt x="11809" y="159544"/>
                </a:cubicBezTo>
                <a:lnTo>
                  <a:pt x="14649" y="173608"/>
                </a:lnTo>
                <a:lnTo>
                  <a:pt x="3810" y="173608"/>
                </a:lnTo>
                <a:cubicBezTo>
                  <a:pt x="333" y="169383"/>
                  <a:pt x="0" y="164657"/>
                  <a:pt x="0" y="159854"/>
                </a:cubicBezTo>
                <a:cubicBezTo>
                  <a:pt x="0" y="132604"/>
                  <a:pt x="10706" y="107854"/>
                  <a:pt x="28286" y="89721"/>
                </a:cubicBezTo>
                <a:lnTo>
                  <a:pt x="28286" y="89721"/>
                </a:lnTo>
                <a:cubicBezTo>
                  <a:pt x="46420" y="72140"/>
                  <a:pt x="71170" y="61435"/>
                  <a:pt x="98420" y="61435"/>
                </a:cubicBezTo>
                <a:cubicBezTo>
                  <a:pt x="117023" y="61435"/>
                  <a:pt x="134461" y="66424"/>
                  <a:pt x="149250" y="75515"/>
                </a:cubicBezTo>
                <a:cubicBezTo>
                  <a:pt x="153323" y="58635"/>
                  <a:pt x="162130" y="42758"/>
                  <a:pt x="175297" y="29591"/>
                </a:cubicBezTo>
                <a:cubicBezTo>
                  <a:pt x="194566" y="10322"/>
                  <a:pt x="219636" y="391"/>
                  <a:pt x="244890" y="0"/>
                </a:cubicBezTo>
                <a:lnTo>
                  <a:pt x="244890" y="0"/>
                </a:lnTo>
                <a:cubicBezTo>
                  <a:pt x="270144" y="391"/>
                  <a:pt x="295215" y="10322"/>
                  <a:pt x="314484" y="29591"/>
                </a:cubicBezTo>
                <a:cubicBezTo>
                  <a:pt x="327644" y="42751"/>
                  <a:pt x="336448" y="58618"/>
                  <a:pt x="340604" y="75474"/>
                </a:cubicBezTo>
                <a:cubicBezTo>
                  <a:pt x="355376" y="66408"/>
                  <a:pt x="372787" y="61434"/>
                  <a:pt x="391360" y="61434"/>
                </a:cubicBezTo>
                <a:cubicBezTo>
                  <a:pt x="418611" y="61434"/>
                  <a:pt x="443360" y="72140"/>
                  <a:pt x="461494" y="89721"/>
                </a:cubicBezTo>
                <a:cubicBezTo>
                  <a:pt x="479075" y="107854"/>
                  <a:pt x="489780" y="132604"/>
                  <a:pt x="489780" y="159854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4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5" name="Oval 654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6" name="Oval 655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7" name="Oval 656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8" name="Oval 657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9" name="Oval 658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0" name="Oval 659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1" name="Oval 660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2" name="Oval 661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3" name="Oval 662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4" name="Oval 663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5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6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7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8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9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0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1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2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3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4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5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6" name="Oval 675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7" name="Oval 676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8" name="Oval 677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9" name="Oval 678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0" name="Oval 679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1" name="Oval 680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2" name="Oval 681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3" name="Oval 682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4" name="Oval 683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5" name="Oval 684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6" name="Oval 685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7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8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9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0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1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2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3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4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5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6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7" name="Teardrop 3"/>
          <p:cNvSpPr/>
          <p:nvPr/>
        </p:nvSpPr>
        <p:spPr>
          <a:xfrm rot="5400000" flipH="1" flipV="1">
            <a:off x="8991444" y="4419445"/>
            <a:ext cx="171406" cy="133705"/>
          </a:xfrm>
          <a:custGeom>
            <a:avLst/>
            <a:gdLst/>
            <a:ahLst/>
            <a:cxnLst/>
            <a:rect l="l" t="t" r="r" b="b"/>
            <a:pathLst>
              <a:path w="171406" h="133705">
                <a:moveTo>
                  <a:pt x="171406" y="123429"/>
                </a:moveTo>
                <a:lnTo>
                  <a:pt x="168564" y="133705"/>
                </a:lnTo>
                <a:lnTo>
                  <a:pt x="157460" y="133705"/>
                </a:lnTo>
                <a:cubicBezTo>
                  <a:pt x="159382" y="130353"/>
                  <a:pt x="159597" y="126761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62756" y="133705"/>
                </a:lnTo>
                <a:lnTo>
                  <a:pt x="62665" y="133705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8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9" name="Oval 1651"/>
          <p:cNvSpPr/>
          <p:nvPr/>
        </p:nvSpPr>
        <p:spPr>
          <a:xfrm>
            <a:off x="812619" y="4561319"/>
            <a:ext cx="7660836" cy="10682"/>
          </a:xfrm>
          <a:custGeom>
            <a:avLst/>
            <a:gdLst/>
            <a:ahLst/>
            <a:cxnLst/>
            <a:rect l="l" t="t" r="r" b="b"/>
            <a:pathLst>
              <a:path w="7660836" h="10682"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0" name="Oval 699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1" name="Oval 700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2" name="Oval 701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3" name="Oval 702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4" name="Oval 703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5" name="Oval 704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6" name="Oval 705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7" name="Oval 706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8" name="Oval 707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9" name="Oval 708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0" name="Oval 709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1" name="Oval 710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2" name="Oval 711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3" name="Oval 712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4" name="Oval 713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5" name="Oval 714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6" name="Oval 715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7" name="Oval 716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8" name="Oval 717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9" name="Oval 718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0" name="Oval 719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1" name="Oval 720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2" name="Oval 721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3" name="Oval 722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4" name="Oval 723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5" name="Oval 724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6" name="Oval 725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7" name="Oval 726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8" name="Oval 727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9" name="Oval 728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0" name="Oval 729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1" name="Oval 730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2" name="Oval 731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3" name="Oval 732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4" name="Oval 733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5" name="Oval 734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6" name="Oval 735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7" name="Oval 736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8" name="Oval 737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9" name="Oval 738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0" name="Oval 739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1" name="Oval 740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2" name="Oval 741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3" name="Oval 742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4" name="Oval 743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5" name="Oval 744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6" name="Oval 745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7" name="Oval 746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8" name="Oval 747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9" name="Oval 748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0" name="Oval 749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1" name="Oval 750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2" name="Oval 751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3" name="Oval 752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4" name="Oval 753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FDB9E02-A396-435D-832D-D4CD566EBAE1}" type="uaqdatetime1">
              <a:rPr lang="ar-SA" smtClean="0"/>
              <a:t>08/03/1442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7511CCAB-BB91-442C-8C71-F09E2B838991}" type="slidenum">
              <a:rPr lang="ar-SA" smtClean="0"/>
              <a:pPr/>
              <a:t>‹#›</a:t>
            </a:fld>
            <a:endParaRPr lang="ar-SA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496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5788-9B12-43DE-AACD-DD861B45A22C}" type="uaqdatetime1">
              <a:rPr lang="ar-SA" smtClean="0"/>
              <a:t>08/03/1442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 rtl="1">
              <a:defRPr sz="1400"/>
            </a:lvl1pPr>
          </a:lstStyle>
          <a:p>
            <a:fld id="{7511CCAB-BB91-442C-8C71-F09E2B838991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4094719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420256"/>
            <a:ext cx="9144000" cy="3795497"/>
            <a:chOff x="0" y="420256"/>
            <a:chExt cx="12188952" cy="3795497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379"/>
          <p:cNvSpPr/>
          <p:nvPr/>
        </p:nvSpPr>
        <p:spPr>
          <a:xfrm rot="18900000" flipV="1">
            <a:off x="8146056" y="-427079"/>
            <a:ext cx="13716" cy="2816931"/>
          </a:xfrm>
          <a:custGeom>
            <a:avLst/>
            <a:gdLst/>
            <a:ahLst/>
            <a:cxnLst/>
            <a:rect l="l" t="t" r="r" b="b"/>
            <a:pathLst>
              <a:path w="13716" h="2816931">
                <a:moveTo>
                  <a:pt x="0" y="2816931"/>
                </a:moveTo>
                <a:lnTo>
                  <a:pt x="13716" y="28032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56"/>
          <p:cNvSpPr/>
          <p:nvPr/>
        </p:nvSpPr>
        <p:spPr>
          <a:xfrm>
            <a:off x="1" y="0"/>
            <a:ext cx="8865825" cy="4572004"/>
          </a:xfrm>
          <a:custGeom>
            <a:avLst/>
            <a:gdLst/>
            <a:ahLst/>
            <a:cxnLst/>
            <a:rect l="l" t="t" r="r" b="b"/>
            <a:pathLst>
              <a:path w="8865825" h="4572004"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Rectangle 93"/>
          <p:cNvSpPr/>
          <p:nvPr/>
        </p:nvSpPr>
        <p:spPr>
          <a:xfrm rot="2700000">
            <a:off x="7126799" y="-278554"/>
            <a:ext cx="13716" cy="5699824"/>
          </a:xfrm>
          <a:custGeom>
            <a:avLst/>
            <a:gdLst/>
            <a:ahLst/>
            <a:cxnLst/>
            <a:rect l="l" t="t" r="r" b="b"/>
            <a:pathLst>
              <a:path w="13716" h="5699824">
                <a:moveTo>
                  <a:pt x="0" y="0"/>
                </a:moveTo>
                <a:lnTo>
                  <a:pt x="13716" y="13717"/>
                </a:lnTo>
                <a:lnTo>
                  <a:pt x="13716" y="5686109"/>
                </a:lnTo>
                <a:lnTo>
                  <a:pt x="1" y="569982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" name="Rectangle 95"/>
          <p:cNvSpPr/>
          <p:nvPr/>
        </p:nvSpPr>
        <p:spPr>
          <a:xfrm rot="2700000">
            <a:off x="7969986" y="1747381"/>
            <a:ext cx="13716" cy="3314931"/>
          </a:xfrm>
          <a:custGeom>
            <a:avLst/>
            <a:gdLst/>
            <a:ahLst/>
            <a:cxnLst/>
            <a:rect l="l" t="t" r="r" b="b"/>
            <a:pathLst>
              <a:path w="13716" h="3314931">
                <a:moveTo>
                  <a:pt x="0" y="0"/>
                </a:moveTo>
                <a:lnTo>
                  <a:pt x="13716" y="13716"/>
                </a:lnTo>
                <a:lnTo>
                  <a:pt x="13716" y="3301215"/>
                </a:lnTo>
                <a:lnTo>
                  <a:pt x="0" y="331493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Rectangle 96"/>
          <p:cNvSpPr/>
          <p:nvPr/>
        </p:nvSpPr>
        <p:spPr>
          <a:xfrm rot="2700000">
            <a:off x="8391577" y="2765192"/>
            <a:ext cx="13716" cy="2122490"/>
          </a:xfrm>
          <a:custGeom>
            <a:avLst/>
            <a:gdLst/>
            <a:ahLst/>
            <a:cxnLst/>
            <a:rect l="l" t="t" r="r" b="b"/>
            <a:pathLst>
              <a:path w="13716" h="2122490">
                <a:moveTo>
                  <a:pt x="0" y="0"/>
                </a:moveTo>
                <a:lnTo>
                  <a:pt x="13716" y="13716"/>
                </a:lnTo>
                <a:lnTo>
                  <a:pt x="13716" y="2108774"/>
                </a:lnTo>
                <a:lnTo>
                  <a:pt x="0" y="212249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" name="Rectangle 97"/>
          <p:cNvSpPr/>
          <p:nvPr/>
        </p:nvSpPr>
        <p:spPr>
          <a:xfrm rot="2700000">
            <a:off x="8813172" y="3783010"/>
            <a:ext cx="13717" cy="930041"/>
          </a:xfrm>
          <a:custGeom>
            <a:avLst/>
            <a:gdLst/>
            <a:ahLst/>
            <a:cxnLst/>
            <a:rect l="l" t="t" r="r" b="b"/>
            <a:pathLst>
              <a:path w="13717" h="930041">
                <a:moveTo>
                  <a:pt x="0" y="0"/>
                </a:moveTo>
                <a:lnTo>
                  <a:pt x="13717" y="13717"/>
                </a:lnTo>
                <a:lnTo>
                  <a:pt x="13717" y="916324"/>
                </a:lnTo>
                <a:lnTo>
                  <a:pt x="1" y="93004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7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9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0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1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" name="Rectangle 376"/>
          <p:cNvSpPr/>
          <p:nvPr/>
        </p:nvSpPr>
        <p:spPr>
          <a:xfrm rot="18900000" flipV="1">
            <a:off x="6881278" y="-950966"/>
            <a:ext cx="13716" cy="6394268"/>
          </a:xfrm>
          <a:custGeom>
            <a:avLst/>
            <a:gdLst/>
            <a:ahLst/>
            <a:cxnLst/>
            <a:rect l="l" t="t" r="r" b="b"/>
            <a:pathLst>
              <a:path w="13716" h="6394268">
                <a:moveTo>
                  <a:pt x="13716" y="6380553"/>
                </a:moveTo>
                <a:lnTo>
                  <a:pt x="13716" y="13716"/>
                </a:lnTo>
                <a:lnTo>
                  <a:pt x="0" y="0"/>
                </a:lnTo>
                <a:lnTo>
                  <a:pt x="0" y="639426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" name="Rectangle 377"/>
          <p:cNvSpPr/>
          <p:nvPr/>
        </p:nvSpPr>
        <p:spPr>
          <a:xfrm rot="18900000" flipV="1">
            <a:off x="7302869" y="-776336"/>
            <a:ext cx="13717" cy="5201823"/>
          </a:xfrm>
          <a:custGeom>
            <a:avLst/>
            <a:gdLst/>
            <a:ahLst/>
            <a:cxnLst/>
            <a:rect l="l" t="t" r="r" b="b"/>
            <a:pathLst>
              <a:path w="13717" h="5201823">
                <a:moveTo>
                  <a:pt x="1" y="5201823"/>
                </a:moveTo>
                <a:lnTo>
                  <a:pt x="13717" y="5188106"/>
                </a:lnTo>
                <a:lnTo>
                  <a:pt x="13717" y="1371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" name="Rectangle 378"/>
          <p:cNvSpPr/>
          <p:nvPr/>
        </p:nvSpPr>
        <p:spPr>
          <a:xfrm rot="18900000" flipV="1">
            <a:off x="7742935" y="-582310"/>
            <a:ext cx="13716" cy="4009378"/>
          </a:xfrm>
          <a:custGeom>
            <a:avLst/>
            <a:gdLst/>
            <a:ahLst/>
            <a:cxnLst/>
            <a:rect l="l" t="t" r="r" b="b"/>
            <a:pathLst>
              <a:path w="13716" h="4009378">
                <a:moveTo>
                  <a:pt x="13716" y="3995663"/>
                </a:moveTo>
                <a:lnTo>
                  <a:pt x="13716" y="13717"/>
                </a:lnTo>
                <a:lnTo>
                  <a:pt x="0" y="0"/>
                </a:lnTo>
                <a:lnTo>
                  <a:pt x="0" y="400937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" name="Rectangle 138"/>
          <p:cNvSpPr/>
          <p:nvPr/>
        </p:nvSpPr>
        <p:spPr>
          <a:xfrm rot="18900000" flipV="1">
            <a:off x="8567649" y="-252451"/>
            <a:ext cx="13715" cy="1624488"/>
          </a:xfrm>
          <a:custGeom>
            <a:avLst/>
            <a:gdLst/>
            <a:ahLst/>
            <a:cxnLst/>
            <a:rect l="l" t="t" r="r" b="b"/>
            <a:pathLst>
              <a:path w="13715" h="1624488">
                <a:moveTo>
                  <a:pt x="0" y="1624488"/>
                </a:moveTo>
                <a:lnTo>
                  <a:pt x="13715" y="1610773"/>
                </a:lnTo>
                <a:lnTo>
                  <a:pt x="13715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" name="Freeform 48"/>
          <p:cNvSpPr/>
          <p:nvPr/>
        </p:nvSpPr>
        <p:spPr>
          <a:xfrm rot="18900000" flipV="1">
            <a:off x="8989243" y="-77819"/>
            <a:ext cx="13715" cy="432040"/>
          </a:xfrm>
          <a:custGeom>
            <a:avLst/>
            <a:gdLst/>
            <a:ahLst/>
            <a:cxnLst/>
            <a:rect l="l" t="t" r="r" b="b"/>
            <a:pathLst>
              <a:path w="13715" h="432040">
                <a:moveTo>
                  <a:pt x="0" y="432040"/>
                </a:moveTo>
                <a:lnTo>
                  <a:pt x="13715" y="418325"/>
                </a:lnTo>
                <a:lnTo>
                  <a:pt x="13715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" name="Teardrop 3"/>
          <p:cNvSpPr/>
          <p:nvPr/>
        </p:nvSpPr>
        <p:spPr>
          <a:xfrm rot="5400000" flipH="1" flipV="1">
            <a:off x="8812306" y="329061"/>
            <a:ext cx="489780" cy="173608"/>
          </a:xfrm>
          <a:custGeom>
            <a:avLst/>
            <a:gdLst/>
            <a:ahLst/>
            <a:cxnLst/>
            <a:rect l="l" t="t" r="r" b="b"/>
            <a:pathLst>
              <a:path w="489780" h="173608">
                <a:moveTo>
                  <a:pt x="489780" y="159854"/>
                </a:moveTo>
                <a:lnTo>
                  <a:pt x="485976" y="173608"/>
                </a:lnTo>
                <a:lnTo>
                  <a:pt x="475131" y="173608"/>
                </a:lnTo>
                <a:cubicBezTo>
                  <a:pt x="477585" y="169211"/>
                  <a:pt x="477971" y="164422"/>
                  <a:pt x="477971" y="159544"/>
                </a:cubicBezTo>
                <a:cubicBezTo>
                  <a:pt x="477971" y="135634"/>
                  <a:pt x="468705" y="113887"/>
                  <a:pt x="453384" y="97876"/>
                </a:cubicBezTo>
                <a:lnTo>
                  <a:pt x="377652" y="173608"/>
                </a:lnTo>
                <a:lnTo>
                  <a:pt x="377561" y="173608"/>
                </a:lnTo>
                <a:lnTo>
                  <a:pt x="453339" y="97830"/>
                </a:lnTo>
                <a:cubicBezTo>
                  <a:pt x="437327" y="82509"/>
                  <a:pt x="415581" y="73244"/>
                  <a:pt x="391670" y="73244"/>
                </a:cubicBezTo>
                <a:cubicBezTo>
                  <a:pt x="341651" y="73244"/>
                  <a:pt x="301103" y="113792"/>
                  <a:pt x="301103" y="163811"/>
                </a:cubicBezTo>
                <a:lnTo>
                  <a:pt x="299829" y="173608"/>
                </a:lnTo>
                <a:lnTo>
                  <a:pt x="288634" y="173608"/>
                </a:lnTo>
                <a:cubicBezTo>
                  <a:pt x="289602" y="170367"/>
                  <a:pt x="289617" y="166907"/>
                  <a:pt x="289547" y="163248"/>
                </a:cubicBezTo>
                <a:cubicBezTo>
                  <a:pt x="289547" y="130228"/>
                  <a:pt x="305265" y="100880"/>
                  <a:pt x="329868" y="82592"/>
                </a:cubicBezTo>
                <a:cubicBezTo>
                  <a:pt x="326825" y="66091"/>
                  <a:pt x="318670" y="50477"/>
                  <a:pt x="305914" y="37722"/>
                </a:cubicBezTo>
                <a:cubicBezTo>
                  <a:pt x="289007" y="20815"/>
                  <a:pt x="267078" y="11989"/>
                  <a:pt x="244922" y="11501"/>
                </a:cubicBezTo>
                <a:lnTo>
                  <a:pt x="244922" y="96667"/>
                </a:lnTo>
                <a:lnTo>
                  <a:pt x="244858" y="96667"/>
                </a:lnTo>
                <a:lnTo>
                  <a:pt x="244858" y="11501"/>
                </a:lnTo>
                <a:cubicBezTo>
                  <a:pt x="222703" y="11990"/>
                  <a:pt x="200773" y="20815"/>
                  <a:pt x="183866" y="37722"/>
                </a:cubicBezTo>
                <a:cubicBezTo>
                  <a:pt x="171105" y="50483"/>
                  <a:pt x="162948" y="66105"/>
                  <a:pt x="159939" y="82613"/>
                </a:cubicBezTo>
                <a:cubicBezTo>
                  <a:pt x="184526" y="100902"/>
                  <a:pt x="200233" y="130241"/>
                  <a:pt x="200233" y="163248"/>
                </a:cubicBezTo>
                <a:lnTo>
                  <a:pt x="201368" y="173608"/>
                </a:lnTo>
                <a:lnTo>
                  <a:pt x="189949" y="173608"/>
                </a:lnTo>
                <a:cubicBezTo>
                  <a:pt x="188710" y="170302"/>
                  <a:pt x="188616" y="166986"/>
                  <a:pt x="188677" y="163811"/>
                </a:cubicBezTo>
                <a:cubicBezTo>
                  <a:pt x="188677" y="113792"/>
                  <a:pt x="148129" y="73244"/>
                  <a:pt x="98110" y="73244"/>
                </a:cubicBezTo>
                <a:cubicBezTo>
                  <a:pt x="74200" y="73244"/>
                  <a:pt x="52453" y="82510"/>
                  <a:pt x="36441" y="97831"/>
                </a:cubicBezTo>
                <a:lnTo>
                  <a:pt x="112218" y="173608"/>
                </a:lnTo>
                <a:lnTo>
                  <a:pt x="112128" y="173608"/>
                </a:lnTo>
                <a:lnTo>
                  <a:pt x="36396" y="97876"/>
                </a:lnTo>
                <a:cubicBezTo>
                  <a:pt x="21075" y="113887"/>
                  <a:pt x="11809" y="135634"/>
                  <a:pt x="11809" y="159544"/>
                </a:cubicBezTo>
                <a:lnTo>
                  <a:pt x="14648" y="173608"/>
                </a:lnTo>
                <a:lnTo>
                  <a:pt x="3810" y="173608"/>
                </a:lnTo>
                <a:cubicBezTo>
                  <a:pt x="332" y="169383"/>
                  <a:pt x="0" y="164657"/>
                  <a:pt x="0" y="159854"/>
                </a:cubicBezTo>
                <a:cubicBezTo>
                  <a:pt x="0" y="132604"/>
                  <a:pt x="10705" y="107854"/>
                  <a:pt x="28286" y="89721"/>
                </a:cubicBezTo>
                <a:lnTo>
                  <a:pt x="28286" y="89721"/>
                </a:lnTo>
                <a:cubicBezTo>
                  <a:pt x="46420" y="72140"/>
                  <a:pt x="71170" y="61435"/>
                  <a:pt x="98420" y="61435"/>
                </a:cubicBezTo>
                <a:cubicBezTo>
                  <a:pt x="117023" y="61435"/>
                  <a:pt x="134461" y="66424"/>
                  <a:pt x="149250" y="75515"/>
                </a:cubicBezTo>
                <a:cubicBezTo>
                  <a:pt x="153323" y="58635"/>
                  <a:pt x="162130" y="42758"/>
                  <a:pt x="175297" y="29591"/>
                </a:cubicBezTo>
                <a:cubicBezTo>
                  <a:pt x="194566" y="10322"/>
                  <a:pt x="219636" y="391"/>
                  <a:pt x="244890" y="0"/>
                </a:cubicBezTo>
                <a:lnTo>
                  <a:pt x="244890" y="0"/>
                </a:lnTo>
                <a:cubicBezTo>
                  <a:pt x="270144" y="391"/>
                  <a:pt x="295215" y="10322"/>
                  <a:pt x="314484" y="29591"/>
                </a:cubicBezTo>
                <a:cubicBezTo>
                  <a:pt x="327644" y="42751"/>
                  <a:pt x="336448" y="58618"/>
                  <a:pt x="340604" y="75474"/>
                </a:cubicBezTo>
                <a:cubicBezTo>
                  <a:pt x="355376" y="66408"/>
                  <a:pt x="372787" y="61434"/>
                  <a:pt x="391360" y="61434"/>
                </a:cubicBezTo>
                <a:cubicBezTo>
                  <a:pt x="418610" y="61434"/>
                  <a:pt x="443360" y="72140"/>
                  <a:pt x="461494" y="89721"/>
                </a:cubicBezTo>
                <a:cubicBezTo>
                  <a:pt x="479075" y="107854"/>
                  <a:pt x="489780" y="132604"/>
                  <a:pt x="489780" y="15985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1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2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3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4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5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6" name="Teardrop 3"/>
          <p:cNvSpPr/>
          <p:nvPr/>
        </p:nvSpPr>
        <p:spPr>
          <a:xfrm rot="5400000" flipH="1" flipV="1">
            <a:off x="8812306" y="1174559"/>
            <a:ext cx="489780" cy="173608"/>
          </a:xfrm>
          <a:custGeom>
            <a:avLst/>
            <a:gdLst/>
            <a:ahLst/>
            <a:cxnLst/>
            <a:rect l="l" t="t" r="r" b="b"/>
            <a:pathLst>
              <a:path w="489780" h="173608">
                <a:moveTo>
                  <a:pt x="489780" y="159854"/>
                </a:moveTo>
                <a:lnTo>
                  <a:pt x="485976" y="173608"/>
                </a:lnTo>
                <a:lnTo>
                  <a:pt x="475131" y="173608"/>
                </a:lnTo>
                <a:cubicBezTo>
                  <a:pt x="477585" y="169211"/>
                  <a:pt x="477971" y="164422"/>
                  <a:pt x="477971" y="159544"/>
                </a:cubicBezTo>
                <a:cubicBezTo>
                  <a:pt x="477971" y="135634"/>
                  <a:pt x="468705" y="113887"/>
                  <a:pt x="453384" y="97876"/>
                </a:cubicBezTo>
                <a:lnTo>
                  <a:pt x="377652" y="173608"/>
                </a:lnTo>
                <a:lnTo>
                  <a:pt x="377561" y="173608"/>
                </a:lnTo>
                <a:lnTo>
                  <a:pt x="453339" y="97830"/>
                </a:lnTo>
                <a:cubicBezTo>
                  <a:pt x="437327" y="82509"/>
                  <a:pt x="415581" y="73244"/>
                  <a:pt x="391670" y="73244"/>
                </a:cubicBezTo>
                <a:cubicBezTo>
                  <a:pt x="341651" y="73244"/>
                  <a:pt x="301103" y="113792"/>
                  <a:pt x="301103" y="163811"/>
                </a:cubicBezTo>
                <a:lnTo>
                  <a:pt x="299830" y="173608"/>
                </a:lnTo>
                <a:lnTo>
                  <a:pt x="288634" y="173608"/>
                </a:lnTo>
                <a:cubicBezTo>
                  <a:pt x="289602" y="170367"/>
                  <a:pt x="289617" y="166907"/>
                  <a:pt x="289547" y="163248"/>
                </a:cubicBezTo>
                <a:cubicBezTo>
                  <a:pt x="289547" y="130228"/>
                  <a:pt x="305265" y="100880"/>
                  <a:pt x="329868" y="82592"/>
                </a:cubicBezTo>
                <a:cubicBezTo>
                  <a:pt x="326825" y="66091"/>
                  <a:pt x="318670" y="50477"/>
                  <a:pt x="305914" y="37722"/>
                </a:cubicBezTo>
                <a:cubicBezTo>
                  <a:pt x="289007" y="20815"/>
                  <a:pt x="267078" y="11989"/>
                  <a:pt x="244922" y="11501"/>
                </a:cubicBezTo>
                <a:lnTo>
                  <a:pt x="244922" y="96667"/>
                </a:lnTo>
                <a:lnTo>
                  <a:pt x="244858" y="96667"/>
                </a:lnTo>
                <a:lnTo>
                  <a:pt x="244858" y="11501"/>
                </a:lnTo>
                <a:cubicBezTo>
                  <a:pt x="222703" y="11990"/>
                  <a:pt x="200773" y="20815"/>
                  <a:pt x="183866" y="37722"/>
                </a:cubicBezTo>
                <a:cubicBezTo>
                  <a:pt x="171105" y="50483"/>
                  <a:pt x="162948" y="66105"/>
                  <a:pt x="159939" y="82613"/>
                </a:cubicBezTo>
                <a:cubicBezTo>
                  <a:pt x="184526" y="100902"/>
                  <a:pt x="200233" y="130241"/>
                  <a:pt x="200233" y="163248"/>
                </a:cubicBezTo>
                <a:lnTo>
                  <a:pt x="201368" y="173608"/>
                </a:lnTo>
                <a:lnTo>
                  <a:pt x="189949" y="173608"/>
                </a:lnTo>
                <a:cubicBezTo>
                  <a:pt x="188710" y="170302"/>
                  <a:pt x="188616" y="166986"/>
                  <a:pt x="188677" y="163811"/>
                </a:cubicBezTo>
                <a:cubicBezTo>
                  <a:pt x="188677" y="113792"/>
                  <a:pt x="148129" y="73244"/>
                  <a:pt x="98110" y="73244"/>
                </a:cubicBezTo>
                <a:cubicBezTo>
                  <a:pt x="74200" y="73244"/>
                  <a:pt x="52453" y="82510"/>
                  <a:pt x="36441" y="97831"/>
                </a:cubicBezTo>
                <a:lnTo>
                  <a:pt x="112218" y="173608"/>
                </a:lnTo>
                <a:lnTo>
                  <a:pt x="112128" y="173608"/>
                </a:lnTo>
                <a:lnTo>
                  <a:pt x="36396" y="97876"/>
                </a:lnTo>
                <a:cubicBezTo>
                  <a:pt x="21075" y="113887"/>
                  <a:pt x="11809" y="135634"/>
                  <a:pt x="11809" y="159544"/>
                </a:cubicBezTo>
                <a:lnTo>
                  <a:pt x="14649" y="173608"/>
                </a:lnTo>
                <a:lnTo>
                  <a:pt x="3810" y="173608"/>
                </a:lnTo>
                <a:cubicBezTo>
                  <a:pt x="332" y="169383"/>
                  <a:pt x="0" y="164657"/>
                  <a:pt x="0" y="159854"/>
                </a:cubicBezTo>
                <a:cubicBezTo>
                  <a:pt x="0" y="132604"/>
                  <a:pt x="10705" y="107854"/>
                  <a:pt x="28286" y="89721"/>
                </a:cubicBezTo>
                <a:lnTo>
                  <a:pt x="28286" y="89721"/>
                </a:lnTo>
                <a:cubicBezTo>
                  <a:pt x="46420" y="72140"/>
                  <a:pt x="71170" y="61435"/>
                  <a:pt x="98420" y="61435"/>
                </a:cubicBezTo>
                <a:cubicBezTo>
                  <a:pt x="117023" y="61435"/>
                  <a:pt x="134461" y="66424"/>
                  <a:pt x="149250" y="75515"/>
                </a:cubicBezTo>
                <a:cubicBezTo>
                  <a:pt x="153323" y="58635"/>
                  <a:pt x="162130" y="42758"/>
                  <a:pt x="175297" y="29591"/>
                </a:cubicBezTo>
                <a:cubicBezTo>
                  <a:pt x="194566" y="10322"/>
                  <a:pt x="219636" y="391"/>
                  <a:pt x="244890" y="0"/>
                </a:cubicBezTo>
                <a:lnTo>
                  <a:pt x="244890" y="0"/>
                </a:lnTo>
                <a:cubicBezTo>
                  <a:pt x="270144" y="391"/>
                  <a:pt x="295215" y="10322"/>
                  <a:pt x="314484" y="29591"/>
                </a:cubicBezTo>
                <a:cubicBezTo>
                  <a:pt x="327644" y="42751"/>
                  <a:pt x="336448" y="58618"/>
                  <a:pt x="340604" y="75474"/>
                </a:cubicBezTo>
                <a:cubicBezTo>
                  <a:pt x="355376" y="66408"/>
                  <a:pt x="372787" y="61434"/>
                  <a:pt x="391360" y="61434"/>
                </a:cubicBezTo>
                <a:cubicBezTo>
                  <a:pt x="418610" y="61434"/>
                  <a:pt x="443360" y="72140"/>
                  <a:pt x="461494" y="89721"/>
                </a:cubicBezTo>
                <a:cubicBezTo>
                  <a:pt x="479075" y="107854"/>
                  <a:pt x="489780" y="132604"/>
                  <a:pt x="489780" y="15985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7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8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9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0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1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3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5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6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7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8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9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0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1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2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3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4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5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6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7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8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9" name="Teardrop 3"/>
          <p:cNvSpPr/>
          <p:nvPr/>
        </p:nvSpPr>
        <p:spPr>
          <a:xfrm rot="5400000" flipH="1" flipV="1">
            <a:off x="8812306" y="2017156"/>
            <a:ext cx="489780" cy="173608"/>
          </a:xfrm>
          <a:custGeom>
            <a:avLst/>
            <a:gdLst/>
            <a:ahLst/>
            <a:cxnLst/>
            <a:rect l="l" t="t" r="r" b="b"/>
            <a:pathLst>
              <a:path w="489780" h="173608">
                <a:moveTo>
                  <a:pt x="489780" y="159854"/>
                </a:moveTo>
                <a:lnTo>
                  <a:pt x="485976" y="173608"/>
                </a:lnTo>
                <a:lnTo>
                  <a:pt x="475131" y="173608"/>
                </a:lnTo>
                <a:cubicBezTo>
                  <a:pt x="477585" y="169211"/>
                  <a:pt x="477971" y="164422"/>
                  <a:pt x="477971" y="159544"/>
                </a:cubicBezTo>
                <a:cubicBezTo>
                  <a:pt x="477971" y="135634"/>
                  <a:pt x="468705" y="113887"/>
                  <a:pt x="453384" y="97876"/>
                </a:cubicBezTo>
                <a:lnTo>
                  <a:pt x="377652" y="173608"/>
                </a:lnTo>
                <a:lnTo>
                  <a:pt x="377561" y="173608"/>
                </a:lnTo>
                <a:lnTo>
                  <a:pt x="453339" y="97830"/>
                </a:lnTo>
                <a:cubicBezTo>
                  <a:pt x="437327" y="82509"/>
                  <a:pt x="415581" y="73244"/>
                  <a:pt x="391670" y="73244"/>
                </a:cubicBezTo>
                <a:cubicBezTo>
                  <a:pt x="341651" y="73244"/>
                  <a:pt x="301103" y="113792"/>
                  <a:pt x="301103" y="163811"/>
                </a:cubicBezTo>
                <a:lnTo>
                  <a:pt x="299829" y="173608"/>
                </a:lnTo>
                <a:lnTo>
                  <a:pt x="288634" y="173608"/>
                </a:lnTo>
                <a:cubicBezTo>
                  <a:pt x="289602" y="170367"/>
                  <a:pt x="289617" y="166907"/>
                  <a:pt x="289547" y="163248"/>
                </a:cubicBezTo>
                <a:cubicBezTo>
                  <a:pt x="289547" y="130228"/>
                  <a:pt x="305265" y="100880"/>
                  <a:pt x="329868" y="82592"/>
                </a:cubicBezTo>
                <a:cubicBezTo>
                  <a:pt x="326825" y="66091"/>
                  <a:pt x="318670" y="50477"/>
                  <a:pt x="305914" y="37722"/>
                </a:cubicBezTo>
                <a:cubicBezTo>
                  <a:pt x="289007" y="20815"/>
                  <a:pt x="267078" y="11989"/>
                  <a:pt x="244922" y="11501"/>
                </a:cubicBezTo>
                <a:lnTo>
                  <a:pt x="244922" y="96667"/>
                </a:lnTo>
                <a:lnTo>
                  <a:pt x="244858" y="96667"/>
                </a:lnTo>
                <a:lnTo>
                  <a:pt x="244858" y="11501"/>
                </a:lnTo>
                <a:cubicBezTo>
                  <a:pt x="222703" y="11990"/>
                  <a:pt x="200774" y="20815"/>
                  <a:pt x="183866" y="37722"/>
                </a:cubicBezTo>
                <a:cubicBezTo>
                  <a:pt x="171105" y="50483"/>
                  <a:pt x="162948" y="66105"/>
                  <a:pt x="159939" y="82613"/>
                </a:cubicBezTo>
                <a:cubicBezTo>
                  <a:pt x="184526" y="100902"/>
                  <a:pt x="200233" y="130241"/>
                  <a:pt x="200233" y="163248"/>
                </a:cubicBezTo>
                <a:lnTo>
                  <a:pt x="201368" y="173608"/>
                </a:lnTo>
                <a:lnTo>
                  <a:pt x="189949" y="173608"/>
                </a:lnTo>
                <a:cubicBezTo>
                  <a:pt x="188710" y="170302"/>
                  <a:pt x="188616" y="166986"/>
                  <a:pt x="188677" y="163811"/>
                </a:cubicBezTo>
                <a:cubicBezTo>
                  <a:pt x="188677" y="113792"/>
                  <a:pt x="148129" y="73244"/>
                  <a:pt x="98110" y="73244"/>
                </a:cubicBezTo>
                <a:cubicBezTo>
                  <a:pt x="74200" y="73244"/>
                  <a:pt x="52453" y="82510"/>
                  <a:pt x="36441" y="97831"/>
                </a:cubicBezTo>
                <a:lnTo>
                  <a:pt x="112218" y="173608"/>
                </a:lnTo>
                <a:lnTo>
                  <a:pt x="112128" y="173608"/>
                </a:lnTo>
                <a:lnTo>
                  <a:pt x="36396" y="97876"/>
                </a:lnTo>
                <a:cubicBezTo>
                  <a:pt x="21075" y="113887"/>
                  <a:pt x="11809" y="135634"/>
                  <a:pt x="11809" y="159544"/>
                </a:cubicBezTo>
                <a:lnTo>
                  <a:pt x="14649" y="173608"/>
                </a:lnTo>
                <a:lnTo>
                  <a:pt x="3810" y="173608"/>
                </a:lnTo>
                <a:cubicBezTo>
                  <a:pt x="333" y="169383"/>
                  <a:pt x="0" y="164657"/>
                  <a:pt x="0" y="159854"/>
                </a:cubicBezTo>
                <a:cubicBezTo>
                  <a:pt x="0" y="132604"/>
                  <a:pt x="10706" y="107854"/>
                  <a:pt x="28286" y="89721"/>
                </a:cubicBezTo>
                <a:lnTo>
                  <a:pt x="28286" y="89721"/>
                </a:lnTo>
                <a:cubicBezTo>
                  <a:pt x="46420" y="72140"/>
                  <a:pt x="71170" y="61435"/>
                  <a:pt x="98420" y="61435"/>
                </a:cubicBezTo>
                <a:cubicBezTo>
                  <a:pt x="117023" y="61435"/>
                  <a:pt x="134461" y="66424"/>
                  <a:pt x="149250" y="75515"/>
                </a:cubicBezTo>
                <a:cubicBezTo>
                  <a:pt x="153323" y="58635"/>
                  <a:pt x="162130" y="42758"/>
                  <a:pt x="175297" y="29591"/>
                </a:cubicBezTo>
                <a:cubicBezTo>
                  <a:pt x="194566" y="10322"/>
                  <a:pt x="219636" y="391"/>
                  <a:pt x="244890" y="0"/>
                </a:cubicBezTo>
                <a:lnTo>
                  <a:pt x="244890" y="0"/>
                </a:lnTo>
                <a:cubicBezTo>
                  <a:pt x="270144" y="391"/>
                  <a:pt x="295215" y="10322"/>
                  <a:pt x="314484" y="29591"/>
                </a:cubicBezTo>
                <a:cubicBezTo>
                  <a:pt x="327644" y="42751"/>
                  <a:pt x="336448" y="58618"/>
                  <a:pt x="340604" y="75474"/>
                </a:cubicBezTo>
                <a:cubicBezTo>
                  <a:pt x="355376" y="66408"/>
                  <a:pt x="372787" y="61434"/>
                  <a:pt x="391360" y="61434"/>
                </a:cubicBezTo>
                <a:cubicBezTo>
                  <a:pt x="418610" y="61434"/>
                  <a:pt x="443360" y="72140"/>
                  <a:pt x="461494" y="89721"/>
                </a:cubicBezTo>
                <a:cubicBezTo>
                  <a:pt x="479075" y="107854"/>
                  <a:pt x="489780" y="132604"/>
                  <a:pt x="489780" y="15985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0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1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2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3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4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5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6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7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8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9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0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1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2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3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4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5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6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7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8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9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0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1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2" name="Teardrop 3"/>
          <p:cNvSpPr/>
          <p:nvPr/>
        </p:nvSpPr>
        <p:spPr>
          <a:xfrm rot="5400000" flipH="1" flipV="1">
            <a:off x="8812306" y="2865829"/>
            <a:ext cx="489780" cy="173608"/>
          </a:xfrm>
          <a:custGeom>
            <a:avLst/>
            <a:gdLst/>
            <a:ahLst/>
            <a:cxnLst/>
            <a:rect l="l" t="t" r="r" b="b"/>
            <a:pathLst>
              <a:path w="489780" h="173608">
                <a:moveTo>
                  <a:pt x="489780" y="159854"/>
                </a:moveTo>
                <a:lnTo>
                  <a:pt x="485976" y="173608"/>
                </a:lnTo>
                <a:lnTo>
                  <a:pt x="475132" y="173608"/>
                </a:lnTo>
                <a:cubicBezTo>
                  <a:pt x="477585" y="169211"/>
                  <a:pt x="477971" y="164422"/>
                  <a:pt x="477971" y="159544"/>
                </a:cubicBezTo>
                <a:cubicBezTo>
                  <a:pt x="477971" y="135634"/>
                  <a:pt x="468705" y="113887"/>
                  <a:pt x="453384" y="97876"/>
                </a:cubicBezTo>
                <a:lnTo>
                  <a:pt x="377652" y="173608"/>
                </a:lnTo>
                <a:lnTo>
                  <a:pt x="377561" y="173608"/>
                </a:lnTo>
                <a:lnTo>
                  <a:pt x="453339" y="97830"/>
                </a:lnTo>
                <a:cubicBezTo>
                  <a:pt x="437327" y="82509"/>
                  <a:pt x="415581" y="73244"/>
                  <a:pt x="391670" y="73244"/>
                </a:cubicBezTo>
                <a:cubicBezTo>
                  <a:pt x="341652" y="73244"/>
                  <a:pt x="301103" y="113792"/>
                  <a:pt x="301103" y="163811"/>
                </a:cubicBezTo>
                <a:lnTo>
                  <a:pt x="299830" y="173608"/>
                </a:lnTo>
                <a:lnTo>
                  <a:pt x="288634" y="173608"/>
                </a:lnTo>
                <a:cubicBezTo>
                  <a:pt x="289602" y="170367"/>
                  <a:pt x="289617" y="166907"/>
                  <a:pt x="289547" y="163248"/>
                </a:cubicBezTo>
                <a:cubicBezTo>
                  <a:pt x="289547" y="130228"/>
                  <a:pt x="305265" y="100880"/>
                  <a:pt x="329868" y="82592"/>
                </a:cubicBezTo>
                <a:cubicBezTo>
                  <a:pt x="326825" y="66091"/>
                  <a:pt x="318670" y="50477"/>
                  <a:pt x="305914" y="37722"/>
                </a:cubicBezTo>
                <a:cubicBezTo>
                  <a:pt x="289007" y="20815"/>
                  <a:pt x="267078" y="11989"/>
                  <a:pt x="244922" y="11501"/>
                </a:cubicBezTo>
                <a:lnTo>
                  <a:pt x="244922" y="96667"/>
                </a:lnTo>
                <a:lnTo>
                  <a:pt x="244858" y="96667"/>
                </a:lnTo>
                <a:lnTo>
                  <a:pt x="244858" y="11501"/>
                </a:lnTo>
                <a:cubicBezTo>
                  <a:pt x="222703" y="11990"/>
                  <a:pt x="200774" y="20815"/>
                  <a:pt x="183866" y="37722"/>
                </a:cubicBezTo>
                <a:cubicBezTo>
                  <a:pt x="171105" y="50483"/>
                  <a:pt x="162948" y="66105"/>
                  <a:pt x="159939" y="82613"/>
                </a:cubicBezTo>
                <a:cubicBezTo>
                  <a:pt x="184526" y="100902"/>
                  <a:pt x="200233" y="130241"/>
                  <a:pt x="200233" y="163248"/>
                </a:cubicBezTo>
                <a:lnTo>
                  <a:pt x="201368" y="173608"/>
                </a:lnTo>
                <a:lnTo>
                  <a:pt x="189949" y="173608"/>
                </a:lnTo>
                <a:cubicBezTo>
                  <a:pt x="188710" y="170302"/>
                  <a:pt x="188616" y="166986"/>
                  <a:pt x="188677" y="163811"/>
                </a:cubicBezTo>
                <a:cubicBezTo>
                  <a:pt x="188677" y="113792"/>
                  <a:pt x="148129" y="73244"/>
                  <a:pt x="98110" y="73244"/>
                </a:cubicBezTo>
                <a:cubicBezTo>
                  <a:pt x="74200" y="73244"/>
                  <a:pt x="52453" y="82510"/>
                  <a:pt x="36441" y="97831"/>
                </a:cubicBezTo>
                <a:lnTo>
                  <a:pt x="112218" y="173608"/>
                </a:lnTo>
                <a:lnTo>
                  <a:pt x="112128" y="173608"/>
                </a:lnTo>
                <a:lnTo>
                  <a:pt x="36396" y="97876"/>
                </a:lnTo>
                <a:cubicBezTo>
                  <a:pt x="21075" y="113887"/>
                  <a:pt x="11809" y="135634"/>
                  <a:pt x="11809" y="159544"/>
                </a:cubicBezTo>
                <a:lnTo>
                  <a:pt x="14649" y="173608"/>
                </a:lnTo>
                <a:lnTo>
                  <a:pt x="3810" y="173608"/>
                </a:lnTo>
                <a:cubicBezTo>
                  <a:pt x="333" y="169383"/>
                  <a:pt x="0" y="164657"/>
                  <a:pt x="0" y="159854"/>
                </a:cubicBezTo>
                <a:cubicBezTo>
                  <a:pt x="0" y="132604"/>
                  <a:pt x="10706" y="107854"/>
                  <a:pt x="28286" y="89721"/>
                </a:cubicBezTo>
                <a:lnTo>
                  <a:pt x="28286" y="89721"/>
                </a:lnTo>
                <a:cubicBezTo>
                  <a:pt x="46420" y="72140"/>
                  <a:pt x="71170" y="61435"/>
                  <a:pt x="98420" y="61435"/>
                </a:cubicBezTo>
                <a:cubicBezTo>
                  <a:pt x="117023" y="61435"/>
                  <a:pt x="134461" y="66424"/>
                  <a:pt x="149250" y="75515"/>
                </a:cubicBezTo>
                <a:cubicBezTo>
                  <a:pt x="153323" y="58635"/>
                  <a:pt x="162130" y="42758"/>
                  <a:pt x="175297" y="29591"/>
                </a:cubicBezTo>
                <a:cubicBezTo>
                  <a:pt x="194566" y="10322"/>
                  <a:pt x="219636" y="391"/>
                  <a:pt x="244890" y="0"/>
                </a:cubicBezTo>
                <a:lnTo>
                  <a:pt x="244890" y="0"/>
                </a:lnTo>
                <a:cubicBezTo>
                  <a:pt x="270144" y="391"/>
                  <a:pt x="295215" y="10322"/>
                  <a:pt x="314484" y="29591"/>
                </a:cubicBezTo>
                <a:cubicBezTo>
                  <a:pt x="327644" y="42751"/>
                  <a:pt x="336448" y="58618"/>
                  <a:pt x="340604" y="75474"/>
                </a:cubicBezTo>
                <a:cubicBezTo>
                  <a:pt x="355376" y="66408"/>
                  <a:pt x="372787" y="61434"/>
                  <a:pt x="391360" y="61434"/>
                </a:cubicBezTo>
                <a:cubicBezTo>
                  <a:pt x="418611" y="61434"/>
                  <a:pt x="443360" y="72140"/>
                  <a:pt x="461494" y="89721"/>
                </a:cubicBezTo>
                <a:cubicBezTo>
                  <a:pt x="479075" y="107854"/>
                  <a:pt x="489780" y="132604"/>
                  <a:pt x="489780" y="15985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3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4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5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6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7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8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9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0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1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2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3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4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5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" name="Teardrop 3"/>
          <p:cNvSpPr/>
          <p:nvPr/>
        </p:nvSpPr>
        <p:spPr>
          <a:xfrm rot="5400000" flipH="1" flipV="1">
            <a:off x="8812306" y="3710008"/>
            <a:ext cx="489780" cy="173608"/>
          </a:xfrm>
          <a:custGeom>
            <a:avLst/>
            <a:gdLst/>
            <a:ahLst/>
            <a:cxnLst/>
            <a:rect l="l" t="t" r="r" b="b"/>
            <a:pathLst>
              <a:path w="489780" h="173608">
                <a:moveTo>
                  <a:pt x="489780" y="159854"/>
                </a:moveTo>
                <a:lnTo>
                  <a:pt x="485976" y="173608"/>
                </a:lnTo>
                <a:lnTo>
                  <a:pt x="475132" y="173608"/>
                </a:lnTo>
                <a:cubicBezTo>
                  <a:pt x="477585" y="169211"/>
                  <a:pt x="477971" y="164422"/>
                  <a:pt x="477971" y="159544"/>
                </a:cubicBezTo>
                <a:cubicBezTo>
                  <a:pt x="477971" y="135634"/>
                  <a:pt x="468705" y="113887"/>
                  <a:pt x="453384" y="97876"/>
                </a:cubicBezTo>
                <a:lnTo>
                  <a:pt x="377652" y="173608"/>
                </a:lnTo>
                <a:lnTo>
                  <a:pt x="377561" y="173608"/>
                </a:lnTo>
                <a:lnTo>
                  <a:pt x="453339" y="97830"/>
                </a:lnTo>
                <a:cubicBezTo>
                  <a:pt x="437327" y="82509"/>
                  <a:pt x="415581" y="73244"/>
                  <a:pt x="391670" y="73244"/>
                </a:cubicBezTo>
                <a:cubicBezTo>
                  <a:pt x="341652" y="73244"/>
                  <a:pt x="301103" y="113792"/>
                  <a:pt x="301103" y="163811"/>
                </a:cubicBezTo>
                <a:lnTo>
                  <a:pt x="299830" y="173608"/>
                </a:lnTo>
                <a:lnTo>
                  <a:pt x="288634" y="173608"/>
                </a:lnTo>
                <a:cubicBezTo>
                  <a:pt x="289602" y="170367"/>
                  <a:pt x="289617" y="166907"/>
                  <a:pt x="289547" y="163248"/>
                </a:cubicBezTo>
                <a:cubicBezTo>
                  <a:pt x="289547" y="130228"/>
                  <a:pt x="305265" y="100880"/>
                  <a:pt x="329868" y="82592"/>
                </a:cubicBezTo>
                <a:cubicBezTo>
                  <a:pt x="326825" y="66091"/>
                  <a:pt x="318670" y="50477"/>
                  <a:pt x="305914" y="37722"/>
                </a:cubicBezTo>
                <a:cubicBezTo>
                  <a:pt x="289007" y="20815"/>
                  <a:pt x="267078" y="11989"/>
                  <a:pt x="244922" y="11501"/>
                </a:cubicBezTo>
                <a:lnTo>
                  <a:pt x="244922" y="96667"/>
                </a:lnTo>
                <a:lnTo>
                  <a:pt x="244858" y="96667"/>
                </a:lnTo>
                <a:lnTo>
                  <a:pt x="244858" y="11501"/>
                </a:lnTo>
                <a:cubicBezTo>
                  <a:pt x="222703" y="11990"/>
                  <a:pt x="200774" y="20815"/>
                  <a:pt x="183866" y="37722"/>
                </a:cubicBezTo>
                <a:cubicBezTo>
                  <a:pt x="171105" y="50483"/>
                  <a:pt x="162948" y="66105"/>
                  <a:pt x="159939" y="82613"/>
                </a:cubicBezTo>
                <a:cubicBezTo>
                  <a:pt x="184526" y="100902"/>
                  <a:pt x="200233" y="130241"/>
                  <a:pt x="200233" y="163248"/>
                </a:cubicBezTo>
                <a:lnTo>
                  <a:pt x="201368" y="173608"/>
                </a:lnTo>
                <a:lnTo>
                  <a:pt x="189949" y="173608"/>
                </a:lnTo>
                <a:cubicBezTo>
                  <a:pt x="188710" y="170302"/>
                  <a:pt x="188616" y="166986"/>
                  <a:pt x="188677" y="163811"/>
                </a:cubicBezTo>
                <a:cubicBezTo>
                  <a:pt x="188677" y="113792"/>
                  <a:pt x="148129" y="73244"/>
                  <a:pt x="98110" y="73244"/>
                </a:cubicBezTo>
                <a:cubicBezTo>
                  <a:pt x="74200" y="73244"/>
                  <a:pt x="52453" y="82510"/>
                  <a:pt x="36441" y="97831"/>
                </a:cubicBezTo>
                <a:lnTo>
                  <a:pt x="112218" y="173608"/>
                </a:lnTo>
                <a:lnTo>
                  <a:pt x="112128" y="173608"/>
                </a:lnTo>
                <a:lnTo>
                  <a:pt x="36396" y="97876"/>
                </a:lnTo>
                <a:cubicBezTo>
                  <a:pt x="21075" y="113887"/>
                  <a:pt x="11809" y="135634"/>
                  <a:pt x="11809" y="159544"/>
                </a:cubicBezTo>
                <a:lnTo>
                  <a:pt x="14649" y="173608"/>
                </a:lnTo>
                <a:lnTo>
                  <a:pt x="3810" y="173608"/>
                </a:lnTo>
                <a:cubicBezTo>
                  <a:pt x="333" y="169383"/>
                  <a:pt x="0" y="164657"/>
                  <a:pt x="0" y="159854"/>
                </a:cubicBezTo>
                <a:cubicBezTo>
                  <a:pt x="0" y="132604"/>
                  <a:pt x="10706" y="107854"/>
                  <a:pt x="28286" y="89721"/>
                </a:cubicBezTo>
                <a:lnTo>
                  <a:pt x="28286" y="89721"/>
                </a:lnTo>
                <a:cubicBezTo>
                  <a:pt x="46420" y="72140"/>
                  <a:pt x="71170" y="61435"/>
                  <a:pt x="98420" y="61435"/>
                </a:cubicBezTo>
                <a:cubicBezTo>
                  <a:pt x="117023" y="61435"/>
                  <a:pt x="134461" y="66424"/>
                  <a:pt x="149250" y="75515"/>
                </a:cubicBezTo>
                <a:cubicBezTo>
                  <a:pt x="153323" y="58635"/>
                  <a:pt x="162130" y="42758"/>
                  <a:pt x="175297" y="29591"/>
                </a:cubicBezTo>
                <a:cubicBezTo>
                  <a:pt x="194566" y="10322"/>
                  <a:pt x="219636" y="391"/>
                  <a:pt x="244890" y="0"/>
                </a:cubicBezTo>
                <a:lnTo>
                  <a:pt x="244890" y="0"/>
                </a:lnTo>
                <a:cubicBezTo>
                  <a:pt x="270144" y="391"/>
                  <a:pt x="295215" y="10322"/>
                  <a:pt x="314484" y="29591"/>
                </a:cubicBezTo>
                <a:cubicBezTo>
                  <a:pt x="327644" y="42751"/>
                  <a:pt x="336448" y="58618"/>
                  <a:pt x="340604" y="75474"/>
                </a:cubicBezTo>
                <a:cubicBezTo>
                  <a:pt x="355376" y="66408"/>
                  <a:pt x="372787" y="61434"/>
                  <a:pt x="391360" y="61434"/>
                </a:cubicBezTo>
                <a:cubicBezTo>
                  <a:pt x="418611" y="61434"/>
                  <a:pt x="443360" y="72140"/>
                  <a:pt x="461494" y="89721"/>
                </a:cubicBezTo>
                <a:cubicBezTo>
                  <a:pt x="479075" y="107854"/>
                  <a:pt x="489780" y="132604"/>
                  <a:pt x="489780" y="15985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" name="Teardrop 3"/>
          <p:cNvSpPr/>
          <p:nvPr/>
        </p:nvSpPr>
        <p:spPr>
          <a:xfrm rot="5400000" flipH="1" flipV="1">
            <a:off x="8991444" y="4419445"/>
            <a:ext cx="171406" cy="133705"/>
          </a:xfrm>
          <a:custGeom>
            <a:avLst/>
            <a:gdLst/>
            <a:ahLst/>
            <a:cxnLst/>
            <a:rect l="l" t="t" r="r" b="b"/>
            <a:pathLst>
              <a:path w="171406" h="133705">
                <a:moveTo>
                  <a:pt x="171406" y="123429"/>
                </a:moveTo>
                <a:lnTo>
                  <a:pt x="168564" y="133705"/>
                </a:lnTo>
                <a:lnTo>
                  <a:pt x="157460" y="133705"/>
                </a:lnTo>
                <a:cubicBezTo>
                  <a:pt x="159382" y="130353"/>
                  <a:pt x="159597" y="126761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62756" y="133705"/>
                </a:lnTo>
                <a:lnTo>
                  <a:pt x="62665" y="133705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" name="Oval 189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" name="Oval 191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" name="Oval 192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" name="Oval 193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" name="Oval 194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" name="Oval 195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" name="Oval 196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" name="Oval 197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" name="Oval 198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" name="Oval 199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1" name="Oval 200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2" name="Oval 201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3" name="Oval 202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4" name="Oval 203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5" name="Oval 204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6" name="Oval 205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7" name="Oval 206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8" name="Oval 207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9" name="Oval 208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0" name="Oval 209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1" name="Oval 210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2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3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4" name="Oval 883"/>
          <p:cNvSpPr/>
          <p:nvPr/>
        </p:nvSpPr>
        <p:spPr>
          <a:xfrm>
            <a:off x="2031413" y="-10245"/>
            <a:ext cx="6910072" cy="84875"/>
          </a:xfrm>
          <a:custGeom>
            <a:avLst/>
            <a:gdLst/>
            <a:ahLst/>
            <a:cxnLst/>
            <a:rect l="l" t="t" r="r" b="b"/>
            <a:pathLst>
              <a:path w="6910072" h="84875"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5" name="Oval 214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6" name="Oval 215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7" name="Oval 216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8" name="Oval 217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9" name="Oval 218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0" name="Oval 219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1" name="Oval 220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2" name="Oval 221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3" name="Oval 222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4" name="Oval 223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5" name="Oval 224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6" name="Oval 225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7" name="Oval 226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8" name="Oval 227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9" name="Oval 228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0" name="Oval 229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1" name="Oval 230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2" name="Oval 231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3" name="Oval 232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4" name="Oval 233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5" name="Oval 234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6" name="Oval 235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7" name="Oval 236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8" name="Oval 237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9" name="Oval 238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0" name="Oval 239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1" name="Oval 240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2" name="Oval 241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3" name="Oval 242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4" name="Oval 243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5" name="Oval 244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6" name="Oval 245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7" name="Oval 246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8" name="Oval 247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9" name="Oval 248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0" name="Oval 249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1" name="Oval 250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2" name="Oval 251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3" name="Oval 252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4" name="Oval 253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5" name="Oval 254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6" name="Oval 255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7" name="Oval 256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8" name="Oval 257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9" name="Oval 258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0" name="Oval 259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1" name="Oval 260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2" name="Oval 261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3" name="Oval 262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4" name="Oval 263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5" name="Oval 264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6" name="Oval 265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7" name="Oval 266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8" name="Oval 267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9" name="Oval 268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0" name="Oval 269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1" name="Oval 270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2" name="Oval 271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3" name="Oval 272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4" name="Oval 273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5" name="Oval 274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6" name="Oval 275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7" name="Oval 276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8" name="Oval 277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9" name="Oval 278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0" name="Oval 279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1" name="Oval 280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2" name="Oval 281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3" name="Oval 282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4" name="Oval 283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5" name="Oval 284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6" name="Oval 285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7" name="Oval 286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8" name="Oval 287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9" name="Oval 288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0" name="Oval 289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1" name="Oval 290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2" name="Oval 291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3" name="Oval 292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4" name="Oval 293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5" name="Oval 294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6" name="Oval 295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7" name="Oval 296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8" name="Oval 297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9" name="Oval 1651"/>
          <p:cNvSpPr/>
          <p:nvPr/>
        </p:nvSpPr>
        <p:spPr>
          <a:xfrm>
            <a:off x="812619" y="4561319"/>
            <a:ext cx="7660836" cy="10682"/>
          </a:xfrm>
          <a:custGeom>
            <a:avLst/>
            <a:gdLst/>
            <a:ahLst/>
            <a:cxnLst/>
            <a:rect l="l" t="t" r="r" b="b"/>
            <a:pathLst>
              <a:path w="7660836" h="10682"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0" name="Oval 299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1" name="Oval 300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2" name="Oval 301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3" name="Oval 302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4" name="Oval 303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5" name="Oval 304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6" name="Oval 305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7" name="Oval 306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8" name="Oval 307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9" name="Oval 308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0" name="Oval 309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1" name="Oval 310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2" name="Oval 311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3" name="Oval 312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4" name="Oval 313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5" name="Oval 314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6" name="Oval 315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7" name="Oval 316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8" name="Oval 317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9" name="Oval 318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0" name="Oval 319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1" name="Oval 320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2" name="Oval 321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3" name="Oval 322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4" name="Oval 323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5" name="Oval 324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6" name="Oval 325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7" name="Oval 326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8" name="Oval 327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9" name="Oval 328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0" name="Oval 329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1" name="Oval 330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2" name="Oval 331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3" name="Oval 332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4" name="Oval 333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5" name="Oval 334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6" name="Oval 335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7" name="Oval 336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8" name="Oval 337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9" name="Oval 338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0" name="Oval 339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1" name="Oval 340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2" name="Oval 341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3" name="Oval 342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4" name="Oval 343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5" name="Oval 344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6" name="Oval 345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7" name="Oval 346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8" name="Oval 347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9" name="Oval 348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0" name="Oval 349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1" name="Oval 350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2" name="Oval 351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3" name="Oval 352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4" name="Oval 353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F2483-5B30-42B8-A2B5-1915E46D745C}" type="uaqdatetime1">
              <a:rPr lang="ar-SA" smtClean="0"/>
              <a:t>08/03/1442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7511CCAB-BB91-442C-8C71-F09E2B838991}" type="slidenum">
              <a:rPr lang="ar-SA" smtClean="0"/>
              <a:pPr/>
              <a:t>‹#›</a:t>
            </a:fld>
            <a:endParaRPr lang="ar-SA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230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5BF3A-0B97-4F70-8DC7-EA5EF6204554}" type="uaqdatetime1">
              <a:rPr lang="ar-SA" smtClean="0"/>
              <a:t>08/03/1442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7511CCAB-BB91-442C-8C71-F09E2B838991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787433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7C12D-1B51-4DFD-9DB2-1533E5C9D217}" type="uaqdatetime1">
              <a:rPr lang="ar-SA" smtClean="0"/>
              <a:t>08/03/1442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7511CCAB-BB91-442C-8C71-F09E2B838991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4050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03BB-B6AE-4B8E-B845-B204F16F6CA9}" type="uaqdatetime1">
              <a:rPr lang="ar-SA" smtClean="0"/>
              <a:t>08/03/1442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7511CCAB-BB91-442C-8C71-F09E2B838991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5810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4C6E-D1B5-4619-AFDE-791FC1DC3C44}" type="uaqdatetime1">
              <a:rPr lang="ar-SA" smtClean="0"/>
              <a:t>08/03/1442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7511CCAB-BB91-442C-8C71-F09E2B838991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97193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F44-D191-4BA8-86F3-F00F268CF883}" type="uaqdatetime1">
              <a:rPr lang="ar-SA" smtClean="0"/>
              <a:t>08/03/1442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7511CCAB-BB91-442C-8C71-F09E2B838991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586301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3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08BFF-5FC2-4166-87D9-7698A81CA861}" type="uaqdatetime1">
              <a:rPr lang="ar-SA" smtClean="0"/>
              <a:t>08/03/1442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7511CCAB-BB91-442C-8C71-F09E2B838991}" type="slidenum">
              <a:rPr lang="ar-SA" smtClean="0"/>
              <a:pPr/>
              <a:t>‹#›</a:t>
            </a:fld>
            <a:endParaRPr lang="ar-SA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941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4D2F1-BE25-4A73-A6A2-684E8E61CEEF}" type="uaqdatetime1">
              <a:rPr lang="ar-SA" smtClean="0"/>
              <a:t>08/03/1442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7511CCAB-BB91-442C-8C71-F09E2B838991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21107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0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9EC4-7B8B-4D4F-89B9-256565CF918F}" type="uaqdatetime1">
              <a:rPr lang="ar-SA" smtClean="0"/>
              <a:t>08/03/1442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7511CCAB-BB91-442C-8C71-F09E2B838991}" type="slidenum">
              <a:rPr lang="ar-SA" smtClean="0"/>
              <a:pPr/>
              <a:t>‹#›</a:t>
            </a:fld>
            <a:endParaRPr lang="ar-SA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490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4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6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60F5747-4286-4BDB-A7D9-4AFB61326839}" type="uaqdatetime1">
              <a:rPr lang="ar-SA" smtClean="0"/>
              <a:t>08/03/1442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199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511CCAB-BB91-442C-8C71-F09E2B838991}" type="slidenum">
              <a:rPr lang="ar-SA" smtClean="0"/>
              <a:pPr/>
              <a:t>‹#›</a:t>
            </a:fld>
            <a:endParaRPr lang="ar-SA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558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Algorithms analysis and Design</a:t>
            </a:r>
            <a:endParaRPr lang="en-US" dirty="0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 By : Dr. Basem Alijla</a:t>
            </a:r>
            <a:endParaRPr lang="en-US" sz="2400" dirty="0"/>
          </a:p>
        </p:txBody>
      </p:sp>
      <p:sp>
        <p:nvSpPr>
          <p:cNvPr id="27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A7AB7-D961-4CE0-8EC1-8747B9C4F9E9}" type="slidenum">
              <a:rPr lang="en-US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599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66440" y="2226503"/>
            <a:ext cx="6945920" cy="2550877"/>
          </a:xfrm>
        </p:spPr>
        <p:txBody>
          <a:bodyPr/>
          <a:lstStyle/>
          <a:p>
            <a:pPr algn="ctr"/>
            <a:r>
              <a:rPr lang="en-US" sz="4000" dirty="0"/>
              <a:t>Chapter 6</a:t>
            </a:r>
          </a:p>
        </p:txBody>
      </p:sp>
      <p:sp>
        <p:nvSpPr>
          <p:cNvPr id="27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A7AB7-D961-4CE0-8EC1-8747B9C4F9E9}" type="slidenum">
              <a:rPr lang="en-US"/>
              <a:pPr/>
              <a:t>2</a:t>
            </a:fld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239503E6-0400-464C-9594-A33DA3356EF0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4960137"/>
            <a:ext cx="5829300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0000"/>
                </a:solidFill>
              </a:rPr>
              <a:t>Transform and Conquer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006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396875" algn="l"/>
              </a:tabLst>
            </a:pPr>
            <a:r>
              <a:rPr lang="en-US" sz="2400" b="1" dirty="0">
                <a:solidFill>
                  <a:srgbClr val="FF0000"/>
                </a:solidFill>
              </a:rPr>
              <a:t>Introduction to Transform and Conquer technique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396875" algn="l"/>
              </a:tabLst>
            </a:pPr>
            <a:r>
              <a:rPr lang="en-US" altLang="en-US" sz="2400" b="1" i="1" dirty="0"/>
              <a:t>instance simplification</a:t>
            </a:r>
            <a:endParaRPr lang="en-US" sz="2400" b="1" dirty="0"/>
          </a:p>
          <a:p>
            <a:pPr marL="1090613" indent="-635000">
              <a:lnSpc>
                <a:spcPct val="100000"/>
              </a:lnSpc>
              <a:buFont typeface="Courier New" panose="02070309020205020404" pitchFamily="49" charset="0"/>
              <a:buChar char="o"/>
              <a:tabLst>
                <a:tab pos="396875" algn="l"/>
              </a:tabLst>
            </a:pPr>
            <a:r>
              <a:rPr lang="en-US" sz="2400" b="1" dirty="0"/>
              <a:t>Presorting</a:t>
            </a:r>
          </a:p>
          <a:p>
            <a:pPr marL="1090613" indent="-635000">
              <a:lnSpc>
                <a:spcPct val="100000"/>
              </a:lnSpc>
              <a:buFont typeface="Courier New" panose="02070309020205020404" pitchFamily="49" charset="0"/>
              <a:buChar char="o"/>
              <a:tabLst>
                <a:tab pos="396875" algn="l"/>
              </a:tabLst>
            </a:pPr>
            <a:r>
              <a:rPr lang="en-US" sz="2400" b="1" dirty="0"/>
              <a:t>Gaussian Elimination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396875" algn="l"/>
              </a:tabLst>
            </a:pPr>
            <a:r>
              <a:rPr lang="en-US" altLang="en-US" sz="2400" b="1" i="1" dirty="0"/>
              <a:t>representation change</a:t>
            </a:r>
            <a:endParaRPr lang="en-US" sz="2400" b="1" i="1" dirty="0"/>
          </a:p>
          <a:p>
            <a:pPr marL="1090613" indent="-635000">
              <a:lnSpc>
                <a:spcPct val="100000"/>
              </a:lnSpc>
              <a:buFont typeface="Courier New" panose="02070309020205020404" pitchFamily="49" charset="0"/>
              <a:buChar char="o"/>
              <a:tabLst>
                <a:tab pos="396875" algn="l"/>
              </a:tabLst>
            </a:pPr>
            <a:r>
              <a:rPr lang="en-US" sz="2400" b="1" dirty="0"/>
              <a:t>Balanced Search Trees</a:t>
            </a:r>
          </a:p>
          <a:p>
            <a:pPr marL="1090613" indent="-635000">
              <a:lnSpc>
                <a:spcPct val="100000"/>
              </a:lnSpc>
              <a:buFont typeface="Courier New" panose="02070309020205020404" pitchFamily="49" charset="0"/>
              <a:buChar char="o"/>
              <a:tabLst>
                <a:tab pos="396875" algn="l"/>
              </a:tabLst>
            </a:pPr>
            <a:r>
              <a:rPr lang="en-US" sz="2400" b="1" dirty="0"/>
              <a:t>Heaps and Heapsort</a:t>
            </a:r>
          </a:p>
        </p:txBody>
      </p:sp>
      <p:sp>
        <p:nvSpPr>
          <p:cNvPr id="27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A7AB7-D961-4CE0-8EC1-8747B9C4F9E9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40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0D07C2-06D7-46E5-84A0-BF52823C6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Transform and Conquer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A7DCE25-709A-4541-BA78-8654A5A87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7764344" cy="4023360"/>
          </a:xfrm>
        </p:spPr>
        <p:txBody>
          <a:bodyPr>
            <a:normAutofit fontScale="92500" lnSpcReduction="20000"/>
          </a:bodyPr>
          <a:lstStyle/>
          <a:p>
            <a:pPr marL="354013" indent="-35401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600" dirty="0"/>
              <a:t>This group of techniques solves a problem by </a:t>
            </a:r>
            <a:r>
              <a:rPr lang="en-US" altLang="en-US" sz="2600" i="1" dirty="0"/>
              <a:t>transformation</a:t>
            </a:r>
          </a:p>
          <a:p>
            <a:pPr marL="354013" indent="-35401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600" i="1" dirty="0"/>
              <a:t>Two Stage procedure </a:t>
            </a:r>
          </a:p>
          <a:p>
            <a:pPr marL="987425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400" i="1" dirty="0"/>
              <a:t>Transform</a:t>
            </a:r>
          </a:p>
          <a:p>
            <a:pPr marL="1076325" indent="-90488">
              <a:lnSpc>
                <a:spcPct val="150000"/>
              </a:lnSpc>
            </a:pPr>
            <a:r>
              <a:rPr lang="en-US" sz="2200" dirty="0"/>
              <a:t>The problem’s instance is modified to be more amenable to solution.</a:t>
            </a:r>
            <a:endParaRPr lang="en-US" altLang="en-US" sz="2200" i="1" dirty="0"/>
          </a:p>
          <a:p>
            <a:pPr marL="987425" indent="-45720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en-US" sz="2400" i="1" dirty="0"/>
              <a:t>Conquer</a:t>
            </a:r>
          </a:p>
          <a:p>
            <a:pPr marL="530225" indent="0">
              <a:lnSpc>
                <a:spcPct val="150000"/>
              </a:lnSpc>
              <a:buNone/>
            </a:pPr>
            <a:r>
              <a:rPr lang="en-US" altLang="en-US" sz="2400" i="1" dirty="0"/>
              <a:t> 	</a:t>
            </a:r>
            <a:r>
              <a:rPr lang="en-US" altLang="en-US" sz="2200" dirty="0"/>
              <a:t>Solve the Problem </a:t>
            </a:r>
            <a:endParaRPr lang="en-US" alt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94A2A62-4069-48B8-904A-1D7D40F61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dirty="0"/>
              <a:t>4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514186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0D07C2-06D7-46E5-84A0-BF52823C6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Transform and Conquer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A7DCE25-709A-4541-BA78-8654A5A87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7764344" cy="4311352"/>
          </a:xfrm>
        </p:spPr>
        <p:txBody>
          <a:bodyPr>
            <a:normAutofit/>
          </a:bodyPr>
          <a:lstStyle/>
          <a:p>
            <a:pPr marL="354013" indent="-35401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b="1" dirty="0"/>
              <a:t>There are three major variations of transformation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94A2A62-4069-48B8-904A-1D7D40F61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5</a:t>
            </a:r>
            <a:endParaRPr lang="ar-S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689B6E3-7DC3-49F9-8E6D-293A45EEC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06" y="3524714"/>
            <a:ext cx="8620723" cy="191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192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0D07C2-06D7-46E5-84A0-BF52823C6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Transform and Conquer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A7DCE25-709A-4541-BA78-8654A5A87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313764"/>
            <a:ext cx="7764344" cy="4311352"/>
          </a:xfrm>
        </p:spPr>
        <p:txBody>
          <a:bodyPr>
            <a:normAutofit lnSpcReduction="10000"/>
          </a:bodyPr>
          <a:lstStyle/>
          <a:p>
            <a:pPr marL="354013" indent="-35401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b="1" dirty="0"/>
              <a:t>There are three major variations of transformation</a:t>
            </a:r>
          </a:p>
          <a:p>
            <a:pPr marL="354013" indent="-35401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b="1" i="1" dirty="0"/>
              <a:t>instance simplification : </a:t>
            </a:r>
            <a:r>
              <a:rPr lang="en-US" altLang="en-US" sz="2200" dirty="0"/>
              <a:t>transform to </a:t>
            </a:r>
            <a:r>
              <a:rPr lang="en-US" altLang="en-US" sz="2200" b="1" dirty="0">
                <a:solidFill>
                  <a:srgbClr val="FF0000"/>
                </a:solidFill>
              </a:rPr>
              <a:t>a simpler/more convenient </a:t>
            </a:r>
            <a:r>
              <a:rPr lang="en-US" altLang="en-US" sz="2200" dirty="0"/>
              <a:t>instance of the same  problem </a:t>
            </a:r>
            <a:endParaRPr lang="en-US" altLang="en-US" sz="2200" i="1" dirty="0"/>
          </a:p>
          <a:p>
            <a:pPr marL="354013" indent="-35401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b="1" i="1" dirty="0"/>
              <a:t>representation change: </a:t>
            </a:r>
            <a:r>
              <a:rPr lang="en-US" altLang="en-US" sz="2200" dirty="0"/>
              <a:t>transform to  a </a:t>
            </a:r>
            <a:r>
              <a:rPr lang="en-US" altLang="en-US" sz="2200" b="1" dirty="0">
                <a:solidFill>
                  <a:srgbClr val="FF0000"/>
                </a:solidFill>
              </a:rPr>
              <a:t>different representation </a:t>
            </a:r>
            <a:r>
              <a:rPr lang="en-US" altLang="en-US" sz="2200" dirty="0"/>
              <a:t>of the same instance</a:t>
            </a:r>
          </a:p>
          <a:p>
            <a:pPr marL="354013" indent="-35401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b="1" i="1" dirty="0"/>
              <a:t>problem reduction: </a:t>
            </a:r>
            <a:r>
              <a:rPr lang="en-US" altLang="en-US" sz="2200" dirty="0"/>
              <a:t>transform to </a:t>
            </a:r>
            <a:r>
              <a:rPr lang="en-US" altLang="en-US" sz="2200" b="1" dirty="0">
                <a:solidFill>
                  <a:srgbClr val="FF0000"/>
                </a:solidFill>
              </a:rPr>
              <a:t>a different problem </a:t>
            </a:r>
            <a:r>
              <a:rPr lang="en-US" altLang="en-US" sz="2200" dirty="0"/>
              <a:t>for which an algorithm is already available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94A2A62-4069-48B8-904A-1D7D40F61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6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134814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396875" algn="l"/>
              </a:tabLst>
            </a:pPr>
            <a:r>
              <a:rPr lang="en-US" sz="2400" b="1" dirty="0"/>
              <a:t>Introduction to Transform and Conquer technique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396875" algn="l"/>
              </a:tabLst>
            </a:pPr>
            <a:r>
              <a:rPr lang="en-US" altLang="en-US" sz="2400" b="1" i="1" dirty="0">
                <a:solidFill>
                  <a:srgbClr val="FF0000"/>
                </a:solidFill>
              </a:rPr>
              <a:t>instance simplification</a:t>
            </a:r>
            <a:endParaRPr lang="en-US" sz="2400" b="1" dirty="0">
              <a:solidFill>
                <a:srgbClr val="FF0000"/>
              </a:solidFill>
            </a:endParaRPr>
          </a:p>
          <a:p>
            <a:pPr marL="1090613" indent="-635000">
              <a:lnSpc>
                <a:spcPct val="100000"/>
              </a:lnSpc>
              <a:buFont typeface="Courier New" panose="02070309020205020404" pitchFamily="49" charset="0"/>
              <a:buChar char="o"/>
              <a:tabLst>
                <a:tab pos="396875" algn="l"/>
              </a:tabLst>
            </a:pPr>
            <a:r>
              <a:rPr lang="en-US" sz="2400" b="1" dirty="0">
                <a:solidFill>
                  <a:srgbClr val="FF0000"/>
                </a:solidFill>
              </a:rPr>
              <a:t>Presorting</a:t>
            </a:r>
          </a:p>
          <a:p>
            <a:pPr marL="1090613" indent="-635000">
              <a:lnSpc>
                <a:spcPct val="100000"/>
              </a:lnSpc>
              <a:buFont typeface="Courier New" panose="02070309020205020404" pitchFamily="49" charset="0"/>
              <a:buChar char="o"/>
              <a:tabLst>
                <a:tab pos="396875" algn="l"/>
              </a:tabLst>
            </a:pPr>
            <a:r>
              <a:rPr lang="en-US" sz="2400" b="1" dirty="0"/>
              <a:t>Gaussian Elimination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396875" algn="l"/>
              </a:tabLst>
            </a:pPr>
            <a:r>
              <a:rPr lang="en-US" altLang="en-US" sz="2400" b="1" i="1" dirty="0"/>
              <a:t>representation change</a:t>
            </a:r>
            <a:endParaRPr lang="en-US" sz="2400" b="1" i="1" dirty="0"/>
          </a:p>
          <a:p>
            <a:pPr marL="1090613" indent="-635000">
              <a:lnSpc>
                <a:spcPct val="100000"/>
              </a:lnSpc>
              <a:buFont typeface="Courier New" panose="02070309020205020404" pitchFamily="49" charset="0"/>
              <a:buChar char="o"/>
              <a:tabLst>
                <a:tab pos="396875" algn="l"/>
              </a:tabLst>
            </a:pPr>
            <a:r>
              <a:rPr lang="en-US" sz="2400" b="1" dirty="0"/>
              <a:t>Balanced Search Trees</a:t>
            </a:r>
          </a:p>
          <a:p>
            <a:pPr marL="1090613" indent="-635000">
              <a:lnSpc>
                <a:spcPct val="100000"/>
              </a:lnSpc>
              <a:buFont typeface="Courier New" panose="02070309020205020404" pitchFamily="49" charset="0"/>
              <a:buChar char="o"/>
              <a:tabLst>
                <a:tab pos="396875" algn="l"/>
              </a:tabLst>
            </a:pPr>
            <a:r>
              <a:rPr lang="en-US" sz="2400" b="1" dirty="0"/>
              <a:t>Heaps and Heapsort</a:t>
            </a:r>
          </a:p>
        </p:txBody>
      </p:sp>
      <p:sp>
        <p:nvSpPr>
          <p:cNvPr id="27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A7AB7-D961-4CE0-8EC1-8747B9C4F9E9}" type="slidenum">
              <a:rPr lang="en-US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212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0D07C2-06D7-46E5-84A0-BF52823C6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Instance simplification - Presorting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A7DCE25-709A-4541-BA78-8654A5A87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7908360" cy="4311352"/>
          </a:xfrm>
        </p:spPr>
        <p:txBody>
          <a:bodyPr>
            <a:normAutofit/>
          </a:bodyPr>
          <a:lstStyle/>
          <a:p>
            <a:pPr marL="530225" indent="-530225">
              <a:buFont typeface="Wingdings" panose="05000000000000000000" pitchFamily="2" charset="2"/>
              <a:buChar char="v"/>
            </a:pPr>
            <a:r>
              <a:rPr lang="en-US" altLang="en-US" sz="2400" dirty="0"/>
              <a:t>Solve a problem’s instance  by transforming it into another simpler/easier instance of the same problem</a:t>
            </a:r>
          </a:p>
          <a:p>
            <a:pPr marL="354013" indent="-35401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u="sng" dirty="0"/>
              <a:t>Presorting:</a:t>
            </a:r>
          </a:p>
          <a:p>
            <a:pPr marL="354013" indent="-35401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/>
              <a:t>Many problems involving lists are easier when list is sorted</a:t>
            </a:r>
          </a:p>
          <a:p>
            <a:pPr marL="987425" indent="-457200">
              <a:buFont typeface="+mj-lt"/>
              <a:buAutoNum type="arabicPeriod"/>
            </a:pPr>
            <a:r>
              <a:rPr lang="en-US" altLang="en-US" sz="2400" dirty="0"/>
              <a:t>searching </a:t>
            </a:r>
          </a:p>
          <a:p>
            <a:pPr marL="987425" indent="-457200">
              <a:buFont typeface="+mj-lt"/>
              <a:buAutoNum type="arabicPeriod"/>
            </a:pPr>
            <a:r>
              <a:rPr lang="en-US" altLang="en-US" sz="2400" dirty="0"/>
              <a:t>checking if all elements  are distinct (element uniqueness)</a:t>
            </a:r>
          </a:p>
          <a:p>
            <a:pPr marL="987425" indent="-457200">
              <a:buFont typeface="+mj-lt"/>
              <a:buAutoNum type="arabicPeriod"/>
            </a:pPr>
            <a:r>
              <a:rPr lang="en-US" altLang="en-US" sz="2400" dirty="0"/>
              <a:t>Computing the mode of a list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94A2A62-4069-48B8-904A-1D7D40F61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8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85295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D8E7E4-A4D6-4167-AB97-EF5D20BC5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How fast can we sort 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01A54A-9D1B-4E05-BF33-2A1718B80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7290054" cy="4023360"/>
          </a:xfrm>
        </p:spPr>
        <p:txBody>
          <a:bodyPr>
            <a:normAutofit/>
          </a:bodyPr>
          <a:lstStyle/>
          <a:p>
            <a:pPr marL="4064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/>
              <a:t>Efficiency of algorithms involving sorting depends on efficiency of sorting.</a:t>
            </a:r>
          </a:p>
          <a:p>
            <a:pPr marL="900113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200" dirty="0"/>
              <a:t>Selection and Insertion Sort O (n</a:t>
            </a:r>
            <a:r>
              <a:rPr lang="en-US" altLang="en-US" sz="2200" baseline="30000" dirty="0"/>
              <a:t>2</a:t>
            </a:r>
            <a:r>
              <a:rPr lang="en-US" altLang="en-US" sz="2200" dirty="0"/>
              <a:t>)</a:t>
            </a:r>
          </a:p>
          <a:p>
            <a:pPr marL="900113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200" dirty="0"/>
              <a:t>Bubble Sort O(n</a:t>
            </a:r>
            <a:r>
              <a:rPr lang="en-US" altLang="en-US" sz="2200" baseline="30000" dirty="0"/>
              <a:t>2</a:t>
            </a:r>
            <a:r>
              <a:rPr lang="en-US" altLang="en-US" sz="2200" dirty="0"/>
              <a:t>)</a:t>
            </a:r>
          </a:p>
          <a:p>
            <a:pPr marL="900113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200" dirty="0"/>
              <a:t>Quick and Merge Sort  O (</a:t>
            </a:r>
            <a:r>
              <a:rPr lang="en-US" altLang="en-US" sz="2200" dirty="0" err="1"/>
              <a:t>nlogn</a:t>
            </a:r>
            <a:r>
              <a:rPr lang="en-US" altLang="en-US" sz="2200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56ED63D-FDF2-4665-9FEB-8F392428E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9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113580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D8E7E4-A4D6-4167-AB97-EF5D20BC5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How fast can we sort 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01A54A-9D1B-4E05-BF33-2A1718B80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7290054" cy="4023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u="sng" dirty="0">
                <a:solidFill>
                  <a:srgbClr val="FF0000"/>
                </a:solidFill>
              </a:rPr>
              <a:t>Theorem</a:t>
            </a:r>
            <a:r>
              <a:rPr lang="en-US" altLang="en-US" sz="2400" dirty="0">
                <a:solidFill>
                  <a:srgbClr val="FF0000"/>
                </a:solidFill>
              </a:rPr>
              <a:t> : </a:t>
            </a:r>
            <a:r>
              <a:rPr lang="en-US" altLang="en-US" sz="2400" i="1" dirty="0">
                <a:sym typeface="Symbol" panose="05050102010706020507" pitchFamily="18" charset="2"/>
              </a:rPr>
              <a:t>n </a:t>
            </a:r>
            <a:r>
              <a:rPr lang="en-US" altLang="en-US" sz="2400" dirty="0"/>
              <a:t>log</a:t>
            </a:r>
            <a:r>
              <a:rPr lang="en-US" altLang="en-US" sz="2400" baseline="-25000" dirty="0"/>
              <a:t>2 </a:t>
            </a:r>
            <a:r>
              <a:rPr lang="en-US" altLang="en-US" sz="2400" i="1" dirty="0"/>
              <a:t>n  </a:t>
            </a:r>
            <a:r>
              <a:rPr lang="en-US" altLang="en-US" sz="2400" dirty="0"/>
              <a:t>comparisons are necessary in the worst case to sort a list of size </a:t>
            </a:r>
            <a:r>
              <a:rPr lang="en-US" altLang="en-US" sz="2400" i="1" dirty="0"/>
              <a:t>n</a:t>
            </a:r>
            <a:r>
              <a:rPr lang="en-US" altLang="en-US" sz="2400" dirty="0"/>
              <a:t> by </a:t>
            </a:r>
            <a:r>
              <a:rPr lang="en-US" altLang="en-US" sz="2400" u="sng" dirty="0"/>
              <a:t>any</a:t>
            </a:r>
            <a:r>
              <a:rPr lang="en-US" altLang="en-US" sz="2400" dirty="0"/>
              <a:t> comparison-based algorithm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/>
              <a:t>Note: About </a:t>
            </a:r>
            <a:r>
              <a:rPr lang="en-US" altLang="en-US" sz="2400" i="1" dirty="0"/>
              <a:t>n</a:t>
            </a:r>
            <a:r>
              <a:rPr lang="en-US" altLang="en-US" sz="2400" dirty="0"/>
              <a:t>log</a:t>
            </a:r>
            <a:r>
              <a:rPr lang="en-US" altLang="en-US" sz="2400" baseline="-25000" dirty="0"/>
              <a:t>2 </a:t>
            </a:r>
            <a:r>
              <a:rPr lang="en-US" altLang="en-US" sz="2400" i="1" dirty="0"/>
              <a:t>n</a:t>
            </a:r>
            <a:r>
              <a:rPr lang="en-US" altLang="en-US" sz="2400" dirty="0"/>
              <a:t> comparisons are also sufficient to sort array of size </a:t>
            </a:r>
            <a:r>
              <a:rPr lang="en-US" altLang="en-US" sz="2400" i="1" dirty="0"/>
              <a:t>n </a:t>
            </a:r>
            <a:r>
              <a:rPr lang="en-US" altLang="en-US" sz="2400" dirty="0"/>
              <a:t>(</a:t>
            </a:r>
            <a:r>
              <a:rPr lang="en-US" altLang="en-US" sz="2400" b="1" dirty="0" err="1">
                <a:solidFill>
                  <a:srgbClr val="FF0000"/>
                </a:solidFill>
              </a:rPr>
              <a:t>mergesort</a:t>
            </a:r>
            <a:r>
              <a:rPr lang="en-US" altLang="en-US" sz="2400" dirty="0"/>
              <a:t>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56ED63D-FDF2-4665-9FEB-8F392428E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10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53240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D8E7E4-A4D6-4167-AB97-EF5D20BC5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Searching with presorting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01A54A-9D1B-4E05-BF33-2A1718B80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7764344" cy="4023360"/>
          </a:xfrm>
        </p:spPr>
        <p:txBody>
          <a:bodyPr>
            <a:normAutofit/>
          </a:bodyPr>
          <a:lstStyle/>
          <a:p>
            <a:pPr marL="354013" indent="-354013">
              <a:buFont typeface="Wingdings" panose="05000000000000000000" pitchFamily="2" charset="2"/>
              <a:buChar char="v"/>
            </a:pPr>
            <a:r>
              <a:rPr lang="en-US" altLang="en-US" sz="2400" dirty="0"/>
              <a:t>Problem: Search for a given </a:t>
            </a:r>
            <a:r>
              <a:rPr lang="en-US" altLang="en-US" sz="2400" i="1" dirty="0"/>
              <a:t>K</a:t>
            </a:r>
            <a:r>
              <a:rPr lang="en-US" altLang="en-US" sz="2400" dirty="0"/>
              <a:t> in A[0..</a:t>
            </a:r>
            <a:r>
              <a:rPr lang="en-US" altLang="en-US" sz="2400" i="1" dirty="0"/>
              <a:t>n</a:t>
            </a:r>
            <a:r>
              <a:rPr lang="en-US" altLang="en-US" sz="2400" dirty="0"/>
              <a:t>-1]</a:t>
            </a:r>
            <a:r>
              <a:rPr lang="en-US" altLang="en-US" sz="2800" dirty="0"/>
              <a:t>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sz="2400" b="1" dirty="0"/>
              <a:t>Presorting-based algorithm:</a:t>
            </a:r>
          </a:p>
          <a:p>
            <a:pPr marL="530225" indent="-280988">
              <a:buFont typeface="Courier New" panose="02070309020205020404" pitchFamily="49" charset="0"/>
              <a:buChar char="o"/>
            </a:pPr>
            <a:r>
              <a:rPr lang="en-US" altLang="en-US" sz="2400" dirty="0"/>
              <a:t>Stage 1 : Sort the array by an efficient sorting algorithm</a:t>
            </a:r>
          </a:p>
          <a:p>
            <a:pPr marL="530225" indent="-280988">
              <a:buFont typeface="Courier New" panose="02070309020205020404" pitchFamily="49" charset="0"/>
              <a:buChar char="o"/>
            </a:pPr>
            <a:r>
              <a:rPr lang="en-US" altLang="en-US" sz="2400" dirty="0"/>
              <a:t>Stage 2  : Apply binary search </a:t>
            </a:r>
          </a:p>
          <a:p>
            <a:pPr marL="0" indent="0" algn="ctr"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Efficiency: </a:t>
            </a:r>
            <a:r>
              <a:rPr lang="el-GR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Θ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400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log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) + O(log </a:t>
            </a:r>
            <a:r>
              <a:rPr lang="en-US" altLang="en-US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) = </a:t>
            </a:r>
            <a:r>
              <a:rPr lang="el-GR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Θ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400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log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) </a:t>
            </a:r>
          </a:p>
          <a:p>
            <a:pPr marL="290513" indent="-290513">
              <a:buNone/>
            </a:pPr>
            <a:r>
              <a:rPr lang="en-US" altLang="en-US" sz="2400" b="1" dirty="0"/>
              <a:t>Good or bad?</a:t>
            </a:r>
          </a:p>
          <a:p>
            <a:pPr marL="290513" indent="-290513">
              <a:buNone/>
            </a:pPr>
            <a:r>
              <a:rPr lang="en-US" altLang="en-US" sz="2400" dirty="0"/>
              <a:t>Why do we have our dictionaries, telephone directories, etc. sorted?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56ED63D-FDF2-4665-9FEB-8F392428E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11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72859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5718FA-7023-4A8A-AA5D-F28DA88E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Searching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F28CEA3-64CA-4ACF-B486-625D3E9DD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12</a:t>
            </a:r>
            <a:endParaRPr lang="ar-SA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xmlns="" id="{68981A58-F6EA-434B-99D7-72DB7C0B8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973" y="2603300"/>
            <a:ext cx="7290054" cy="3635224"/>
          </a:xfrm>
        </p:spPr>
        <p:txBody>
          <a:bodyPr>
            <a:normAutofit/>
          </a:bodyPr>
          <a:lstStyle/>
          <a:p>
            <a:r>
              <a:rPr lang="en-US" altLang="en-US" dirty="0"/>
              <a:t>Sort the array by Merge sort algorithm ( O(n log n)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the Key Value ( 7 ) using Binary Search ( log n 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Found !</a:t>
            </a:r>
          </a:p>
        </p:txBody>
      </p:sp>
      <p:graphicFrame>
        <p:nvGraphicFramePr>
          <p:cNvPr id="12" name="Content Placeholder 8">
            <a:extLst>
              <a:ext uri="{FF2B5EF4-FFF2-40B4-BE49-F238E27FC236}">
                <a16:creationId xmlns:a16="http://schemas.microsoft.com/office/drawing/2014/main" xmlns="" id="{A07263F9-9F63-4BAE-BA26-52166BBF20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6418241"/>
              </p:ext>
            </p:extLst>
          </p:nvPr>
        </p:nvGraphicFramePr>
        <p:xfrm>
          <a:off x="1115616" y="1899412"/>
          <a:ext cx="65608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xmlns="" val="3815727017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3315948993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2727283025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094916115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161318824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409023478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976463986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26744790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3929424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55961813"/>
                  </a:ext>
                </a:extLst>
              </a:tr>
            </a:tbl>
          </a:graphicData>
        </a:graphic>
      </p:graphicFrame>
      <p:graphicFrame>
        <p:nvGraphicFramePr>
          <p:cNvPr id="13" name="Content Placeholder 8">
            <a:extLst>
              <a:ext uri="{FF2B5EF4-FFF2-40B4-BE49-F238E27FC236}">
                <a16:creationId xmlns:a16="http://schemas.microsoft.com/office/drawing/2014/main" xmlns="" id="{05D28D81-1189-4F69-A4BC-367785171D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4943771"/>
              </p:ext>
            </p:extLst>
          </p:nvPr>
        </p:nvGraphicFramePr>
        <p:xfrm>
          <a:off x="1115616" y="3156912"/>
          <a:ext cx="65608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xmlns="" val="3815727017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3315948993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2727283025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094916115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161318824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409023478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976463986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26744790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3929424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55961813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382F3DEA-A9CA-43F0-AEDF-08CD8EA99E3D}"/>
              </a:ext>
            </a:extLst>
          </p:cNvPr>
          <p:cNvCxnSpPr>
            <a:cxnSpLocks/>
          </p:cNvCxnSpPr>
          <p:nvPr/>
        </p:nvCxnSpPr>
        <p:spPr>
          <a:xfrm flipV="1">
            <a:off x="4397740" y="3486850"/>
            <a:ext cx="10284" cy="36004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xmlns="" id="{E2FC135E-D955-40B6-8316-C556863FDE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395152"/>
              </p:ext>
            </p:extLst>
          </p:nvPr>
        </p:nvGraphicFramePr>
        <p:xfrm>
          <a:off x="3319780" y="4640426"/>
          <a:ext cx="29159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xmlns="" val="956485752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996697257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3986523887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1830380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20036448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5DE8248F-191A-4FB6-A556-C3AD36D85B8E}"/>
              </a:ext>
            </a:extLst>
          </p:cNvPr>
          <p:cNvCxnSpPr>
            <a:cxnSpLocks/>
          </p:cNvCxnSpPr>
          <p:nvPr/>
        </p:nvCxnSpPr>
        <p:spPr>
          <a:xfrm flipV="1">
            <a:off x="4448698" y="4994079"/>
            <a:ext cx="10284" cy="36004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Left Brace 2">
            <a:extLst>
              <a:ext uri="{FF2B5EF4-FFF2-40B4-BE49-F238E27FC236}">
                <a16:creationId xmlns:a16="http://schemas.microsoft.com/office/drawing/2014/main" xmlns="" id="{39BFDE8E-F451-46CC-840F-0945D18BAAFF}"/>
              </a:ext>
            </a:extLst>
          </p:cNvPr>
          <p:cNvSpPr/>
          <p:nvPr/>
        </p:nvSpPr>
        <p:spPr>
          <a:xfrm rot="16200000">
            <a:off x="6110089" y="2622654"/>
            <a:ext cx="481554" cy="232636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78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D8E7E4-A4D6-4167-AB97-EF5D20BC5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Element Uniqueness with presorting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01A54A-9D1B-4E05-BF33-2A1718B80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7908360" cy="4023360"/>
          </a:xfrm>
        </p:spPr>
        <p:txBody>
          <a:bodyPr>
            <a:normAutofit/>
          </a:bodyPr>
          <a:lstStyle/>
          <a:p>
            <a:pPr marL="530225" indent="-530225">
              <a:buFont typeface="Wingdings" panose="05000000000000000000" pitchFamily="2" charset="2"/>
              <a:buChar char="v"/>
            </a:pPr>
            <a:r>
              <a:rPr lang="en-US" altLang="en-US" sz="2400" dirty="0"/>
              <a:t>Presorting-based algorithm</a:t>
            </a:r>
          </a:p>
          <a:p>
            <a:pPr marL="530225" indent="-354013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2400" dirty="0"/>
              <a:t>Stage 1 : Sort the array by an efficient sorting algorithm</a:t>
            </a:r>
          </a:p>
          <a:p>
            <a:pPr marL="530225" lvl="1" indent="-354013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2400" dirty="0">
                <a:cs typeface="Times New Roman" panose="02020603050405020304" pitchFamily="18" charset="0"/>
              </a:rPr>
              <a:t>Stage 2: scan array to check pairs of adjacent elements</a:t>
            </a:r>
          </a:p>
          <a:p>
            <a:pPr lvl="1" algn="ctr">
              <a:lnSpc>
                <a:spcPct val="150000"/>
              </a:lnSpc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Efficiency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: </a:t>
            </a:r>
            <a:r>
              <a:rPr lang="el-GR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Θ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400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log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) + O(</a:t>
            </a:r>
            <a:r>
              <a:rPr lang="en-US" altLang="en-US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) = </a:t>
            </a:r>
            <a:r>
              <a:rPr lang="el-GR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Θ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400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log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endParaRPr lang="el-GR" altLang="en-US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/>
              <a:t>Brute force algorithm : 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Times New Roman" panose="02020603050405020304" pitchFamily="18" charset="0"/>
              </a:rPr>
              <a:t>Compare all pairs of elements</a:t>
            </a:r>
          </a:p>
          <a:p>
            <a:pPr algn="ctr">
              <a:lnSpc>
                <a:spcPct val="15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  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Efficiency: O(n</a:t>
            </a:r>
            <a:r>
              <a:rPr lang="en-US" altLang="en-US" sz="2400" baseline="30000" dirty="0">
                <a:solidFill>
                  <a:srgbClr val="FF000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56ED63D-FDF2-4665-9FEB-8F392428E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13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36193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xmlns="" id="{D11C3460-C106-4BD7-8F11-37792C2C4388}"/>
              </a:ext>
            </a:extLst>
          </p:cNvPr>
          <p:cNvSpPr txBox="1">
            <a:spLocks/>
          </p:cNvSpPr>
          <p:nvPr/>
        </p:nvSpPr>
        <p:spPr>
          <a:xfrm>
            <a:off x="356616" y="1738676"/>
            <a:ext cx="7290054" cy="360044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3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Sort the array by Merge sort algorithm ( O(n log n)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Compare the Adjacent pairs  O(n 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5718FA-7023-4A8A-AA5D-F28DA88E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F28CEA3-64CA-4ACF-B486-625D3E9DD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14</a:t>
            </a:r>
            <a:endParaRPr lang="ar-SA" dirty="0"/>
          </a:p>
        </p:txBody>
      </p:sp>
      <p:graphicFrame>
        <p:nvGraphicFramePr>
          <p:cNvPr id="12" name="Content Placeholder 8">
            <a:extLst>
              <a:ext uri="{FF2B5EF4-FFF2-40B4-BE49-F238E27FC236}">
                <a16:creationId xmlns:a16="http://schemas.microsoft.com/office/drawing/2014/main" xmlns="" id="{A07263F9-9F63-4BAE-BA26-52166BBF20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3458646"/>
              </p:ext>
            </p:extLst>
          </p:nvPr>
        </p:nvGraphicFramePr>
        <p:xfrm>
          <a:off x="1132713" y="2338080"/>
          <a:ext cx="65608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xmlns="" val="3815727017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3315948993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2727283025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094916115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161318824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409023478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976463986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26744790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3929424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55961813"/>
                  </a:ext>
                </a:extLst>
              </a:tr>
            </a:tbl>
          </a:graphicData>
        </a:graphic>
      </p:graphicFrame>
      <p:graphicFrame>
        <p:nvGraphicFramePr>
          <p:cNvPr id="13" name="Content Placeholder 8">
            <a:extLst>
              <a:ext uri="{FF2B5EF4-FFF2-40B4-BE49-F238E27FC236}">
                <a16:creationId xmlns:a16="http://schemas.microsoft.com/office/drawing/2014/main" xmlns="" id="{05D28D81-1189-4F69-A4BC-367785171D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7777112"/>
              </p:ext>
            </p:extLst>
          </p:nvPr>
        </p:nvGraphicFramePr>
        <p:xfrm>
          <a:off x="1291590" y="3538896"/>
          <a:ext cx="65608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xmlns="" val="3815727017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3315948993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2727283025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094916115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161318824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409023478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976463986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26744790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3929424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55961813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565658A4-AAA0-4083-B222-F407F932F73F}"/>
              </a:ext>
            </a:extLst>
          </p:cNvPr>
          <p:cNvGrpSpPr/>
          <p:nvPr/>
        </p:nvGrpSpPr>
        <p:grpSpPr>
          <a:xfrm>
            <a:off x="1634420" y="3890544"/>
            <a:ext cx="739518" cy="368205"/>
            <a:chOff x="-1476672" y="2132193"/>
            <a:chExt cx="739518" cy="368205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xmlns="" id="{EC65E7B9-BE42-4DA9-8C98-81C6A16931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467518" y="2132193"/>
              <a:ext cx="10284" cy="36004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xmlns="" id="{9251F51D-03AD-4A1D-BC27-8F5F484B56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747438" y="2140358"/>
              <a:ext cx="10284" cy="36004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4667EA12-9D91-4017-89DC-3788B4435A97}"/>
                </a:ext>
              </a:extLst>
            </p:cNvPr>
            <p:cNvCxnSpPr/>
            <p:nvPr/>
          </p:nvCxnSpPr>
          <p:spPr>
            <a:xfrm>
              <a:off x="-1476672" y="2477046"/>
              <a:ext cx="739518" cy="1518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24" name="Content Placeholder 8">
            <a:extLst>
              <a:ext uri="{FF2B5EF4-FFF2-40B4-BE49-F238E27FC236}">
                <a16:creationId xmlns:a16="http://schemas.microsoft.com/office/drawing/2014/main" xmlns="" id="{BD43952A-346F-4A55-A76A-2C73292C16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1136364"/>
              </p:ext>
            </p:extLst>
          </p:nvPr>
        </p:nvGraphicFramePr>
        <p:xfrm>
          <a:off x="1301156" y="4872520"/>
          <a:ext cx="65608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xmlns="" val="3815727017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3315948993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2727283025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094916115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161318824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409023478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976463986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26744790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3929424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55961813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xmlns="" id="{B9D3E9C0-AE3B-45C9-9053-A0DC6051DF3F}"/>
              </a:ext>
            </a:extLst>
          </p:cNvPr>
          <p:cNvGrpSpPr/>
          <p:nvPr/>
        </p:nvGrpSpPr>
        <p:grpSpPr>
          <a:xfrm>
            <a:off x="2392322" y="5224168"/>
            <a:ext cx="739518" cy="368205"/>
            <a:chOff x="-1476672" y="2132193"/>
            <a:chExt cx="739518" cy="368205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xmlns="" id="{95F38864-0700-4E02-BFAD-163C3DFB7B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467518" y="2132193"/>
              <a:ext cx="10284" cy="36004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xmlns="" id="{43381920-9219-45B2-BBC9-66FD15029D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747438" y="2140358"/>
              <a:ext cx="10284" cy="36004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xmlns="" id="{61258B0A-A963-4767-AB8C-0FF9748B38C4}"/>
                </a:ext>
              </a:extLst>
            </p:cNvPr>
            <p:cNvCxnSpPr/>
            <p:nvPr/>
          </p:nvCxnSpPr>
          <p:spPr>
            <a:xfrm>
              <a:off x="-1476672" y="2477046"/>
              <a:ext cx="739518" cy="1518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29" name="Content Placeholder 8">
            <a:extLst>
              <a:ext uri="{FF2B5EF4-FFF2-40B4-BE49-F238E27FC236}">
                <a16:creationId xmlns:a16="http://schemas.microsoft.com/office/drawing/2014/main" xmlns="" id="{65ACBB13-4ED7-4CF6-9BED-AEB786CA61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2953636"/>
              </p:ext>
            </p:extLst>
          </p:nvPr>
        </p:nvGraphicFramePr>
        <p:xfrm>
          <a:off x="1328042" y="5835304"/>
          <a:ext cx="65608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xmlns="" val="3815727017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3315948993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2727283025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094916115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161318824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409023478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976463986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26744790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3929424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55961813"/>
                  </a:ext>
                </a:extLst>
              </a:tr>
            </a:tbl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xmlns="" id="{57DD2643-B58A-489C-AD8B-AC2C331C1627}"/>
              </a:ext>
            </a:extLst>
          </p:cNvPr>
          <p:cNvGrpSpPr/>
          <p:nvPr/>
        </p:nvGrpSpPr>
        <p:grpSpPr>
          <a:xfrm>
            <a:off x="3131840" y="6186952"/>
            <a:ext cx="739518" cy="368205"/>
            <a:chOff x="-1476672" y="2132193"/>
            <a:chExt cx="739518" cy="368205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xmlns="" id="{BADAE774-4D0F-403F-9B88-EC2A92832F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467518" y="2132193"/>
              <a:ext cx="10284" cy="36004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xmlns="" id="{C8FEAA8E-58DC-4C9D-8FC2-5B56C196D2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747438" y="2140358"/>
              <a:ext cx="10284" cy="36004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xmlns="" id="{F89864AF-0569-4A3D-889E-343E00E88B92}"/>
                </a:ext>
              </a:extLst>
            </p:cNvPr>
            <p:cNvCxnSpPr/>
            <p:nvPr/>
          </p:nvCxnSpPr>
          <p:spPr>
            <a:xfrm>
              <a:off x="-1476672" y="2477046"/>
              <a:ext cx="739518" cy="1518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92792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D8E7E4-A4D6-4167-AB97-EF5D20BC5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a mode </a:t>
            </a:r>
            <a:r>
              <a:rPr lang="en-US" altLang="en-US" dirty="0"/>
              <a:t>with presorting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9701A54A-9D1B-4E05-BF33-2A1718B806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8096" y="2286000"/>
                <a:ext cx="7764344" cy="418470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A </a:t>
                </a:r>
                <a:r>
                  <a:rPr lang="en-US" sz="2400" b="1" i="1" dirty="0"/>
                  <a:t>mode </a:t>
                </a:r>
                <a:r>
                  <a:rPr lang="en-US" sz="2400" dirty="0"/>
                  <a:t>is a value that occurs most often in a given list of numbers</a:t>
                </a:r>
              </a:p>
              <a:p>
                <a:pPr marL="0" indent="0">
                  <a:buNone/>
                </a:pPr>
                <a:endParaRPr lang="en-US" altLang="en-US" sz="2400" dirty="0"/>
              </a:p>
              <a:p>
                <a:pPr marL="530225" indent="-530225">
                  <a:buFont typeface="Wingdings" panose="05000000000000000000" pitchFamily="2" charset="2"/>
                  <a:buChar char="v"/>
                </a:pPr>
                <a:r>
                  <a:rPr lang="en-US" altLang="en-US" sz="2400" dirty="0"/>
                  <a:t>The Mode is 6 .</a:t>
                </a:r>
                <a:endParaRPr lang="en-US" altLang="en-US" sz="2400" dirty="0">
                  <a:cs typeface="Times New Roman" panose="02020603050405020304" pitchFamily="18" charset="0"/>
                </a:endParaRPr>
              </a:p>
              <a:p>
                <a:r>
                  <a:rPr lang="en-US" sz="2400" b="1" i="1" dirty="0"/>
                  <a:t>The brute-force approach: </a:t>
                </a:r>
                <a:r>
                  <a:rPr lang="en-US" sz="2400" b="1" i="1" dirty="0">
                    <a:solidFill>
                      <a:srgbClr val="FF0000"/>
                    </a:solidFill>
                  </a:rPr>
                  <a:t>O( n</a:t>
                </a:r>
                <a:r>
                  <a:rPr lang="en-US" sz="2400" b="1" i="1" baseline="30000" dirty="0">
                    <a:solidFill>
                      <a:srgbClr val="FF0000"/>
                    </a:solidFill>
                  </a:rPr>
                  <a:t>2</a:t>
                </a:r>
                <a:r>
                  <a:rPr lang="en-US" sz="2400" b="1" i="1" dirty="0">
                    <a:solidFill>
                      <a:srgbClr val="FF0000"/>
                    </a:solidFill>
                  </a:rPr>
                  <a:t>)</a:t>
                </a:r>
              </a:p>
              <a:p>
                <a:pPr marL="354013" indent="-354013">
                  <a:buFont typeface="Courier New" panose="02070309020205020404" pitchFamily="49" charset="0"/>
                  <a:buChar char="o"/>
                </a:pPr>
                <a:r>
                  <a:rPr lang="en-US" sz="2200" dirty="0"/>
                  <a:t>scan the list and compute the frequencies of all its distinct values</a:t>
                </a:r>
              </a:p>
              <a:p>
                <a:pPr marL="354013" indent="-354013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altLang="en-US" sz="2200" b="1" i="1" smtClean="0">
                        <a:latin typeface="Cambria Math" panose="02040503050406030204" pitchFamily="18" charset="0"/>
                      </a:rPr>
                      <m:t>𝒄</m:t>
                    </m:r>
                    <m:d>
                      <m:dPr>
                        <m:ctrlPr>
                          <a:rPr lang="en-US" altLang="en-US" sz="22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2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en-US" sz="2200" b="1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altLang="en-US" sz="2200" b="1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2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en-US" sz="22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en-US" sz="2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en-US" sz="2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d>
                          <m:dPr>
                            <m:ctrlPr>
                              <a:rPr lang="en-US" altLang="en-US" sz="2200" b="1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en-US" sz="22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en-US" sz="22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en-US" sz="2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en-US" altLang="en-US" sz="22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en-US" sz="2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en-US" sz="2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en-US" sz="2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en-US" sz="2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en-US" sz="2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en-US" sz="2200" b="1" i="1" smtClean="0">
                            <a:latin typeface="Cambria Math" panose="02040503050406030204" pitchFamily="18" charset="0"/>
                          </a:rPr>
                          <m:t>+ …+</m:t>
                        </m:r>
                        <m:d>
                          <m:dPr>
                            <m:ctrlPr>
                              <a:rPr lang="en-US" altLang="en-US" sz="2200" b="1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en-US" sz="22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en-US" sz="22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en-US" sz="2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en-US" altLang="en-US" sz="2200" b="1" i="1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altLang="en-US" sz="2200" b="1" i="1" smtClean="0">
                                <a:latin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en-US" sz="2200" b="1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en-US" sz="22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en-US" sz="22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en-US" sz="22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  <m:r>
                              <a:rPr lang="en-US" altLang="en-US" sz="22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en-US" sz="22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nary>
                  </m:oMath>
                </a14:m>
                <a:endParaRPr lang="en-US" altLang="en-US" sz="2200" b="1" i="1" dirty="0"/>
              </a:p>
              <a:p>
                <a:pPr marL="354013" indent="-354013">
                  <a:buFont typeface="Courier New" panose="02070309020205020404" pitchFamily="49" charset="0"/>
                  <a:buChar char="o"/>
                </a:pPr>
                <a:r>
                  <a:rPr lang="en-US" sz="2200" dirty="0"/>
                  <a:t>find the value with the largest frequency</a:t>
                </a:r>
                <a:r>
                  <a:rPr lang="en-US" altLang="en-US" sz="2200" b="1" i="1" dirty="0"/>
                  <a:t> </a:t>
                </a:r>
              </a:p>
              <a:p>
                <a:pPr marL="527749" lvl="1" indent="-354013">
                  <a:buFont typeface="Courier New" panose="02070309020205020404" pitchFamily="49" charset="0"/>
                  <a:buChar char="o"/>
                </a:pPr>
                <a:r>
                  <a:rPr lang="en-US" altLang="en-US" sz="1800" b="1" i="1" dirty="0"/>
                  <a:t>(n – 1  )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01A54A-9D1B-4E05-BF33-2A1718B806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8096" y="2286000"/>
                <a:ext cx="7764344" cy="4184704"/>
              </a:xfrm>
              <a:blipFill>
                <a:blip r:embed="rId2"/>
                <a:stretch>
                  <a:fillRect l="-1805" t="-2041" b="-17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Content Placeholder 8">
            <a:extLst>
              <a:ext uri="{FF2B5EF4-FFF2-40B4-BE49-F238E27FC236}">
                <a16:creationId xmlns:a16="http://schemas.microsoft.com/office/drawing/2014/main" xmlns="" id="{D9521EE9-2DEA-4CF8-BDD0-560A3F7A1D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1211957"/>
              </p:ext>
            </p:extLst>
          </p:nvPr>
        </p:nvGraphicFramePr>
        <p:xfrm>
          <a:off x="1291590" y="3070736"/>
          <a:ext cx="65608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xmlns="" val="3815727017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3315948993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2727283025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094916115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161318824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409023478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976463986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26744790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3929424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55961813"/>
                  </a:ext>
                </a:extLst>
              </a:tr>
            </a:tbl>
          </a:graphicData>
        </a:graphic>
      </p:graphicFrame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xmlns="" id="{17B4E062-837C-4648-927E-46F8CB44C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8000" y="6470704"/>
            <a:ext cx="730250" cy="274320"/>
          </a:xfrm>
        </p:spPr>
        <p:txBody>
          <a:bodyPr/>
          <a:lstStyle/>
          <a:p>
            <a:r>
              <a:rPr lang="en-US" dirty="0"/>
              <a:t>15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537494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D8E7E4-A4D6-4167-AB97-EF5D20BC5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a mode </a:t>
            </a:r>
            <a:r>
              <a:rPr lang="en-US" altLang="en-US" dirty="0"/>
              <a:t>with presorting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01A54A-9D1B-4E05-BF33-2A1718B80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7548320" cy="4023360"/>
          </a:xfrm>
        </p:spPr>
        <p:txBody>
          <a:bodyPr>
            <a:normAutofit/>
          </a:bodyPr>
          <a:lstStyle/>
          <a:p>
            <a:pPr marL="530225" indent="-53022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b="1" dirty="0"/>
              <a:t>Presorting-based algorithm</a:t>
            </a:r>
          </a:p>
          <a:p>
            <a:pPr marL="530225" indent="-354013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2400" dirty="0"/>
              <a:t>Stage 1 : Sort the array by an efficient sorting algorithm</a:t>
            </a:r>
          </a:p>
          <a:p>
            <a:pPr marL="530225" lvl="1" indent="-354013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2400" dirty="0">
                <a:cs typeface="Times New Roman" panose="02020603050405020304" pitchFamily="18" charset="0"/>
              </a:rPr>
              <a:t> Stage 2: Find the longest run of  </a:t>
            </a:r>
            <a:r>
              <a:rPr lang="en-US" sz="2400" dirty="0">
                <a:cs typeface="Times New Roman" panose="02020603050405020304" pitchFamily="18" charset="0"/>
              </a:rPr>
              <a:t>adjacent equal values </a:t>
            </a:r>
            <a:r>
              <a:rPr lang="en-US" altLang="en-US" sz="2400" dirty="0">
                <a:cs typeface="Times New Roman" panose="02020603050405020304" pitchFamily="18" charset="0"/>
              </a:rPr>
              <a:t>in the array</a:t>
            </a:r>
          </a:p>
          <a:p>
            <a:pPr lvl="1">
              <a:buFontTx/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 lvl="1" algn="ctr"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Efficiency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: </a:t>
            </a:r>
            <a:r>
              <a:rPr lang="el-GR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Θ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400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log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) + O(</a:t>
            </a:r>
            <a:r>
              <a:rPr lang="en-US" altLang="en-US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) = </a:t>
            </a:r>
            <a:r>
              <a:rPr lang="el-GR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Θ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400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log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endParaRPr lang="el-GR" altLang="en-US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56ED63D-FDF2-4665-9FEB-8F392428E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16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93931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xmlns="" id="{D11C3460-C106-4BD7-8F11-37792C2C4388}"/>
              </a:ext>
            </a:extLst>
          </p:cNvPr>
          <p:cNvSpPr txBox="1">
            <a:spLocks/>
          </p:cNvSpPr>
          <p:nvPr/>
        </p:nvSpPr>
        <p:spPr>
          <a:xfrm>
            <a:off x="356616" y="1738676"/>
            <a:ext cx="7290054" cy="360044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3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Sort the array by Merge sort algorithm ( O(n log n)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Compare the Adjacent pairs  O(n 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5718FA-7023-4A8A-AA5D-F28DA88E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Computing a mode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F28CEA3-64CA-4ACF-B486-625D3E9DD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17</a:t>
            </a:r>
            <a:endParaRPr lang="ar-SA" dirty="0"/>
          </a:p>
        </p:txBody>
      </p:sp>
      <p:graphicFrame>
        <p:nvGraphicFramePr>
          <p:cNvPr id="13" name="Content Placeholder 8">
            <a:extLst>
              <a:ext uri="{FF2B5EF4-FFF2-40B4-BE49-F238E27FC236}">
                <a16:creationId xmlns:a16="http://schemas.microsoft.com/office/drawing/2014/main" xmlns="" id="{05D28D81-1189-4F69-A4BC-367785171D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7062919"/>
              </p:ext>
            </p:extLst>
          </p:nvPr>
        </p:nvGraphicFramePr>
        <p:xfrm>
          <a:off x="1291590" y="3538896"/>
          <a:ext cx="65608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xmlns="" val="3815727017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3315948993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2727283025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094916115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161318824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409023478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976463986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26744790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3929424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55961813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565658A4-AAA0-4083-B222-F407F932F73F}"/>
              </a:ext>
            </a:extLst>
          </p:cNvPr>
          <p:cNvGrpSpPr/>
          <p:nvPr/>
        </p:nvGrpSpPr>
        <p:grpSpPr>
          <a:xfrm>
            <a:off x="1634420" y="3890544"/>
            <a:ext cx="739518" cy="368205"/>
            <a:chOff x="-1476672" y="2132193"/>
            <a:chExt cx="739518" cy="368205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xmlns="" id="{EC65E7B9-BE42-4DA9-8C98-81C6A16931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467518" y="2132193"/>
              <a:ext cx="10284" cy="36004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xmlns="" id="{9251F51D-03AD-4A1D-BC27-8F5F484B56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747438" y="2140358"/>
              <a:ext cx="10284" cy="36004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4667EA12-9D91-4017-89DC-3788B4435A97}"/>
                </a:ext>
              </a:extLst>
            </p:cNvPr>
            <p:cNvCxnSpPr/>
            <p:nvPr/>
          </p:nvCxnSpPr>
          <p:spPr>
            <a:xfrm>
              <a:off x="-1476672" y="2477046"/>
              <a:ext cx="739518" cy="1518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xmlns="" id="{43381920-9219-45B2-BBC9-66FD15029DBE}"/>
              </a:ext>
            </a:extLst>
          </p:cNvPr>
          <p:cNvCxnSpPr>
            <a:cxnSpLocks/>
          </p:cNvCxnSpPr>
          <p:nvPr/>
        </p:nvCxnSpPr>
        <p:spPr>
          <a:xfrm flipH="1" flipV="1">
            <a:off x="3131840" y="4828574"/>
            <a:ext cx="19438" cy="35939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xmlns="" id="{57DD2643-B58A-489C-AD8B-AC2C331C1627}"/>
              </a:ext>
            </a:extLst>
          </p:cNvPr>
          <p:cNvGrpSpPr/>
          <p:nvPr/>
        </p:nvGrpSpPr>
        <p:grpSpPr>
          <a:xfrm>
            <a:off x="3865931" y="5601169"/>
            <a:ext cx="739518" cy="368205"/>
            <a:chOff x="-1476672" y="2132193"/>
            <a:chExt cx="739518" cy="368205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xmlns="" id="{BADAE774-4D0F-403F-9B88-EC2A92832F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467518" y="2132193"/>
              <a:ext cx="10284" cy="36004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xmlns="" id="{C8FEAA8E-58DC-4C9D-8FC2-5B56C196D2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747438" y="2140358"/>
              <a:ext cx="10284" cy="36004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xmlns="" id="{F89864AF-0569-4A3D-889E-343E00E88B92}"/>
                </a:ext>
              </a:extLst>
            </p:cNvPr>
            <p:cNvCxnSpPr/>
            <p:nvPr/>
          </p:nvCxnSpPr>
          <p:spPr>
            <a:xfrm>
              <a:off x="-1476672" y="2477046"/>
              <a:ext cx="739518" cy="1518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34" name="Content Placeholder 8">
            <a:extLst>
              <a:ext uri="{FF2B5EF4-FFF2-40B4-BE49-F238E27FC236}">
                <a16:creationId xmlns:a16="http://schemas.microsoft.com/office/drawing/2014/main" xmlns="" id="{FF7D3C90-C304-4D95-8843-7213F84B70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8708611"/>
              </p:ext>
            </p:extLst>
          </p:nvPr>
        </p:nvGraphicFramePr>
        <p:xfrm>
          <a:off x="1280329" y="2319445"/>
          <a:ext cx="65608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xmlns="" val="3815727017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3315948993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2727283025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094916115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161318824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409023478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976463986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26744790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3929424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55961813"/>
                  </a:ext>
                </a:extLst>
              </a:tr>
            </a:tbl>
          </a:graphicData>
        </a:graphic>
      </p:graphicFrame>
      <p:graphicFrame>
        <p:nvGraphicFramePr>
          <p:cNvPr id="35" name="Content Placeholder 8">
            <a:extLst>
              <a:ext uri="{FF2B5EF4-FFF2-40B4-BE49-F238E27FC236}">
                <a16:creationId xmlns:a16="http://schemas.microsoft.com/office/drawing/2014/main" xmlns="" id="{45F711F2-0A7C-43FA-B184-D39020BB93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646740"/>
              </p:ext>
            </p:extLst>
          </p:nvPr>
        </p:nvGraphicFramePr>
        <p:xfrm>
          <a:off x="1325039" y="4444169"/>
          <a:ext cx="65608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xmlns="" val="3815727017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3315948993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2727283025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094916115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161318824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409023478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976463986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26744790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3929424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55961813"/>
                  </a:ext>
                </a:extLst>
              </a:tr>
            </a:tbl>
          </a:graphicData>
        </a:graphic>
      </p:graphicFrame>
      <p:graphicFrame>
        <p:nvGraphicFramePr>
          <p:cNvPr id="36" name="Content Placeholder 8">
            <a:extLst>
              <a:ext uri="{FF2B5EF4-FFF2-40B4-BE49-F238E27FC236}">
                <a16:creationId xmlns:a16="http://schemas.microsoft.com/office/drawing/2014/main" xmlns="" id="{750BC83F-38CC-4E59-AB02-F9DA59C942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7602219"/>
              </p:ext>
            </p:extLst>
          </p:nvPr>
        </p:nvGraphicFramePr>
        <p:xfrm>
          <a:off x="1325039" y="5230329"/>
          <a:ext cx="65608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xmlns="" val="3815727017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3315948993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2727283025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094916115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161318824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409023478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976463986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26744790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3929424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55961813"/>
                  </a:ext>
                </a:extLst>
              </a:tr>
            </a:tbl>
          </a:graphicData>
        </a:graphic>
      </p:graphicFrame>
      <p:graphicFrame>
        <p:nvGraphicFramePr>
          <p:cNvPr id="37" name="Content Placeholder 8">
            <a:extLst>
              <a:ext uri="{FF2B5EF4-FFF2-40B4-BE49-F238E27FC236}">
                <a16:creationId xmlns:a16="http://schemas.microsoft.com/office/drawing/2014/main" xmlns="" id="{203756A3-7BA5-4B69-A66F-49EBCF673B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7557280"/>
              </p:ext>
            </p:extLst>
          </p:nvPr>
        </p:nvGraphicFramePr>
        <p:xfrm>
          <a:off x="1497330" y="6083653"/>
          <a:ext cx="65608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xmlns="" val="3815727017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3315948993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2727283025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094916115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161318824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409023478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976463986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126744790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xmlns="" val="3929424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55961813"/>
                  </a:ext>
                </a:extLst>
              </a:tr>
            </a:tbl>
          </a:graphicData>
        </a:graphic>
      </p:graphicFrame>
      <p:grpSp>
        <p:nvGrpSpPr>
          <p:cNvPr id="38" name="Group 37">
            <a:extLst>
              <a:ext uri="{FF2B5EF4-FFF2-40B4-BE49-F238E27FC236}">
                <a16:creationId xmlns:a16="http://schemas.microsoft.com/office/drawing/2014/main" xmlns="" id="{CA8EA4B1-80CC-4927-9D37-FF4F3E999974}"/>
              </a:ext>
            </a:extLst>
          </p:cNvPr>
          <p:cNvGrpSpPr/>
          <p:nvPr/>
        </p:nvGrpSpPr>
        <p:grpSpPr>
          <a:xfrm>
            <a:off x="5652120" y="6454493"/>
            <a:ext cx="1296144" cy="368205"/>
            <a:chOff x="-1476672" y="2132193"/>
            <a:chExt cx="1296144" cy="368205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xmlns="" id="{5415EC12-51FD-4B2D-9E43-88CC76E75B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467518" y="2132193"/>
              <a:ext cx="10284" cy="36004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xmlns="" id="{120B37E2-667B-4E07-86D7-FF5026D6B1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90812" y="2140358"/>
              <a:ext cx="10284" cy="36004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xmlns="" id="{ABB07572-04B5-4269-9452-734176F6B3BD}"/>
                </a:ext>
              </a:extLst>
            </p:cNvPr>
            <p:cNvCxnSpPr>
              <a:cxnSpLocks/>
            </p:cNvCxnSpPr>
            <p:nvPr/>
          </p:nvCxnSpPr>
          <p:spPr>
            <a:xfrm>
              <a:off x="-1476672" y="2477046"/>
              <a:ext cx="128586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11382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D8E7E4-A4D6-4167-AB97-EF5D20BC5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a mode </a:t>
            </a:r>
            <a:r>
              <a:rPr lang="en-US" altLang="en-US" dirty="0"/>
              <a:t>with presorting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56ED63D-FDF2-4665-9FEB-8F392428E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18</a:t>
            </a:r>
            <a:endParaRPr lang="ar-S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1C094E8-F48E-4A35-B56B-94A0817B0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094" y="1731253"/>
            <a:ext cx="7347810" cy="476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606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396875" algn="l"/>
              </a:tabLst>
            </a:pPr>
            <a:r>
              <a:rPr lang="en-US" sz="2400" b="1" dirty="0"/>
              <a:t>Introduction to Transform and Conquer technique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396875" algn="l"/>
              </a:tabLst>
            </a:pPr>
            <a:r>
              <a:rPr lang="en-US" altLang="en-US" sz="2400" b="1" i="1" dirty="0">
                <a:solidFill>
                  <a:srgbClr val="FF0000"/>
                </a:solidFill>
              </a:rPr>
              <a:t>instance simplification</a:t>
            </a:r>
            <a:endParaRPr lang="en-US" sz="2400" b="1" dirty="0">
              <a:solidFill>
                <a:srgbClr val="FF0000"/>
              </a:solidFill>
            </a:endParaRPr>
          </a:p>
          <a:p>
            <a:pPr marL="1090613" indent="-635000">
              <a:lnSpc>
                <a:spcPct val="100000"/>
              </a:lnSpc>
              <a:buFont typeface="Courier New" panose="02070309020205020404" pitchFamily="49" charset="0"/>
              <a:buChar char="o"/>
              <a:tabLst>
                <a:tab pos="396875" algn="l"/>
              </a:tabLst>
            </a:pPr>
            <a:r>
              <a:rPr lang="en-US" sz="2400" b="1" dirty="0"/>
              <a:t>Presorting</a:t>
            </a:r>
          </a:p>
          <a:p>
            <a:pPr marL="1090613" indent="-635000">
              <a:lnSpc>
                <a:spcPct val="100000"/>
              </a:lnSpc>
              <a:buFont typeface="Courier New" panose="02070309020205020404" pitchFamily="49" charset="0"/>
              <a:buChar char="o"/>
              <a:tabLst>
                <a:tab pos="396875" algn="l"/>
              </a:tabLst>
            </a:pPr>
            <a:r>
              <a:rPr lang="en-US" sz="2400" b="1" dirty="0">
                <a:solidFill>
                  <a:srgbClr val="FF0000"/>
                </a:solidFill>
              </a:rPr>
              <a:t>Gaussian Elimination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396875" algn="l"/>
              </a:tabLst>
            </a:pPr>
            <a:r>
              <a:rPr lang="en-US" altLang="en-US" sz="2400" b="1" i="1" dirty="0"/>
              <a:t>representation change</a:t>
            </a:r>
            <a:endParaRPr lang="en-US" sz="2400" b="1" i="1" dirty="0"/>
          </a:p>
          <a:p>
            <a:pPr marL="1090613" indent="-635000">
              <a:lnSpc>
                <a:spcPct val="100000"/>
              </a:lnSpc>
              <a:buFont typeface="Courier New" panose="02070309020205020404" pitchFamily="49" charset="0"/>
              <a:buChar char="o"/>
              <a:tabLst>
                <a:tab pos="396875" algn="l"/>
              </a:tabLst>
            </a:pPr>
            <a:r>
              <a:rPr lang="en-US" sz="2400" b="1" dirty="0"/>
              <a:t>Balanced Search Trees</a:t>
            </a:r>
          </a:p>
          <a:p>
            <a:pPr marL="1090613" indent="-635000">
              <a:lnSpc>
                <a:spcPct val="100000"/>
              </a:lnSpc>
              <a:buFont typeface="Courier New" panose="02070309020205020404" pitchFamily="49" charset="0"/>
              <a:buChar char="o"/>
              <a:tabLst>
                <a:tab pos="396875" algn="l"/>
              </a:tabLst>
            </a:pPr>
            <a:r>
              <a:rPr lang="en-US" sz="2400" b="1" dirty="0"/>
              <a:t>Heaps and Heapsort</a:t>
            </a:r>
          </a:p>
        </p:txBody>
      </p:sp>
      <p:sp>
        <p:nvSpPr>
          <p:cNvPr id="27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A7AB7-D961-4CE0-8EC1-8747B9C4F9E9}" type="slidenum">
              <a:rPr lang="en-US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437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4D6B79-8551-4C73-BC97-EBCFA5E01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Instance simplification </a:t>
            </a:r>
            <a:r>
              <a:rPr lang="en-US" altLang="en-US" dirty="0">
                <a:cs typeface="Times New Roman" panose="02020603050405020304" pitchFamily="18" charset="0"/>
              </a:rPr>
              <a:t>– Gaussian Elimination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549A83-4001-4ACA-A4FC-DA0C7997C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/>
              <a:t>Given: A system of </a:t>
            </a:r>
            <a:r>
              <a:rPr lang="en-US" altLang="en-US" sz="2400" b="1" i="1" dirty="0">
                <a:solidFill>
                  <a:srgbClr val="FF0000"/>
                </a:solidFill>
              </a:rPr>
              <a:t>n</a:t>
            </a:r>
            <a:r>
              <a:rPr lang="en-US" altLang="en-US" sz="2400" b="1" dirty="0">
                <a:solidFill>
                  <a:srgbClr val="FF0000"/>
                </a:solidFill>
              </a:rPr>
              <a:t> linear equations </a:t>
            </a:r>
            <a:r>
              <a:rPr lang="en-US" altLang="en-US" sz="2400" dirty="0"/>
              <a:t>in </a:t>
            </a:r>
            <a:r>
              <a:rPr lang="en-US" altLang="en-US" sz="2400" b="1" i="1" dirty="0">
                <a:solidFill>
                  <a:srgbClr val="FF0000"/>
                </a:solidFill>
              </a:rPr>
              <a:t>n </a:t>
            </a:r>
            <a:r>
              <a:rPr lang="en-US" altLang="en-US" sz="2400" b="1" dirty="0">
                <a:solidFill>
                  <a:srgbClr val="FF0000"/>
                </a:solidFill>
              </a:rPr>
              <a:t>unknowns </a:t>
            </a:r>
            <a:r>
              <a:rPr lang="en-US" altLang="en-US" sz="2400" dirty="0"/>
              <a:t>with an arbitrary coefficient matrix.</a:t>
            </a:r>
          </a:p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2400" dirty="0"/>
              <a:t>Transform to: An equivalent system of </a:t>
            </a:r>
            <a:r>
              <a:rPr lang="en-US" altLang="en-US" sz="2400" b="1" i="1" dirty="0">
                <a:solidFill>
                  <a:srgbClr val="FF0000"/>
                </a:solidFill>
              </a:rPr>
              <a:t>n</a:t>
            </a:r>
            <a:r>
              <a:rPr lang="en-US" altLang="en-US" sz="2400" b="1" dirty="0">
                <a:solidFill>
                  <a:srgbClr val="FF0000"/>
                </a:solidFill>
              </a:rPr>
              <a:t> linear equations </a:t>
            </a:r>
            <a:r>
              <a:rPr lang="en-US" altLang="en-US" sz="2400" dirty="0"/>
              <a:t>in </a:t>
            </a:r>
            <a:r>
              <a:rPr lang="en-US" altLang="en-US" sz="2400" i="1" dirty="0"/>
              <a:t>n </a:t>
            </a:r>
            <a:r>
              <a:rPr lang="en-US" altLang="en-US" sz="2400" dirty="0"/>
              <a:t>unknowns with an </a:t>
            </a:r>
            <a:r>
              <a:rPr lang="en-US" altLang="en-US" sz="2400" b="1" dirty="0">
                <a:solidFill>
                  <a:srgbClr val="FF0000"/>
                </a:solidFill>
              </a:rPr>
              <a:t>upper triangular coefficient matrix</a:t>
            </a:r>
            <a:r>
              <a:rPr lang="en-US" altLang="en-US" sz="2400" dirty="0"/>
              <a:t>.</a:t>
            </a:r>
          </a:p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2400" dirty="0"/>
              <a:t>Solve the latter by substitutions starting with the last equation  and moving up to the first one.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2E6301A-C733-4D4C-BF51-B685D13FD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20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884993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4D6B79-8551-4C73-BC97-EBCFA5E01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cs typeface="Times New Roman" panose="02020603050405020304" pitchFamily="18" charset="0"/>
              </a:rPr>
              <a:t>Gaussian Elimination</a:t>
            </a:r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xmlns="" id="{AB484E6E-EEC3-4359-957F-CFF6763B44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3172977"/>
              </p:ext>
            </p:extLst>
          </p:nvPr>
        </p:nvGraphicFramePr>
        <p:xfrm>
          <a:off x="724880" y="3147970"/>
          <a:ext cx="7694239" cy="15293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9783">
                  <a:extLst>
                    <a:ext uri="{9D8B030D-6E8A-4147-A177-3AD203B41FA5}">
                      <a16:colId xmlns:a16="http://schemas.microsoft.com/office/drawing/2014/main" xmlns="" val="3013117648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xmlns="" val="4025260254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xmlns="" val="29104322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en-US" altLang="en-US" sz="2000" b="1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en-US" sz="2000" b="1" baseline="-25000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US" altLang="en-US" sz="2000" b="1" baseline="-2500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</a:rPr>
                        <a:t>+ a</a:t>
                      </a:r>
                      <a:r>
                        <a:rPr lang="en-US" altLang="en-US" sz="2000" b="1" baseline="-25000" dirty="0">
                          <a:solidFill>
                            <a:schemeClr val="tx1"/>
                          </a:solidFill>
                        </a:rPr>
                        <a:t>12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US" altLang="en-US" sz="2000" b="1" baseline="-25000" dirty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</a:rPr>
                        <a:t>+ …  + a</a:t>
                      </a:r>
                      <a:r>
                        <a:rPr lang="en-US" altLang="en-US" sz="2000" b="1" baseline="-25000" dirty="0">
                          <a:solidFill>
                            <a:schemeClr val="tx1"/>
                          </a:solidFill>
                        </a:rPr>
                        <a:t>1n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US" altLang="en-US" sz="2000" b="1" baseline="-250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</a:rPr>
                        <a:t> =b</a:t>
                      </a:r>
                      <a:r>
                        <a:rPr lang="en-US" altLang="en-US" sz="2000" b="1" baseline="-25000" dirty="0">
                          <a:solidFill>
                            <a:schemeClr val="tx1"/>
                          </a:solidFill>
                        </a:rPr>
                        <a:t>1 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b="1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en-US" sz="2000" b="1" baseline="-25000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US" altLang="en-US" sz="2000" b="1" baseline="-2500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</a:rPr>
                        <a:t>+ a</a:t>
                      </a:r>
                      <a:r>
                        <a:rPr lang="en-US" altLang="en-US" sz="2000" b="1" baseline="-25000" dirty="0">
                          <a:solidFill>
                            <a:schemeClr val="tx1"/>
                          </a:solidFill>
                        </a:rPr>
                        <a:t>12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US" altLang="en-US" sz="2000" b="1" baseline="-25000" dirty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</a:rPr>
                        <a:t>+ …  + a</a:t>
                      </a:r>
                      <a:r>
                        <a:rPr lang="en-US" altLang="en-US" sz="2000" b="1" baseline="-25000" dirty="0">
                          <a:solidFill>
                            <a:schemeClr val="tx1"/>
                          </a:solidFill>
                        </a:rPr>
                        <a:t>1n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US" altLang="en-US" sz="2000" b="1" baseline="-250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</a:rPr>
                        <a:t>  b</a:t>
                      </a:r>
                      <a:r>
                        <a:rPr lang="en-US" altLang="en-US" sz="2000" b="1" baseline="-25000" dirty="0">
                          <a:solidFill>
                            <a:schemeClr val="tx1"/>
                          </a:solidFill>
                        </a:rPr>
                        <a:t>1 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0818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en-US" altLang="en-US" sz="2000" b="1" dirty="0"/>
                        <a:t>a</a:t>
                      </a:r>
                      <a:r>
                        <a:rPr lang="en-US" altLang="en-US" sz="2000" b="1" baseline="-25000" dirty="0"/>
                        <a:t>21</a:t>
                      </a:r>
                      <a:r>
                        <a:rPr lang="en-US" altLang="en-US" sz="2000" b="1" dirty="0"/>
                        <a:t>x</a:t>
                      </a:r>
                      <a:r>
                        <a:rPr lang="en-US" altLang="en-US" sz="2000" b="1" baseline="-25000" dirty="0"/>
                        <a:t>1</a:t>
                      </a:r>
                      <a:r>
                        <a:rPr lang="en-US" altLang="en-US" sz="2000" b="1" dirty="0"/>
                        <a:t> + a</a:t>
                      </a:r>
                      <a:r>
                        <a:rPr lang="en-US" altLang="en-US" sz="2000" b="1" baseline="-25000" dirty="0"/>
                        <a:t>22</a:t>
                      </a:r>
                      <a:r>
                        <a:rPr lang="en-US" altLang="en-US" sz="2000" b="1" dirty="0"/>
                        <a:t>x</a:t>
                      </a:r>
                      <a:r>
                        <a:rPr lang="en-US" altLang="en-US" sz="2000" b="1" baseline="-25000" dirty="0"/>
                        <a:t>2 </a:t>
                      </a:r>
                      <a:r>
                        <a:rPr lang="en-US" altLang="en-US" sz="2000" b="1" dirty="0"/>
                        <a:t>+ … + a</a:t>
                      </a:r>
                      <a:r>
                        <a:rPr lang="en-US" altLang="en-US" sz="2000" b="1" baseline="-25000" dirty="0"/>
                        <a:t>2n</a:t>
                      </a:r>
                      <a:r>
                        <a:rPr lang="en-US" altLang="en-US" sz="2000" b="1" dirty="0"/>
                        <a:t>x</a:t>
                      </a:r>
                      <a:r>
                        <a:rPr lang="en-US" altLang="en-US" sz="2000" b="1" baseline="-25000" dirty="0"/>
                        <a:t>n</a:t>
                      </a:r>
                      <a:r>
                        <a:rPr lang="en-US" altLang="en-US" sz="2000" b="1" dirty="0"/>
                        <a:t> = b</a:t>
                      </a:r>
                      <a:r>
                        <a:rPr lang="en-US" altLang="en-US" sz="2000" b="1" baseline="-25000" dirty="0"/>
                        <a:t>2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="1" dirty="0">
                          <a:solidFill>
                            <a:schemeClr val="tx1"/>
                          </a:solidFill>
                        </a:rPr>
                        <a:t>           + a</a:t>
                      </a:r>
                      <a:r>
                        <a:rPr lang="en-US" altLang="en-US" sz="1800" b="1" baseline="-25000" dirty="0">
                          <a:solidFill>
                            <a:schemeClr val="tx1"/>
                          </a:solidFill>
                        </a:rPr>
                        <a:t>22</a:t>
                      </a:r>
                      <a:r>
                        <a:rPr lang="en-US" altLang="en-US" sz="1800" b="1" dirty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US" altLang="en-US" sz="1800" b="1" baseline="-25000" dirty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en-US" altLang="en-US" sz="1800" b="1" dirty="0">
                          <a:solidFill>
                            <a:schemeClr val="tx1"/>
                          </a:solidFill>
                        </a:rPr>
                        <a:t>+ .… </a:t>
                      </a:r>
                      <a:r>
                        <a:rPr lang="en-US" altLang="en-US" sz="1800" b="1" dirty="0"/>
                        <a:t> + a</a:t>
                      </a:r>
                      <a:r>
                        <a:rPr lang="en-US" altLang="en-US" sz="1800" b="1" baseline="-25000" dirty="0"/>
                        <a:t>2n</a:t>
                      </a:r>
                      <a:r>
                        <a:rPr lang="en-US" altLang="en-US" sz="1800" b="1" dirty="0"/>
                        <a:t>x</a:t>
                      </a:r>
                      <a:r>
                        <a:rPr lang="en-US" altLang="en-US" sz="1800" b="1" baseline="-25000" dirty="0"/>
                        <a:t>n</a:t>
                      </a:r>
                      <a:r>
                        <a:rPr lang="en-US" altLang="en-US" sz="1800" b="1" dirty="0"/>
                        <a:t> = b</a:t>
                      </a:r>
                      <a:r>
                        <a:rPr lang="en-US" altLang="en-US" sz="1800" b="1" baseline="-25000" dirty="0"/>
                        <a:t>2</a:t>
                      </a: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32347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…..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12695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en-US" altLang="en-US" sz="2000" b="1" dirty="0"/>
                        <a:t>a</a:t>
                      </a:r>
                      <a:r>
                        <a:rPr lang="en-US" altLang="en-US" sz="2000" b="1" baseline="-25000" dirty="0"/>
                        <a:t>n1</a:t>
                      </a:r>
                      <a:r>
                        <a:rPr lang="en-US" altLang="en-US" sz="2000" b="1" dirty="0"/>
                        <a:t>x</a:t>
                      </a:r>
                      <a:r>
                        <a:rPr lang="en-US" altLang="en-US" sz="2000" b="1" baseline="-25000" dirty="0"/>
                        <a:t>1</a:t>
                      </a:r>
                      <a:r>
                        <a:rPr lang="en-US" altLang="en-US" sz="2000" b="1" dirty="0"/>
                        <a:t> + a</a:t>
                      </a:r>
                      <a:r>
                        <a:rPr lang="en-US" altLang="en-US" sz="2000" b="1" baseline="-25000" dirty="0"/>
                        <a:t>n2</a:t>
                      </a:r>
                      <a:r>
                        <a:rPr lang="en-US" altLang="en-US" sz="2000" b="1" dirty="0"/>
                        <a:t>x</a:t>
                      </a:r>
                      <a:r>
                        <a:rPr lang="en-US" altLang="en-US" sz="2000" b="1" baseline="-25000" dirty="0"/>
                        <a:t>2  </a:t>
                      </a:r>
                      <a:r>
                        <a:rPr lang="en-US" altLang="en-US" sz="2000" b="1" dirty="0"/>
                        <a:t>+ …   + </a:t>
                      </a:r>
                      <a:r>
                        <a:rPr lang="en-US" altLang="en-US" sz="2000" b="1" dirty="0" err="1"/>
                        <a:t>a</a:t>
                      </a:r>
                      <a:r>
                        <a:rPr lang="en-US" altLang="en-US" sz="2000" b="1" baseline="-25000" dirty="0" err="1"/>
                        <a:t>nn</a:t>
                      </a:r>
                      <a:r>
                        <a:rPr lang="en-US" altLang="en-US" sz="2000" b="1" dirty="0" err="1"/>
                        <a:t>x</a:t>
                      </a:r>
                      <a:r>
                        <a:rPr lang="en-US" altLang="en-US" sz="2000" b="1" baseline="-25000" dirty="0" err="1"/>
                        <a:t>n</a:t>
                      </a:r>
                      <a:r>
                        <a:rPr lang="en-US" altLang="en-US" sz="2000" b="1" dirty="0"/>
                        <a:t>=b</a:t>
                      </a:r>
                      <a:r>
                        <a:rPr lang="en-US" altLang="en-US" sz="2000" b="1" baseline="-25000" dirty="0"/>
                        <a:t>n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en-US" b="1" dirty="0"/>
                        <a:t>                                       +</a:t>
                      </a:r>
                      <a:r>
                        <a:rPr lang="en-US" altLang="en-US" sz="1800" b="1" dirty="0" err="1"/>
                        <a:t>a</a:t>
                      </a:r>
                      <a:r>
                        <a:rPr lang="en-US" altLang="en-US" sz="1800" b="1" baseline="-25000" dirty="0" err="1"/>
                        <a:t>nn</a:t>
                      </a:r>
                      <a:r>
                        <a:rPr lang="en-US" altLang="en-US" sz="1800" b="1" dirty="0" err="1"/>
                        <a:t>x</a:t>
                      </a:r>
                      <a:r>
                        <a:rPr lang="en-US" altLang="en-US" sz="1800" b="1" baseline="-25000" dirty="0" err="1"/>
                        <a:t>n</a:t>
                      </a:r>
                      <a:r>
                        <a:rPr lang="en-US" altLang="en-US" sz="1800" b="1" dirty="0"/>
                        <a:t>=b</a:t>
                      </a:r>
                      <a:r>
                        <a:rPr lang="en-US" altLang="en-US" sz="1800" b="1" baseline="-25000" dirty="0"/>
                        <a:t>n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3611186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2E6301A-C733-4D4C-BF51-B685D13FD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21</a:t>
            </a:fld>
            <a:endParaRPr lang="ar-SA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8ACE8667-37B2-426A-B6AA-6778E27F9918}"/>
              </a:ext>
            </a:extLst>
          </p:cNvPr>
          <p:cNvCxnSpPr>
            <a:cxnSpLocks/>
          </p:cNvCxnSpPr>
          <p:nvPr/>
        </p:nvCxnSpPr>
        <p:spPr>
          <a:xfrm>
            <a:off x="4413123" y="3912637"/>
            <a:ext cx="504056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746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D28B0F-9F17-4887-8AAD-B57AB07F7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cs typeface="Times New Roman" panose="02020603050405020304" pitchFamily="18" charset="0"/>
              </a:rPr>
              <a:t>Gaussian Elimination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93B7202-9496-4ACA-9312-5832B913E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200" dirty="0"/>
              <a:t>The transformation is accomplished by a sequence of elementary operations on the system’s coefficient matrix  (which don’t change the system’s solution):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altLang="en-US" dirty="0"/>
              <a:t>for</a:t>
            </a:r>
            <a:r>
              <a:rPr lang="en-US" altLang="en-US" i="1" dirty="0"/>
              <a:t> </a:t>
            </a:r>
            <a:r>
              <a:rPr lang="en-US" altLang="en-US" i="1" dirty="0" err="1"/>
              <a:t>i</a:t>
            </a:r>
            <a:r>
              <a:rPr lang="en-US" altLang="en-US" i="1" dirty="0"/>
              <a:t> </a:t>
            </a:r>
            <a:r>
              <a:rPr lang="en-US" altLang="en-US" i="1" dirty="0">
                <a:cs typeface="Times New Roman" panose="02020603050405020304" pitchFamily="18" charset="0"/>
              </a:rPr>
              <a:t>←</a:t>
            </a:r>
            <a:r>
              <a:rPr lang="en-US" altLang="en-US" dirty="0"/>
              <a:t>1 to </a:t>
            </a:r>
            <a:r>
              <a:rPr lang="en-US" altLang="en-US" i="1" dirty="0"/>
              <a:t>n-</a:t>
            </a:r>
            <a:r>
              <a:rPr lang="en-US" altLang="en-US" dirty="0"/>
              <a:t>1 do</a:t>
            </a:r>
            <a:br>
              <a:rPr lang="en-US" altLang="en-US" dirty="0"/>
            </a:br>
            <a:r>
              <a:rPr lang="en-US" altLang="en-US" dirty="0"/>
              <a:t>       replace each of the subsequent rows (i.e., rows </a:t>
            </a:r>
            <a:r>
              <a:rPr lang="en-US" altLang="en-US" i="1" dirty="0"/>
              <a:t>i</a:t>
            </a:r>
            <a:r>
              <a:rPr lang="en-US" altLang="en-US" dirty="0"/>
              <a:t>+1, …, </a:t>
            </a:r>
            <a:r>
              <a:rPr lang="en-US" altLang="en-US" i="1" dirty="0"/>
              <a:t>n</a:t>
            </a:r>
            <a:r>
              <a:rPr lang="en-US" altLang="en-US" dirty="0"/>
              <a:t>) by </a:t>
            </a:r>
            <a:br>
              <a:rPr lang="en-US" altLang="en-US" dirty="0"/>
            </a:br>
            <a:r>
              <a:rPr lang="en-US" altLang="en-US" dirty="0"/>
              <a:t>       a  difference between that row and an appropriate multiple </a:t>
            </a:r>
            <a:br>
              <a:rPr lang="en-US" altLang="en-US" dirty="0"/>
            </a:br>
            <a:r>
              <a:rPr lang="en-US" altLang="en-US" dirty="0"/>
              <a:t>       of the </a:t>
            </a:r>
            <a:r>
              <a:rPr lang="en-US" altLang="en-US" i="1" dirty="0" err="1"/>
              <a:t>i-</a:t>
            </a:r>
            <a:r>
              <a:rPr lang="en-US" altLang="en-US" dirty="0" err="1"/>
              <a:t>th</a:t>
            </a:r>
            <a:r>
              <a:rPr lang="en-US" altLang="en-US" dirty="0"/>
              <a:t> row to make the new coefficient in the </a:t>
            </a:r>
            <a:r>
              <a:rPr lang="en-US" altLang="en-US" i="1" dirty="0" err="1"/>
              <a:t>i-</a:t>
            </a:r>
            <a:r>
              <a:rPr lang="en-US" altLang="en-US" dirty="0" err="1"/>
              <a:t>th</a:t>
            </a:r>
            <a:r>
              <a:rPr lang="en-US" altLang="en-US" i="1" dirty="0"/>
              <a:t> </a:t>
            </a:r>
            <a:r>
              <a:rPr lang="en-US" altLang="en-US" dirty="0"/>
              <a:t>column </a:t>
            </a:r>
            <a:br>
              <a:rPr lang="en-US" altLang="en-US" dirty="0"/>
            </a:br>
            <a:r>
              <a:rPr lang="en-US" altLang="en-US" dirty="0"/>
              <a:t>       of that row 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E5902E8-D90A-42EB-B4FF-E0DDDB0DA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22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12125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B9FFB5-F1FD-4F01-80E3-86444D850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of Gaussian Elimination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E2B955F-EEE0-4AE5-BCB6-BBC1A8C9F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Solve        2</a:t>
            </a:r>
            <a:r>
              <a:rPr lang="en-US" altLang="en-US" sz="2400" i="1" dirty="0"/>
              <a:t>x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 - 4</a:t>
            </a:r>
            <a:r>
              <a:rPr lang="en-US" altLang="en-US" sz="2400" i="1" dirty="0"/>
              <a:t>x</a:t>
            </a:r>
            <a:r>
              <a:rPr lang="en-US" altLang="en-US" sz="2400" baseline="-25000" dirty="0"/>
              <a:t>2 </a:t>
            </a:r>
            <a:r>
              <a:rPr lang="en-US" altLang="en-US" sz="2400" dirty="0"/>
              <a:t> + </a:t>
            </a:r>
            <a:r>
              <a:rPr lang="en-US" altLang="en-US" sz="2400" i="1" dirty="0"/>
              <a:t>x</a:t>
            </a:r>
            <a:r>
              <a:rPr lang="en-US" altLang="en-US" sz="2400" baseline="-25000" dirty="0"/>
              <a:t>3  </a:t>
            </a:r>
            <a:r>
              <a:rPr lang="en-US" altLang="en-US" sz="2400" dirty="0"/>
              <a:t>=  6  			        </a:t>
            </a:r>
            <a:br>
              <a:rPr lang="en-US" altLang="en-US" sz="2400" dirty="0"/>
            </a:br>
            <a:r>
              <a:rPr lang="en-US" altLang="en-US" sz="2400" dirty="0"/>
              <a:t>                3</a:t>
            </a:r>
            <a:r>
              <a:rPr lang="en-US" altLang="en-US" sz="2400" i="1" dirty="0"/>
              <a:t>x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 -   </a:t>
            </a:r>
            <a:r>
              <a:rPr lang="en-US" altLang="en-US" sz="2400" i="1" dirty="0"/>
              <a:t>x</a:t>
            </a:r>
            <a:r>
              <a:rPr lang="en-US" altLang="en-US" sz="2400" baseline="-25000" dirty="0"/>
              <a:t>2   </a:t>
            </a:r>
            <a:r>
              <a:rPr lang="en-US" altLang="en-US" sz="2400" dirty="0"/>
              <a:t>+ </a:t>
            </a:r>
            <a:r>
              <a:rPr lang="en-US" altLang="en-US" sz="2400" i="1" dirty="0"/>
              <a:t>x</a:t>
            </a:r>
            <a:r>
              <a:rPr lang="en-US" altLang="en-US" sz="2400" baseline="-25000" dirty="0"/>
              <a:t>3 </a:t>
            </a:r>
            <a:r>
              <a:rPr lang="en-US" altLang="en-US" sz="2400" dirty="0"/>
              <a:t>=  11</a:t>
            </a:r>
            <a:br>
              <a:rPr lang="en-US" altLang="en-US" sz="2400" dirty="0"/>
            </a:br>
            <a:r>
              <a:rPr lang="en-US" altLang="en-US" sz="2400" dirty="0"/>
              <a:t>                  </a:t>
            </a:r>
            <a:r>
              <a:rPr lang="en-US" altLang="en-US" sz="2400" i="1" dirty="0"/>
              <a:t>x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+   </a:t>
            </a:r>
            <a:r>
              <a:rPr lang="en-US" altLang="en-US" sz="2400" i="1" dirty="0"/>
              <a:t>x</a:t>
            </a:r>
            <a:r>
              <a:rPr lang="en-US" altLang="en-US" sz="2400" baseline="-25000" dirty="0"/>
              <a:t>2    </a:t>
            </a:r>
            <a:r>
              <a:rPr lang="en-US" altLang="en-US" sz="2400" dirty="0"/>
              <a:t>- </a:t>
            </a:r>
            <a:r>
              <a:rPr lang="en-US" altLang="en-US" sz="2400" i="1" dirty="0"/>
              <a:t>x</a:t>
            </a:r>
            <a:r>
              <a:rPr lang="en-US" altLang="en-US" sz="2400" baseline="-25000" dirty="0"/>
              <a:t>3  </a:t>
            </a:r>
            <a:r>
              <a:rPr lang="en-US" altLang="en-US" sz="2400" dirty="0"/>
              <a:t>= -3 </a:t>
            </a:r>
            <a:br>
              <a:rPr lang="en-US" altLang="en-US" sz="2400" dirty="0"/>
            </a:br>
            <a:endParaRPr lang="en-US" altLang="en-US" sz="2400" dirty="0"/>
          </a:p>
          <a:p>
            <a:r>
              <a:rPr lang="en-US" altLang="en-US" sz="2400" b="1" dirty="0"/>
              <a:t>coefficient matrix</a:t>
            </a:r>
            <a:endParaRPr lang="en-US" altLang="en-US" sz="24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9625797-EB36-4814-9FDF-59248B47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23</a:t>
            </a:fld>
            <a:endParaRPr lang="ar-SA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xmlns="" id="{1BF8C8FE-0253-4147-B47A-01DDD368EF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726749"/>
              </p:ext>
            </p:extLst>
          </p:nvPr>
        </p:nvGraphicFramePr>
        <p:xfrm>
          <a:off x="2934383" y="4297680"/>
          <a:ext cx="1943608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902">
                  <a:extLst>
                    <a:ext uri="{9D8B030D-6E8A-4147-A177-3AD203B41FA5}">
                      <a16:colId xmlns:a16="http://schemas.microsoft.com/office/drawing/2014/main" xmlns="" val="2389328959"/>
                    </a:ext>
                  </a:extLst>
                </a:gridCol>
                <a:gridCol w="485902">
                  <a:extLst>
                    <a:ext uri="{9D8B030D-6E8A-4147-A177-3AD203B41FA5}">
                      <a16:colId xmlns:a16="http://schemas.microsoft.com/office/drawing/2014/main" xmlns="" val="3915155535"/>
                    </a:ext>
                  </a:extLst>
                </a:gridCol>
                <a:gridCol w="485902">
                  <a:extLst>
                    <a:ext uri="{9D8B030D-6E8A-4147-A177-3AD203B41FA5}">
                      <a16:colId xmlns:a16="http://schemas.microsoft.com/office/drawing/2014/main" xmlns="" val="3272112401"/>
                    </a:ext>
                  </a:extLst>
                </a:gridCol>
                <a:gridCol w="485902">
                  <a:extLst>
                    <a:ext uri="{9D8B030D-6E8A-4147-A177-3AD203B41FA5}">
                      <a16:colId xmlns:a16="http://schemas.microsoft.com/office/drawing/2014/main" xmlns="" val="16010581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</a:rPr>
                        <a:t>-4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</a:rPr>
                        <a:t>6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45032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</a:rPr>
                        <a:t>3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12219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49142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05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B9FFB5-F1FD-4F01-80E3-86444D850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of Gaussian Elimination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E2B955F-EEE0-4AE5-BCB6-BBC1A8C9F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916832"/>
            <a:ext cx="7290054" cy="4392528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Gaussian elimination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9625797-EB36-4814-9FDF-59248B47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24</a:t>
            </a:fld>
            <a:endParaRPr lang="ar-SA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xmlns="" id="{1BF8C8FE-0253-4147-B47A-01DDD368EF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740965"/>
              </p:ext>
            </p:extLst>
          </p:nvPr>
        </p:nvGraphicFramePr>
        <p:xfrm>
          <a:off x="827584" y="2636912"/>
          <a:ext cx="1943608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902">
                  <a:extLst>
                    <a:ext uri="{9D8B030D-6E8A-4147-A177-3AD203B41FA5}">
                      <a16:colId xmlns:a16="http://schemas.microsoft.com/office/drawing/2014/main" xmlns="" val="2389328959"/>
                    </a:ext>
                  </a:extLst>
                </a:gridCol>
                <a:gridCol w="485902">
                  <a:extLst>
                    <a:ext uri="{9D8B030D-6E8A-4147-A177-3AD203B41FA5}">
                      <a16:colId xmlns:a16="http://schemas.microsoft.com/office/drawing/2014/main" xmlns="" val="3915155535"/>
                    </a:ext>
                  </a:extLst>
                </a:gridCol>
                <a:gridCol w="485902">
                  <a:extLst>
                    <a:ext uri="{9D8B030D-6E8A-4147-A177-3AD203B41FA5}">
                      <a16:colId xmlns:a16="http://schemas.microsoft.com/office/drawing/2014/main" xmlns="" val="3272112401"/>
                    </a:ext>
                  </a:extLst>
                </a:gridCol>
                <a:gridCol w="485902">
                  <a:extLst>
                    <a:ext uri="{9D8B030D-6E8A-4147-A177-3AD203B41FA5}">
                      <a16:colId xmlns:a16="http://schemas.microsoft.com/office/drawing/2014/main" xmlns="" val="16010581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sz="1800" b="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</a:rPr>
                        <a:t>-4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</a:rPr>
                        <a:t>6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45032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sz="1800" b="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12219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4914242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8B9B1AF-FCC3-4B8A-867E-6DEAC1FFC42C}"/>
              </a:ext>
            </a:extLst>
          </p:cNvPr>
          <p:cNvSpPr/>
          <p:nvPr/>
        </p:nvSpPr>
        <p:spPr>
          <a:xfrm>
            <a:off x="2747774" y="3008506"/>
            <a:ext cx="20099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/>
              <a:t>row2 – (3/2)*row1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5">
                <a:extLst>
                  <a:ext uri="{FF2B5EF4-FFF2-40B4-BE49-F238E27FC236}">
                    <a16:creationId xmlns:a16="http://schemas.microsoft.com/office/drawing/2014/main" xmlns="" id="{6E9645FE-C90A-4CC1-95D1-8D2CBB5D7A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3076118"/>
                  </p:ext>
                </p:extLst>
              </p:nvPr>
            </p:nvGraphicFramePr>
            <p:xfrm>
              <a:off x="774143" y="3928472"/>
              <a:ext cx="1943608" cy="122047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85902">
                      <a:extLst>
                        <a:ext uri="{9D8B030D-6E8A-4147-A177-3AD203B41FA5}">
                          <a16:colId xmlns:a16="http://schemas.microsoft.com/office/drawing/2014/main" xmlns="" val="2389328959"/>
                        </a:ext>
                      </a:extLst>
                    </a:gridCol>
                    <a:gridCol w="485902">
                      <a:extLst>
                        <a:ext uri="{9D8B030D-6E8A-4147-A177-3AD203B41FA5}">
                          <a16:colId xmlns:a16="http://schemas.microsoft.com/office/drawing/2014/main" xmlns="" val="3915155535"/>
                        </a:ext>
                      </a:extLst>
                    </a:gridCol>
                    <a:gridCol w="485902">
                      <a:extLst>
                        <a:ext uri="{9D8B030D-6E8A-4147-A177-3AD203B41FA5}">
                          <a16:colId xmlns:a16="http://schemas.microsoft.com/office/drawing/2014/main" xmlns="" val="3272112401"/>
                        </a:ext>
                      </a:extLst>
                    </a:gridCol>
                    <a:gridCol w="485902">
                      <a:extLst>
                        <a:ext uri="{9D8B030D-6E8A-4147-A177-3AD203B41FA5}">
                          <a16:colId xmlns:a16="http://schemas.microsoft.com/office/drawing/2014/main" xmlns="" val="16010581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US" sz="1800" b="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-4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1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6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745032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0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-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12219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-3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7491424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5">
                <a:extLst>
                  <a:ext uri="{FF2B5EF4-FFF2-40B4-BE49-F238E27FC236}">
                    <a16:creationId xmlns:a16="http://schemas.microsoft.com/office/drawing/2014/main" id="{6E9645FE-C90A-4CC1-95D1-8D2CBB5D7A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3076118"/>
                  </p:ext>
                </p:extLst>
              </p:nvPr>
            </p:nvGraphicFramePr>
            <p:xfrm>
              <a:off x="774143" y="3928472"/>
              <a:ext cx="1943608" cy="122047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85902">
                      <a:extLst>
                        <a:ext uri="{9D8B030D-6E8A-4147-A177-3AD203B41FA5}">
                          <a16:colId xmlns:a16="http://schemas.microsoft.com/office/drawing/2014/main" val="2389328959"/>
                        </a:ext>
                      </a:extLst>
                    </a:gridCol>
                    <a:gridCol w="485902">
                      <a:extLst>
                        <a:ext uri="{9D8B030D-6E8A-4147-A177-3AD203B41FA5}">
                          <a16:colId xmlns:a16="http://schemas.microsoft.com/office/drawing/2014/main" val="3915155535"/>
                        </a:ext>
                      </a:extLst>
                    </a:gridCol>
                    <a:gridCol w="485902">
                      <a:extLst>
                        <a:ext uri="{9D8B030D-6E8A-4147-A177-3AD203B41FA5}">
                          <a16:colId xmlns:a16="http://schemas.microsoft.com/office/drawing/2014/main" val="3272112401"/>
                        </a:ext>
                      </a:extLst>
                    </a:gridCol>
                    <a:gridCol w="485902">
                      <a:extLst>
                        <a:ext uri="{9D8B030D-6E8A-4147-A177-3AD203B41FA5}">
                          <a16:colId xmlns:a16="http://schemas.microsoft.com/office/drawing/2014/main" val="16010581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US" sz="1800" b="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-4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1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6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5032062"/>
                      </a:ext>
                    </a:extLst>
                  </a:tr>
                  <a:tr h="47879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0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83544" r="-100000" b="-96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2219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-3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91424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11733972-CE20-4331-95AC-BED6E7261409}"/>
              </a:ext>
            </a:extLst>
          </p:cNvPr>
          <p:cNvSpPr/>
          <p:nvPr/>
        </p:nvSpPr>
        <p:spPr>
          <a:xfrm>
            <a:off x="2688234" y="4742093"/>
            <a:ext cx="20099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/>
              <a:t>row3 – (1/2)*row1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5">
                <a:extLst>
                  <a:ext uri="{FF2B5EF4-FFF2-40B4-BE49-F238E27FC236}">
                    <a16:creationId xmlns:a16="http://schemas.microsoft.com/office/drawing/2014/main" xmlns="" id="{E9DDB14F-2B5C-48C8-B716-AA80659C29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1096475"/>
                  </p:ext>
                </p:extLst>
              </p:nvPr>
            </p:nvGraphicFramePr>
            <p:xfrm>
              <a:off x="5652728" y="2645344"/>
              <a:ext cx="1943608" cy="122047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85902">
                      <a:extLst>
                        <a:ext uri="{9D8B030D-6E8A-4147-A177-3AD203B41FA5}">
                          <a16:colId xmlns:a16="http://schemas.microsoft.com/office/drawing/2014/main" xmlns="" val="2389328959"/>
                        </a:ext>
                      </a:extLst>
                    </a:gridCol>
                    <a:gridCol w="485902">
                      <a:extLst>
                        <a:ext uri="{9D8B030D-6E8A-4147-A177-3AD203B41FA5}">
                          <a16:colId xmlns:a16="http://schemas.microsoft.com/office/drawing/2014/main" xmlns="" val="3915155535"/>
                        </a:ext>
                      </a:extLst>
                    </a:gridCol>
                    <a:gridCol w="485902">
                      <a:extLst>
                        <a:ext uri="{9D8B030D-6E8A-4147-A177-3AD203B41FA5}">
                          <a16:colId xmlns:a16="http://schemas.microsoft.com/office/drawing/2014/main" xmlns="" val="3272112401"/>
                        </a:ext>
                      </a:extLst>
                    </a:gridCol>
                    <a:gridCol w="485902">
                      <a:extLst>
                        <a:ext uri="{9D8B030D-6E8A-4147-A177-3AD203B41FA5}">
                          <a16:colId xmlns:a16="http://schemas.microsoft.com/office/drawing/2014/main" xmlns="" val="16010581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2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-4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1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6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745032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0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-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12219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-3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7491424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5">
                <a:extLst>
                  <a:ext uri="{FF2B5EF4-FFF2-40B4-BE49-F238E27FC236}">
                    <a16:creationId xmlns:a16="http://schemas.microsoft.com/office/drawing/2014/main" id="{E9DDB14F-2B5C-48C8-B716-AA80659C29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1096475"/>
                  </p:ext>
                </p:extLst>
              </p:nvPr>
            </p:nvGraphicFramePr>
            <p:xfrm>
              <a:off x="5652728" y="2645344"/>
              <a:ext cx="1943608" cy="122047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85902">
                      <a:extLst>
                        <a:ext uri="{9D8B030D-6E8A-4147-A177-3AD203B41FA5}">
                          <a16:colId xmlns:a16="http://schemas.microsoft.com/office/drawing/2014/main" val="2389328959"/>
                        </a:ext>
                      </a:extLst>
                    </a:gridCol>
                    <a:gridCol w="485902">
                      <a:extLst>
                        <a:ext uri="{9D8B030D-6E8A-4147-A177-3AD203B41FA5}">
                          <a16:colId xmlns:a16="http://schemas.microsoft.com/office/drawing/2014/main" val="3915155535"/>
                        </a:ext>
                      </a:extLst>
                    </a:gridCol>
                    <a:gridCol w="485902">
                      <a:extLst>
                        <a:ext uri="{9D8B030D-6E8A-4147-A177-3AD203B41FA5}">
                          <a16:colId xmlns:a16="http://schemas.microsoft.com/office/drawing/2014/main" val="3272112401"/>
                        </a:ext>
                      </a:extLst>
                    </a:gridCol>
                    <a:gridCol w="485902">
                      <a:extLst>
                        <a:ext uri="{9D8B030D-6E8A-4147-A177-3AD203B41FA5}">
                          <a16:colId xmlns:a16="http://schemas.microsoft.com/office/drawing/2014/main" val="16010581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2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-4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1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6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5032062"/>
                      </a:ext>
                    </a:extLst>
                  </a:tr>
                  <a:tr h="47879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0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82500" r="-100000" b="-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2219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-3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91424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5">
                <a:extLst>
                  <a:ext uri="{FF2B5EF4-FFF2-40B4-BE49-F238E27FC236}">
                    <a16:creationId xmlns:a16="http://schemas.microsoft.com/office/drawing/2014/main" xmlns="" id="{BA6F1FAB-7FB9-4E1F-91B1-D3976D0789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2122625"/>
                  </p:ext>
                </p:extLst>
              </p:nvPr>
            </p:nvGraphicFramePr>
            <p:xfrm>
              <a:off x="5652728" y="3928472"/>
              <a:ext cx="1943608" cy="132899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85902">
                      <a:extLst>
                        <a:ext uri="{9D8B030D-6E8A-4147-A177-3AD203B41FA5}">
                          <a16:colId xmlns:a16="http://schemas.microsoft.com/office/drawing/2014/main" xmlns="" val="2389328959"/>
                        </a:ext>
                      </a:extLst>
                    </a:gridCol>
                    <a:gridCol w="485902">
                      <a:extLst>
                        <a:ext uri="{9D8B030D-6E8A-4147-A177-3AD203B41FA5}">
                          <a16:colId xmlns:a16="http://schemas.microsoft.com/office/drawing/2014/main" xmlns="" val="3915155535"/>
                        </a:ext>
                      </a:extLst>
                    </a:gridCol>
                    <a:gridCol w="485902">
                      <a:extLst>
                        <a:ext uri="{9D8B030D-6E8A-4147-A177-3AD203B41FA5}">
                          <a16:colId xmlns:a16="http://schemas.microsoft.com/office/drawing/2014/main" xmlns="" val="3272112401"/>
                        </a:ext>
                      </a:extLst>
                    </a:gridCol>
                    <a:gridCol w="485902">
                      <a:extLst>
                        <a:ext uri="{9D8B030D-6E8A-4147-A177-3AD203B41FA5}">
                          <a16:colId xmlns:a16="http://schemas.microsoft.com/office/drawing/2014/main" xmlns="" val="16010581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2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-4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1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6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745032062"/>
                      </a:ext>
                    </a:extLst>
                  </a:tr>
                  <a:tr h="453648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0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-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12219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-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-6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7491424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5">
                <a:extLst>
                  <a:ext uri="{FF2B5EF4-FFF2-40B4-BE49-F238E27FC236}">
                    <a16:creationId xmlns:a16="http://schemas.microsoft.com/office/drawing/2014/main" id="{BA6F1FAB-7FB9-4E1F-91B1-D3976D0789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2122625"/>
                  </p:ext>
                </p:extLst>
              </p:nvPr>
            </p:nvGraphicFramePr>
            <p:xfrm>
              <a:off x="5652728" y="3928472"/>
              <a:ext cx="1943608" cy="132899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85902">
                      <a:extLst>
                        <a:ext uri="{9D8B030D-6E8A-4147-A177-3AD203B41FA5}">
                          <a16:colId xmlns:a16="http://schemas.microsoft.com/office/drawing/2014/main" val="2389328959"/>
                        </a:ext>
                      </a:extLst>
                    </a:gridCol>
                    <a:gridCol w="485902">
                      <a:extLst>
                        <a:ext uri="{9D8B030D-6E8A-4147-A177-3AD203B41FA5}">
                          <a16:colId xmlns:a16="http://schemas.microsoft.com/office/drawing/2014/main" val="3915155535"/>
                        </a:ext>
                      </a:extLst>
                    </a:gridCol>
                    <a:gridCol w="485902">
                      <a:extLst>
                        <a:ext uri="{9D8B030D-6E8A-4147-A177-3AD203B41FA5}">
                          <a16:colId xmlns:a16="http://schemas.microsoft.com/office/drawing/2014/main" val="3272112401"/>
                        </a:ext>
                      </a:extLst>
                    </a:gridCol>
                    <a:gridCol w="485902">
                      <a:extLst>
                        <a:ext uri="{9D8B030D-6E8A-4147-A177-3AD203B41FA5}">
                          <a16:colId xmlns:a16="http://schemas.microsoft.com/office/drawing/2014/main" val="16010581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2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-4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1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6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5032062"/>
                      </a:ext>
                    </a:extLst>
                  </a:tr>
                  <a:tr h="47879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0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83544" r="-100000" b="-1088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2219006"/>
                      </a:ext>
                    </a:extLst>
                  </a:tr>
                  <a:tr h="4793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83544" r="-100000" b="-88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-6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914242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43462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B9FFB5-F1FD-4F01-80E3-86444D850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of Gaussian Elimination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9625797-EB36-4814-9FDF-59248B47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25</a:t>
            </a:fld>
            <a:endParaRPr lang="ar-SA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11733972-CE20-4331-95AC-BED6E7261409}"/>
              </a:ext>
            </a:extLst>
          </p:cNvPr>
          <p:cNvSpPr/>
          <p:nvPr/>
        </p:nvSpPr>
        <p:spPr>
          <a:xfrm>
            <a:off x="2688234" y="2771636"/>
            <a:ext cx="20099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/>
              <a:t>row3 – (3/5)*row2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5">
                <a:extLst>
                  <a:ext uri="{FF2B5EF4-FFF2-40B4-BE49-F238E27FC236}">
                    <a16:creationId xmlns:a16="http://schemas.microsoft.com/office/drawing/2014/main" xmlns="" id="{BA6F1FAB-7FB9-4E1F-91B1-D3976D0789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996050"/>
                  </p:ext>
                </p:extLst>
              </p:nvPr>
            </p:nvGraphicFramePr>
            <p:xfrm>
              <a:off x="755576" y="1916832"/>
              <a:ext cx="1943608" cy="132899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85902">
                      <a:extLst>
                        <a:ext uri="{9D8B030D-6E8A-4147-A177-3AD203B41FA5}">
                          <a16:colId xmlns:a16="http://schemas.microsoft.com/office/drawing/2014/main" xmlns="" val="2389328959"/>
                        </a:ext>
                      </a:extLst>
                    </a:gridCol>
                    <a:gridCol w="485902">
                      <a:extLst>
                        <a:ext uri="{9D8B030D-6E8A-4147-A177-3AD203B41FA5}">
                          <a16:colId xmlns:a16="http://schemas.microsoft.com/office/drawing/2014/main" xmlns="" val="3915155535"/>
                        </a:ext>
                      </a:extLst>
                    </a:gridCol>
                    <a:gridCol w="485902">
                      <a:extLst>
                        <a:ext uri="{9D8B030D-6E8A-4147-A177-3AD203B41FA5}">
                          <a16:colId xmlns:a16="http://schemas.microsoft.com/office/drawing/2014/main" xmlns="" val="3272112401"/>
                        </a:ext>
                      </a:extLst>
                    </a:gridCol>
                    <a:gridCol w="485902">
                      <a:extLst>
                        <a:ext uri="{9D8B030D-6E8A-4147-A177-3AD203B41FA5}">
                          <a16:colId xmlns:a16="http://schemas.microsoft.com/office/drawing/2014/main" xmlns="" val="16010581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2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-4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1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6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745032062"/>
                      </a:ext>
                    </a:extLst>
                  </a:tr>
                  <a:tr h="453648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0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rgbClr val="FF0000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-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12219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-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-6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7491424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5">
                <a:extLst>
                  <a:ext uri="{FF2B5EF4-FFF2-40B4-BE49-F238E27FC236}">
                    <a16:creationId xmlns:a16="http://schemas.microsoft.com/office/drawing/2014/main" id="{BA6F1FAB-7FB9-4E1F-91B1-D3976D0789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996050"/>
                  </p:ext>
                </p:extLst>
              </p:nvPr>
            </p:nvGraphicFramePr>
            <p:xfrm>
              <a:off x="755576" y="1916832"/>
              <a:ext cx="1943608" cy="132899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85902">
                      <a:extLst>
                        <a:ext uri="{9D8B030D-6E8A-4147-A177-3AD203B41FA5}">
                          <a16:colId xmlns:a16="http://schemas.microsoft.com/office/drawing/2014/main" val="2389328959"/>
                        </a:ext>
                      </a:extLst>
                    </a:gridCol>
                    <a:gridCol w="485902">
                      <a:extLst>
                        <a:ext uri="{9D8B030D-6E8A-4147-A177-3AD203B41FA5}">
                          <a16:colId xmlns:a16="http://schemas.microsoft.com/office/drawing/2014/main" val="3915155535"/>
                        </a:ext>
                      </a:extLst>
                    </a:gridCol>
                    <a:gridCol w="485902">
                      <a:extLst>
                        <a:ext uri="{9D8B030D-6E8A-4147-A177-3AD203B41FA5}">
                          <a16:colId xmlns:a16="http://schemas.microsoft.com/office/drawing/2014/main" val="3272112401"/>
                        </a:ext>
                      </a:extLst>
                    </a:gridCol>
                    <a:gridCol w="485902">
                      <a:extLst>
                        <a:ext uri="{9D8B030D-6E8A-4147-A177-3AD203B41FA5}">
                          <a16:colId xmlns:a16="http://schemas.microsoft.com/office/drawing/2014/main" val="16010581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2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-4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1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6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5032062"/>
                      </a:ext>
                    </a:extLst>
                  </a:tr>
                  <a:tr h="47879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0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rgbClr val="FF0000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83544" r="-100000" b="-1088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2219006"/>
                      </a:ext>
                    </a:extLst>
                  </a:tr>
                  <a:tr h="4793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83544" r="-100000" b="-88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-6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91424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5">
                <a:extLst>
                  <a:ext uri="{FF2B5EF4-FFF2-40B4-BE49-F238E27FC236}">
                    <a16:creationId xmlns:a16="http://schemas.microsoft.com/office/drawing/2014/main" xmlns="" id="{88DE86C7-9540-4CFC-A5E6-5CC38ADB5C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5859063"/>
                  </p:ext>
                </p:extLst>
              </p:nvPr>
            </p:nvGraphicFramePr>
            <p:xfrm>
              <a:off x="5364696" y="1916832"/>
              <a:ext cx="2159632" cy="133070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39908">
                      <a:extLst>
                        <a:ext uri="{9D8B030D-6E8A-4147-A177-3AD203B41FA5}">
                          <a16:colId xmlns:a16="http://schemas.microsoft.com/office/drawing/2014/main" xmlns="" val="2389328959"/>
                        </a:ext>
                      </a:extLst>
                    </a:gridCol>
                    <a:gridCol w="539908">
                      <a:extLst>
                        <a:ext uri="{9D8B030D-6E8A-4147-A177-3AD203B41FA5}">
                          <a16:colId xmlns:a16="http://schemas.microsoft.com/office/drawing/2014/main" xmlns="" val="3915155535"/>
                        </a:ext>
                      </a:extLst>
                    </a:gridCol>
                    <a:gridCol w="539908">
                      <a:extLst>
                        <a:ext uri="{9D8B030D-6E8A-4147-A177-3AD203B41FA5}">
                          <a16:colId xmlns:a16="http://schemas.microsoft.com/office/drawing/2014/main" xmlns="" val="3272112401"/>
                        </a:ext>
                      </a:extLst>
                    </a:gridCol>
                    <a:gridCol w="539908">
                      <a:extLst>
                        <a:ext uri="{9D8B030D-6E8A-4147-A177-3AD203B41FA5}">
                          <a16:colId xmlns:a16="http://schemas.microsoft.com/office/drawing/2014/main" xmlns="" val="16010581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2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-4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1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6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745032062"/>
                      </a:ext>
                    </a:extLst>
                  </a:tr>
                  <a:tr h="453648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0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-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12219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-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-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36</m:t>
                                  </m:r>
                                </m:num>
                                <m:den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7491424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5">
                <a:extLst>
                  <a:ext uri="{FF2B5EF4-FFF2-40B4-BE49-F238E27FC236}">
                    <a16:creationId xmlns:a16="http://schemas.microsoft.com/office/drawing/2014/main" id="{88DE86C7-9540-4CFC-A5E6-5CC38ADB5C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5859063"/>
                  </p:ext>
                </p:extLst>
              </p:nvPr>
            </p:nvGraphicFramePr>
            <p:xfrm>
              <a:off x="5364696" y="1916832"/>
              <a:ext cx="2159632" cy="133070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39908">
                      <a:extLst>
                        <a:ext uri="{9D8B030D-6E8A-4147-A177-3AD203B41FA5}">
                          <a16:colId xmlns:a16="http://schemas.microsoft.com/office/drawing/2014/main" val="2389328959"/>
                        </a:ext>
                      </a:extLst>
                    </a:gridCol>
                    <a:gridCol w="539908">
                      <a:extLst>
                        <a:ext uri="{9D8B030D-6E8A-4147-A177-3AD203B41FA5}">
                          <a16:colId xmlns:a16="http://schemas.microsoft.com/office/drawing/2014/main" val="3915155535"/>
                        </a:ext>
                      </a:extLst>
                    </a:gridCol>
                    <a:gridCol w="539908">
                      <a:extLst>
                        <a:ext uri="{9D8B030D-6E8A-4147-A177-3AD203B41FA5}">
                          <a16:colId xmlns:a16="http://schemas.microsoft.com/office/drawing/2014/main" val="3272112401"/>
                        </a:ext>
                      </a:extLst>
                    </a:gridCol>
                    <a:gridCol w="539908">
                      <a:extLst>
                        <a:ext uri="{9D8B030D-6E8A-4147-A177-3AD203B41FA5}">
                          <a16:colId xmlns:a16="http://schemas.microsoft.com/office/drawing/2014/main" val="16010581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2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-4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1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6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5032062"/>
                      </a:ext>
                    </a:extLst>
                  </a:tr>
                  <a:tr h="47879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</a:rPr>
                            <a:t>0</a:t>
                          </a:r>
                          <a:endParaRPr 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2273" t="-83544" r="-101136" b="-1088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2219006"/>
                      </a:ext>
                    </a:extLst>
                  </a:tr>
                  <a:tr h="4810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2273" t="-183544" r="-101136" b="-88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8876" t="-183544" b="-88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91424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="" id="{348E457C-1A94-4F70-A452-03D5DC0119D8}"/>
                  </a:ext>
                </a:extLst>
              </p:cNvPr>
              <p:cNvSpPr/>
              <p:nvPr/>
            </p:nvSpPr>
            <p:spPr>
              <a:xfrm>
                <a:off x="625058" y="3717033"/>
                <a:ext cx="7502941" cy="27798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altLang="en-US" sz="1600" b="1" dirty="0"/>
                  <a:t> </a:t>
                </a:r>
                <a:r>
                  <a:rPr lang="en-US" altLang="en-US" b="1" dirty="0"/>
                  <a:t>Backward substitution</a:t>
                </a:r>
              </a:p>
              <a:p>
                <a:pPr>
                  <a:lnSpc>
                    <a:spcPct val="80000"/>
                  </a:lnSpc>
                </a:pPr>
                <a:endParaRPr lang="en-US" altLang="en-US" dirty="0"/>
              </a:p>
              <a:p>
                <a:pPr>
                  <a:lnSpc>
                    <a:spcPct val="80000"/>
                  </a:lnSpc>
                </a:pPr>
                <a:r>
                  <a:rPr lang="en-US" altLang="en-US" dirty="0"/>
                  <a:t> </a:t>
                </a:r>
                <a:r>
                  <a:rPr lang="en-US" sz="2400" dirty="0"/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altLang="en-US" sz="2400" dirty="0"/>
                  <a:t> x</a:t>
                </a:r>
                <a:r>
                  <a:rPr lang="en-US" altLang="en-US" sz="2400" baseline="-25000" dirty="0"/>
                  <a:t>3</a:t>
                </a:r>
                <a:r>
                  <a:rPr lang="en-US" altLang="en-US" sz="2400" dirty="0"/>
                  <a:t>  = </a:t>
                </a:r>
                <a:r>
                  <a:rPr lang="en-US" sz="2400" dirty="0"/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/>
                  <a:t>     	 	6</a:t>
                </a:r>
                <a:r>
                  <a:rPr lang="en-US" altLang="en-US" sz="2400" dirty="0"/>
                  <a:t>x</a:t>
                </a:r>
                <a:r>
                  <a:rPr lang="en-US" altLang="en-US" sz="2400" baseline="-25000" dirty="0"/>
                  <a:t>3</a:t>
                </a:r>
                <a:r>
                  <a:rPr lang="en-US" altLang="en-US" sz="2400" dirty="0"/>
                  <a:t>   = 36 		 ,        	x</a:t>
                </a:r>
                <a:r>
                  <a:rPr lang="en-US" altLang="en-US" sz="2400" baseline="-25000" dirty="0"/>
                  <a:t>3</a:t>
                </a:r>
                <a:r>
                  <a:rPr lang="en-US" altLang="en-US" sz="2400" dirty="0"/>
                  <a:t>   = 6</a:t>
                </a:r>
              </a:p>
              <a:p>
                <a:pPr>
                  <a:lnSpc>
                    <a:spcPct val="80000"/>
                  </a:lnSpc>
                </a:pPr>
                <a:endParaRPr lang="en-US" sz="2400" dirty="0"/>
              </a:p>
              <a:p>
                <a:pPr>
                  <a:lnSpc>
                    <a:spcPct val="80000"/>
                  </a:lnSpc>
                </a:pPr>
                <a:r>
                  <a:rPr lang="en-US" sz="2400" dirty="0"/>
                  <a:t>5 </a:t>
                </a:r>
                <a:r>
                  <a:rPr lang="en-US" altLang="en-US" sz="2400" dirty="0"/>
                  <a:t>x</a:t>
                </a:r>
                <a:r>
                  <a:rPr lang="en-US" altLang="en-US" sz="2400" baseline="-25000" dirty="0"/>
                  <a:t>2 </a:t>
                </a:r>
                <a:r>
                  <a:rPr lang="en-US" sz="2400" dirty="0"/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en-US" sz="2400" dirty="0"/>
                  <a:t> x</a:t>
                </a:r>
                <a:r>
                  <a:rPr lang="en-US" altLang="en-US" sz="2400" baseline="-25000" dirty="0"/>
                  <a:t>3</a:t>
                </a:r>
                <a:r>
                  <a:rPr lang="en-US" altLang="en-US" sz="2400" dirty="0"/>
                  <a:t>  = 2   	 	5x</a:t>
                </a:r>
                <a:r>
                  <a:rPr lang="en-US" altLang="en-US" sz="2400" baseline="-25000" dirty="0"/>
                  <a:t>2  </a:t>
                </a:r>
                <a:r>
                  <a:rPr lang="en-US" altLang="en-US" sz="2400" dirty="0"/>
                  <a:t>= 2 + 3		 ,       	x</a:t>
                </a:r>
                <a:r>
                  <a:rPr lang="en-US" altLang="en-US" sz="2400" baseline="-25000" dirty="0"/>
                  <a:t>2</a:t>
                </a:r>
                <a:r>
                  <a:rPr lang="en-US" altLang="en-US" sz="2400" dirty="0"/>
                  <a:t>   = 1</a:t>
                </a:r>
              </a:p>
              <a:p>
                <a:pPr>
                  <a:lnSpc>
                    <a:spcPct val="80000"/>
                  </a:lnSpc>
                </a:pPr>
                <a:endParaRPr lang="en-US" sz="2400" dirty="0"/>
              </a:p>
              <a:p>
                <a:pPr>
                  <a:lnSpc>
                    <a:spcPct val="80000"/>
                  </a:lnSpc>
                </a:pPr>
                <a:r>
                  <a:rPr lang="en-US" sz="2400" dirty="0"/>
                  <a:t>2 </a:t>
                </a:r>
                <a:r>
                  <a:rPr lang="en-US" altLang="en-US" sz="2400" dirty="0"/>
                  <a:t>x</a:t>
                </a:r>
                <a:r>
                  <a:rPr lang="en-US" altLang="en-US" sz="2400" baseline="-25000" dirty="0"/>
                  <a:t>1 </a:t>
                </a:r>
                <a:r>
                  <a:rPr lang="en-US" sz="2400" dirty="0"/>
                  <a:t>- 4</a:t>
                </a:r>
                <a:r>
                  <a:rPr lang="en-US" altLang="en-US" sz="2400" dirty="0"/>
                  <a:t>x</a:t>
                </a:r>
                <a:r>
                  <a:rPr lang="en-US" altLang="en-US" sz="2400" baseline="-25000" dirty="0"/>
                  <a:t>2</a:t>
                </a:r>
                <a:r>
                  <a:rPr lang="en-US" altLang="en-US" sz="2400" dirty="0"/>
                  <a:t> + x</a:t>
                </a:r>
                <a:r>
                  <a:rPr lang="en-US" altLang="en-US" sz="2400" baseline="-25000" dirty="0"/>
                  <a:t>3</a:t>
                </a:r>
                <a:r>
                  <a:rPr lang="en-US" altLang="en-US" sz="2400" dirty="0"/>
                  <a:t> = 6    </a:t>
                </a:r>
                <a:r>
                  <a:rPr lang="en-US" sz="2400" dirty="0"/>
                  <a:t>2 </a:t>
                </a:r>
                <a:r>
                  <a:rPr lang="en-US" altLang="en-US" sz="2400" dirty="0"/>
                  <a:t>x</a:t>
                </a:r>
                <a:r>
                  <a:rPr lang="en-US" altLang="en-US" sz="2400" baseline="-25000" dirty="0"/>
                  <a:t>1</a:t>
                </a:r>
                <a:r>
                  <a:rPr lang="en-US" altLang="en-US" sz="2400" dirty="0"/>
                  <a:t> = 6 -2 		,       	x</a:t>
                </a:r>
                <a:r>
                  <a:rPr lang="en-US" altLang="en-US" sz="2400" baseline="-25000" dirty="0"/>
                  <a:t>1</a:t>
                </a:r>
                <a:r>
                  <a:rPr lang="en-US" altLang="en-US" sz="2400" dirty="0"/>
                  <a:t>   = 2</a:t>
                </a:r>
              </a:p>
              <a:p>
                <a:pPr>
                  <a:lnSpc>
                    <a:spcPct val="80000"/>
                  </a:lnSpc>
                </a:pPr>
                <a:endParaRPr lang="en-US" sz="2400" dirty="0"/>
              </a:p>
              <a:p>
                <a:pPr>
                  <a:lnSpc>
                    <a:spcPct val="80000"/>
                  </a:lnSpc>
                </a:pPr>
                <a:r>
                  <a:rPr lang="en-US" altLang="en-US" dirty="0"/>
                  <a:t>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48E457C-1A94-4F70-A452-03D5DC0119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58" y="3717033"/>
                <a:ext cx="7502941" cy="2779800"/>
              </a:xfrm>
              <a:prstGeom prst="rect">
                <a:avLst/>
              </a:prstGeom>
              <a:blipFill>
                <a:blip r:embed="rId4"/>
                <a:stretch>
                  <a:fillRect l="-1301" t="-3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D215D66-E54B-4BFA-9380-7A24BF7903FB}"/>
              </a:ext>
            </a:extLst>
          </p:cNvPr>
          <p:cNvSpPr/>
          <p:nvPr/>
        </p:nvSpPr>
        <p:spPr>
          <a:xfrm>
            <a:off x="5148064" y="3186968"/>
            <a:ext cx="34999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upper triangular coefficient matrix</a:t>
            </a:r>
            <a:r>
              <a:rPr lang="en-US" altLang="en-US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677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3B19FB-CA00-41E7-829D-8A51BF295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Pseudocode and Efficiency of Gaussian Elimination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971AA06-07A0-4B99-84C9-51DA500DE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7290054" cy="402336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en-US" sz="2400" dirty="0"/>
              <a:t>Stage 1: Reduction to an upper-triangular matrix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400" dirty="0"/>
              <a:t>for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i</a:t>
            </a:r>
            <a:r>
              <a:rPr lang="en-US" altLang="en-US" sz="2400" i="1" dirty="0"/>
              <a:t> </a:t>
            </a:r>
            <a:r>
              <a:rPr lang="en-US" altLang="en-US" sz="2400" dirty="0">
                <a:cs typeface="Times New Roman" panose="02020603050405020304" pitchFamily="18" charset="0"/>
              </a:rPr>
              <a:t>←</a:t>
            </a:r>
            <a:r>
              <a:rPr lang="en-US" altLang="en-US" sz="2400" dirty="0"/>
              <a:t> 1 to </a:t>
            </a:r>
            <a:r>
              <a:rPr lang="en-US" altLang="en-US" sz="2400" i="1" dirty="0"/>
              <a:t>n-</a:t>
            </a:r>
            <a:r>
              <a:rPr lang="en-US" altLang="en-US" sz="2400" dirty="0"/>
              <a:t>1 do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400" dirty="0"/>
              <a:t>     for</a:t>
            </a:r>
            <a:r>
              <a:rPr lang="en-US" altLang="en-US" sz="2400" i="1" dirty="0"/>
              <a:t> j </a:t>
            </a:r>
            <a:r>
              <a:rPr lang="en-US" altLang="en-US" sz="2400" dirty="0">
                <a:cs typeface="Times New Roman" panose="02020603050405020304" pitchFamily="18" charset="0"/>
              </a:rPr>
              <a:t>←</a:t>
            </a:r>
            <a:r>
              <a:rPr lang="en-US" altLang="en-US" sz="2400" dirty="0"/>
              <a:t> </a:t>
            </a:r>
            <a:r>
              <a:rPr lang="en-US" altLang="en-US" sz="2400" i="1" dirty="0"/>
              <a:t>i</a:t>
            </a:r>
            <a:r>
              <a:rPr lang="en-US" altLang="en-US" sz="2400" dirty="0"/>
              <a:t>+1 to </a:t>
            </a:r>
            <a:r>
              <a:rPr lang="en-US" altLang="en-US" sz="2400" i="1" dirty="0"/>
              <a:t>n </a:t>
            </a:r>
            <a:r>
              <a:rPr lang="en-US" altLang="en-US" sz="2400" dirty="0"/>
              <a:t>do</a:t>
            </a:r>
            <a:br>
              <a:rPr lang="en-US" altLang="en-US" sz="2400" dirty="0"/>
            </a:br>
            <a:r>
              <a:rPr lang="en-US" altLang="en-US" sz="2400" dirty="0"/>
              <a:t>          for</a:t>
            </a:r>
            <a:r>
              <a:rPr lang="en-US" altLang="en-US" sz="2400" i="1" dirty="0"/>
              <a:t> k </a:t>
            </a:r>
            <a:r>
              <a:rPr lang="en-US" altLang="en-US" sz="2400" dirty="0">
                <a:cs typeface="Times New Roman" panose="02020603050405020304" pitchFamily="18" charset="0"/>
              </a:rPr>
              <a:t>←</a:t>
            </a:r>
            <a:r>
              <a:rPr lang="en-US" altLang="en-US" sz="2400" dirty="0"/>
              <a:t> </a:t>
            </a:r>
            <a:r>
              <a:rPr lang="en-US" altLang="en-US" sz="2400" i="1" dirty="0" err="1"/>
              <a:t>i</a:t>
            </a:r>
            <a:r>
              <a:rPr lang="en-US" altLang="en-US" sz="2400" i="1" dirty="0"/>
              <a:t> </a:t>
            </a:r>
            <a:r>
              <a:rPr lang="en-US" altLang="en-US" sz="2400" dirty="0"/>
              <a:t>to </a:t>
            </a:r>
            <a:r>
              <a:rPr lang="en-US" altLang="en-US" sz="2400" i="1" dirty="0"/>
              <a:t>n+</a:t>
            </a:r>
            <a:r>
              <a:rPr lang="en-US" altLang="en-US" sz="2400" dirty="0"/>
              <a:t>1 do</a:t>
            </a:r>
            <a:br>
              <a:rPr lang="en-US" altLang="en-US" sz="2400" dirty="0"/>
            </a:br>
            <a:r>
              <a:rPr lang="en-US" altLang="en-US" sz="2400" i="1" dirty="0"/>
              <a:t>	    A</a:t>
            </a:r>
            <a:r>
              <a:rPr lang="en-US" altLang="en-US" sz="2400" dirty="0"/>
              <a:t>[</a:t>
            </a:r>
            <a:r>
              <a:rPr lang="en-US" altLang="en-US" sz="2400" i="1" dirty="0"/>
              <a:t>j</a:t>
            </a:r>
            <a:r>
              <a:rPr lang="en-US" altLang="en-US" sz="2400" dirty="0"/>
              <a:t>,</a:t>
            </a:r>
            <a:r>
              <a:rPr lang="en-US" altLang="en-US" sz="2400" i="1" dirty="0"/>
              <a:t> k</a:t>
            </a:r>
            <a:r>
              <a:rPr lang="en-US" altLang="en-US" sz="2400" dirty="0"/>
              <a:t>] </a:t>
            </a:r>
            <a:r>
              <a:rPr lang="en-US" altLang="en-US" sz="2400" dirty="0">
                <a:cs typeface="Times New Roman" panose="02020603050405020304" pitchFamily="18" charset="0"/>
              </a:rPr>
              <a:t>←</a:t>
            </a:r>
            <a:r>
              <a:rPr lang="en-US" altLang="en-US" sz="2400" dirty="0"/>
              <a:t> </a:t>
            </a:r>
            <a:r>
              <a:rPr lang="en-US" altLang="en-US" sz="2400" i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/>
              <a:t>j</a:t>
            </a:r>
            <a:r>
              <a:rPr lang="en-US" altLang="en-US" sz="2400" dirty="0"/>
              <a:t>,</a:t>
            </a:r>
            <a:r>
              <a:rPr lang="en-US" altLang="en-US" sz="2400" i="1" dirty="0"/>
              <a:t> k</a:t>
            </a:r>
            <a:r>
              <a:rPr lang="en-US" altLang="en-US" sz="2400" dirty="0"/>
              <a:t>] - </a:t>
            </a:r>
            <a:r>
              <a:rPr lang="en-US" altLang="en-US" sz="2400" i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 err="1"/>
              <a:t>i</a:t>
            </a:r>
            <a:r>
              <a:rPr lang="en-US" altLang="en-US" sz="2400" dirty="0"/>
              <a:t>,</a:t>
            </a:r>
            <a:r>
              <a:rPr lang="en-US" altLang="en-US" sz="2400" i="1" dirty="0"/>
              <a:t> k</a:t>
            </a:r>
            <a:r>
              <a:rPr lang="en-US" altLang="en-US" sz="2400" dirty="0"/>
              <a:t>]</a:t>
            </a:r>
            <a:r>
              <a:rPr lang="en-US" altLang="en-US" sz="2400" i="1" dirty="0"/>
              <a:t> * A</a:t>
            </a:r>
            <a:r>
              <a:rPr lang="en-US" altLang="en-US" sz="2400" dirty="0"/>
              <a:t>[</a:t>
            </a:r>
            <a:r>
              <a:rPr lang="en-US" altLang="en-US" sz="2400" i="1" dirty="0"/>
              <a:t>j</a:t>
            </a:r>
            <a:r>
              <a:rPr lang="en-US" altLang="en-US" sz="2400" dirty="0"/>
              <a:t>,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i</a:t>
            </a:r>
            <a:r>
              <a:rPr lang="en-US" altLang="en-US" sz="2400" dirty="0"/>
              <a:t>] / </a:t>
            </a:r>
            <a:r>
              <a:rPr lang="en-US" altLang="en-US" sz="2400" i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 err="1"/>
              <a:t>i</a:t>
            </a:r>
            <a:r>
              <a:rPr lang="en-US" altLang="en-US" sz="2400" dirty="0"/>
              <a:t>,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i</a:t>
            </a:r>
            <a:r>
              <a:rPr lang="en-US" altLang="en-US" sz="2400" dirty="0"/>
              <a:t>]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9DCE501-9F9C-46B6-9882-E9BC0072A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26</a:t>
            </a:fld>
            <a:endParaRPr lang="ar-S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06CBC9AA-EE64-470D-A0C1-C16F4C426FF2}"/>
              </a:ext>
            </a:extLst>
          </p:cNvPr>
          <p:cNvSpPr/>
          <p:nvPr/>
        </p:nvSpPr>
        <p:spPr>
          <a:xfrm>
            <a:off x="3940076" y="5816917"/>
            <a:ext cx="9460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en-US" sz="2600" dirty="0">
                <a:solidFill>
                  <a:srgbClr val="FF0000"/>
                </a:solidFill>
                <a:cs typeface="Times New Roman" panose="02020603050405020304" pitchFamily="18" charset="0"/>
              </a:rPr>
              <a:t>Θ</a:t>
            </a:r>
            <a:r>
              <a:rPr lang="en-US" altLang="en-US" sz="2600" dirty="0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600" i="1" dirty="0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600" baseline="30000" dirty="0">
                <a:solidFill>
                  <a:srgbClr val="FF0000"/>
                </a:solidFill>
                <a:cs typeface="Times New Roman" panose="02020603050405020304" pitchFamily="18" charset="0"/>
              </a:rPr>
              <a:t>3</a:t>
            </a:r>
            <a:r>
              <a:rPr lang="en-US" altLang="en-US" sz="2600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r>
              <a:rPr lang="en-US" altLang="en-US" sz="2600" dirty="0">
                <a:solidFill>
                  <a:srgbClr val="FF0000"/>
                </a:solidFill>
              </a:rPr>
              <a:t> </a:t>
            </a:r>
            <a:endParaRPr lang="en-US" sz="2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46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3B19FB-CA00-41E7-829D-8A51BF295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Pseudocode and Efficiency of Gaussian Elimination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971AA06-07A0-4B99-84C9-51DA500DE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7290054" cy="402336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en-US" sz="2400" dirty="0"/>
              <a:t>Stage 2: Back substitutions </a:t>
            </a:r>
          </a:p>
          <a:p>
            <a:pPr marL="0" indent="0">
              <a:buNone/>
            </a:pPr>
            <a:r>
              <a:rPr lang="en-US" altLang="en-US" sz="2400" dirty="0"/>
              <a:t>for</a:t>
            </a:r>
            <a:r>
              <a:rPr lang="en-US" altLang="en-US" sz="2400" i="1" dirty="0"/>
              <a:t> j </a:t>
            </a:r>
            <a:r>
              <a:rPr lang="en-US" altLang="en-US" sz="2400" dirty="0">
                <a:cs typeface="Times New Roman" panose="02020603050405020304" pitchFamily="18" charset="0"/>
              </a:rPr>
              <a:t>←</a:t>
            </a:r>
            <a:r>
              <a:rPr lang="en-US" altLang="en-US" sz="2400" dirty="0"/>
              <a:t> </a:t>
            </a:r>
            <a:r>
              <a:rPr lang="en-US" altLang="en-US" sz="2400" i="1" dirty="0"/>
              <a:t>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downto</a:t>
            </a:r>
            <a:r>
              <a:rPr lang="en-US" altLang="en-US" sz="2400" dirty="0"/>
              <a:t> 1 do</a:t>
            </a:r>
          </a:p>
          <a:p>
            <a:pPr marL="0" indent="0">
              <a:buNone/>
            </a:pPr>
            <a:r>
              <a:rPr lang="en-US" altLang="en-US" sz="2400" dirty="0"/>
              <a:t>      </a:t>
            </a:r>
            <a:r>
              <a:rPr lang="en-US" altLang="en-US" sz="2400" i="1" dirty="0"/>
              <a:t>t</a:t>
            </a:r>
            <a:r>
              <a:rPr lang="en-US" altLang="en-US" sz="2400" dirty="0"/>
              <a:t> </a:t>
            </a:r>
            <a:r>
              <a:rPr lang="en-US" altLang="en-US" sz="2400" dirty="0">
                <a:cs typeface="Times New Roman" panose="02020603050405020304" pitchFamily="18" charset="0"/>
              </a:rPr>
              <a:t>←</a:t>
            </a:r>
            <a:r>
              <a:rPr lang="en-US" altLang="en-US" sz="2400" dirty="0"/>
              <a:t> 0</a:t>
            </a:r>
          </a:p>
          <a:p>
            <a:pPr marL="0" indent="0">
              <a:buNone/>
            </a:pPr>
            <a:r>
              <a:rPr lang="en-US" altLang="en-US" sz="2400" dirty="0"/>
              <a:t>      for</a:t>
            </a:r>
            <a:r>
              <a:rPr lang="en-US" altLang="en-US" sz="2400" i="1" dirty="0"/>
              <a:t> k </a:t>
            </a:r>
            <a:r>
              <a:rPr lang="en-US" altLang="en-US" sz="2400" dirty="0">
                <a:cs typeface="Times New Roman" panose="02020603050405020304" pitchFamily="18" charset="0"/>
              </a:rPr>
              <a:t>←</a:t>
            </a:r>
            <a:r>
              <a:rPr lang="en-US" altLang="en-US" sz="2400" i="1" dirty="0"/>
              <a:t> j </a:t>
            </a:r>
            <a:r>
              <a:rPr lang="en-US" altLang="en-US" sz="2400" dirty="0"/>
              <a:t>+1</a:t>
            </a:r>
            <a:r>
              <a:rPr lang="en-US" altLang="en-US" sz="2400" i="1" dirty="0"/>
              <a:t> </a:t>
            </a:r>
            <a:r>
              <a:rPr lang="en-US" altLang="en-US" sz="2400" dirty="0"/>
              <a:t>to </a:t>
            </a:r>
            <a:r>
              <a:rPr lang="en-US" altLang="en-US" sz="2400" i="1" dirty="0"/>
              <a:t>n </a:t>
            </a:r>
            <a:r>
              <a:rPr lang="en-US" altLang="en-US" sz="2400" dirty="0"/>
              <a:t>do</a:t>
            </a:r>
          </a:p>
          <a:p>
            <a:pPr marL="0" indent="0">
              <a:buNone/>
            </a:pPr>
            <a:r>
              <a:rPr lang="en-US" altLang="en-US" sz="2400" dirty="0"/>
              <a:t>            </a:t>
            </a:r>
            <a:r>
              <a:rPr lang="en-US" altLang="en-US" sz="2400" i="1" dirty="0"/>
              <a:t>t</a:t>
            </a:r>
            <a:r>
              <a:rPr lang="en-US" altLang="en-US" sz="2400" dirty="0"/>
              <a:t> </a:t>
            </a:r>
            <a:r>
              <a:rPr lang="en-US" altLang="en-US" sz="2400" dirty="0">
                <a:cs typeface="Times New Roman" panose="02020603050405020304" pitchFamily="18" charset="0"/>
              </a:rPr>
              <a:t>←</a:t>
            </a:r>
            <a:r>
              <a:rPr lang="en-US" altLang="en-US" sz="2400" dirty="0"/>
              <a:t> </a:t>
            </a:r>
            <a:r>
              <a:rPr lang="en-US" altLang="en-US" sz="2400" i="1" dirty="0"/>
              <a:t>t</a:t>
            </a:r>
            <a:r>
              <a:rPr lang="en-US" altLang="en-US" sz="2400" dirty="0"/>
              <a:t> + </a:t>
            </a:r>
            <a:r>
              <a:rPr lang="en-US" altLang="en-US" sz="2400" i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/>
              <a:t>j</a:t>
            </a:r>
            <a:r>
              <a:rPr lang="en-US" altLang="en-US" sz="2400" dirty="0"/>
              <a:t>,</a:t>
            </a:r>
            <a:r>
              <a:rPr lang="en-US" altLang="en-US" sz="2400" i="1" dirty="0"/>
              <a:t> k</a:t>
            </a:r>
            <a:r>
              <a:rPr lang="en-US" altLang="en-US" sz="2400" dirty="0"/>
              <a:t>] * </a:t>
            </a:r>
            <a:r>
              <a:rPr lang="en-US" altLang="en-US" sz="2400" i="1" dirty="0"/>
              <a:t>x</a:t>
            </a:r>
            <a:r>
              <a:rPr lang="en-US" altLang="en-US" sz="2400" dirty="0"/>
              <a:t>[</a:t>
            </a:r>
            <a:r>
              <a:rPr lang="en-US" altLang="en-US" sz="2400" i="1" dirty="0"/>
              <a:t>k</a:t>
            </a:r>
            <a:r>
              <a:rPr lang="en-US" altLang="en-US" sz="2400" dirty="0"/>
              <a:t>] </a:t>
            </a:r>
            <a:br>
              <a:rPr lang="en-US" altLang="en-US" sz="2400" dirty="0"/>
            </a:br>
            <a:r>
              <a:rPr lang="en-US" altLang="en-US" sz="2400" dirty="0"/>
              <a:t>      </a:t>
            </a:r>
            <a:r>
              <a:rPr lang="en-US" altLang="en-US" sz="2400" i="1" dirty="0"/>
              <a:t>x</a:t>
            </a:r>
            <a:r>
              <a:rPr lang="en-US" altLang="en-US" sz="2400" dirty="0"/>
              <a:t>[</a:t>
            </a:r>
            <a:r>
              <a:rPr lang="en-US" altLang="en-US" sz="2400" i="1" dirty="0"/>
              <a:t>j</a:t>
            </a:r>
            <a:r>
              <a:rPr lang="en-US" altLang="en-US" sz="2400" dirty="0"/>
              <a:t>] </a:t>
            </a:r>
            <a:r>
              <a:rPr lang="en-US" altLang="en-US" sz="2400" dirty="0">
                <a:cs typeface="Times New Roman" panose="02020603050405020304" pitchFamily="18" charset="0"/>
              </a:rPr>
              <a:t>←</a:t>
            </a:r>
            <a:r>
              <a:rPr lang="en-US" altLang="en-US" sz="2400" dirty="0"/>
              <a:t> (</a:t>
            </a:r>
            <a:r>
              <a:rPr lang="en-US" altLang="en-US" sz="2400" i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/>
              <a:t>j</a:t>
            </a:r>
            <a:r>
              <a:rPr lang="en-US" altLang="en-US" sz="2400" dirty="0"/>
              <a:t>,</a:t>
            </a:r>
            <a:r>
              <a:rPr lang="en-US" altLang="en-US" sz="2400" i="1" dirty="0"/>
              <a:t> n</a:t>
            </a:r>
            <a:r>
              <a:rPr lang="en-US" altLang="en-US" sz="2400" dirty="0"/>
              <a:t>+1] - </a:t>
            </a:r>
            <a:r>
              <a:rPr lang="en-US" altLang="en-US" sz="2400" i="1" dirty="0"/>
              <a:t>t</a:t>
            </a:r>
            <a:r>
              <a:rPr lang="en-US" altLang="en-US" sz="2400" dirty="0"/>
              <a:t>) / </a:t>
            </a:r>
            <a:r>
              <a:rPr lang="en-US" altLang="en-US" sz="2400" i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/>
              <a:t>j</a:t>
            </a:r>
            <a:r>
              <a:rPr lang="en-US" altLang="en-US" sz="2400" dirty="0"/>
              <a:t>,</a:t>
            </a:r>
            <a:r>
              <a:rPr lang="en-US" altLang="en-US" sz="2400" i="1" dirty="0"/>
              <a:t> j</a:t>
            </a:r>
            <a:r>
              <a:rPr lang="en-US" altLang="en-US" sz="2400" dirty="0"/>
              <a:t>] </a:t>
            </a:r>
          </a:p>
          <a:p>
            <a:pPr marL="0" indent="0">
              <a:buNone/>
            </a:pPr>
            <a:r>
              <a:rPr lang="en-US" altLang="en-US" sz="2400" dirty="0"/>
              <a:t> </a:t>
            </a:r>
            <a:br>
              <a:rPr lang="en-US" altLang="en-US" sz="2400" dirty="0"/>
            </a:b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9DCE501-9F9C-46B6-9882-E9BC0072A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27</a:t>
            </a:fld>
            <a:endParaRPr lang="ar-S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13C888F8-39BC-4874-B0E3-5BD0B586E605}"/>
              </a:ext>
            </a:extLst>
          </p:cNvPr>
          <p:cNvSpPr/>
          <p:nvPr/>
        </p:nvSpPr>
        <p:spPr>
          <a:xfrm>
            <a:off x="5940152" y="3573016"/>
            <a:ext cx="9460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en-US" sz="2600" dirty="0">
                <a:solidFill>
                  <a:srgbClr val="FF0000"/>
                </a:solidFill>
                <a:cs typeface="Times New Roman" panose="02020603050405020304" pitchFamily="18" charset="0"/>
              </a:rPr>
              <a:t>Θ</a:t>
            </a:r>
            <a:r>
              <a:rPr lang="en-US" altLang="en-US" sz="2600" dirty="0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600" i="1" dirty="0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600" baseline="30000" dirty="0">
                <a:solidFill>
                  <a:srgbClr val="FF000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2600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r>
              <a:rPr lang="en-US" altLang="en-US" sz="2600" dirty="0">
                <a:solidFill>
                  <a:srgbClr val="FF0000"/>
                </a:solidFill>
              </a:rPr>
              <a:t> 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6953957-01B8-4344-9B8F-45E45B447FD4}"/>
              </a:ext>
            </a:extLst>
          </p:cNvPr>
          <p:cNvSpPr/>
          <p:nvPr/>
        </p:nvSpPr>
        <p:spPr>
          <a:xfrm>
            <a:off x="2412819" y="5811119"/>
            <a:ext cx="43183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FF0000"/>
                </a:solidFill>
              </a:rPr>
              <a:t>Efficiency: </a:t>
            </a:r>
            <a:r>
              <a:rPr lang="el-GR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Θ</a:t>
            </a:r>
            <a:r>
              <a:rPr lang="en-US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4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b="1" baseline="30000" dirty="0">
                <a:solidFill>
                  <a:srgbClr val="FF0000"/>
                </a:solidFill>
                <a:cs typeface="Times New Roman" panose="02020603050405020304" pitchFamily="18" charset="0"/>
              </a:rPr>
              <a:t>3</a:t>
            </a:r>
            <a:r>
              <a:rPr lang="en-US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r>
              <a:rPr lang="en-US" altLang="en-US" sz="2400" b="1" dirty="0">
                <a:solidFill>
                  <a:srgbClr val="FF0000"/>
                </a:solidFill>
              </a:rPr>
              <a:t> + </a:t>
            </a:r>
            <a:r>
              <a:rPr lang="el-GR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Θ</a:t>
            </a:r>
            <a:r>
              <a:rPr lang="en-US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4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b="1" baseline="30000" dirty="0">
                <a:solidFill>
                  <a:srgbClr val="FF000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r>
              <a:rPr lang="en-US" altLang="en-US" sz="2400" b="1" dirty="0">
                <a:solidFill>
                  <a:srgbClr val="FF0000"/>
                </a:solidFill>
              </a:rPr>
              <a:t> = </a:t>
            </a:r>
            <a:r>
              <a:rPr lang="el-GR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Θ</a:t>
            </a:r>
            <a:r>
              <a:rPr lang="en-US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4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b="1" baseline="30000" dirty="0">
                <a:solidFill>
                  <a:srgbClr val="FF0000"/>
                </a:solidFill>
                <a:cs typeface="Times New Roman" panose="02020603050405020304" pitchFamily="18" charset="0"/>
              </a:rPr>
              <a:t>3</a:t>
            </a:r>
            <a:r>
              <a:rPr lang="en-US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r>
              <a:rPr lang="en-US" altLang="en-US" sz="2400" b="1" dirty="0">
                <a:solidFill>
                  <a:srgbClr val="FF0000"/>
                </a:solidFill>
              </a:rPr>
              <a:t> 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305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68AFAC5-AB62-468C-B20F-757236EEF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B1ABD4F-53CC-4A85-AFEA-4B4AC7CC3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Write An Algorithm that compute the mode in a list with complexity less than n log n , in other word with a complexity not grater than  O( n)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3F8B27C-D819-43E2-B4E2-53982F9CD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28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2770257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396875" algn="l"/>
              </a:tabLst>
            </a:pPr>
            <a:r>
              <a:rPr lang="en-US" sz="2400" b="1" dirty="0"/>
              <a:t>Introduction to Transform and Conquer technique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396875" algn="l"/>
              </a:tabLst>
            </a:pPr>
            <a:r>
              <a:rPr lang="en-US" altLang="en-US" sz="2400" b="1" i="1" dirty="0"/>
              <a:t>instance simplification</a:t>
            </a:r>
            <a:endParaRPr lang="en-US" sz="2400" b="1" dirty="0"/>
          </a:p>
          <a:p>
            <a:pPr marL="1090613" indent="-635000">
              <a:lnSpc>
                <a:spcPct val="100000"/>
              </a:lnSpc>
              <a:buFont typeface="Courier New" panose="02070309020205020404" pitchFamily="49" charset="0"/>
              <a:buChar char="o"/>
              <a:tabLst>
                <a:tab pos="396875" algn="l"/>
              </a:tabLst>
            </a:pPr>
            <a:r>
              <a:rPr lang="en-US" sz="2400" b="1" dirty="0"/>
              <a:t>Presorting</a:t>
            </a:r>
          </a:p>
          <a:p>
            <a:pPr marL="1090613" indent="-635000">
              <a:lnSpc>
                <a:spcPct val="100000"/>
              </a:lnSpc>
              <a:buFont typeface="Courier New" panose="02070309020205020404" pitchFamily="49" charset="0"/>
              <a:buChar char="o"/>
              <a:tabLst>
                <a:tab pos="396875" algn="l"/>
              </a:tabLst>
            </a:pPr>
            <a:r>
              <a:rPr lang="en-US" sz="2400" b="1" dirty="0"/>
              <a:t>Gaussian Elimination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396875" algn="l"/>
              </a:tabLst>
            </a:pPr>
            <a:r>
              <a:rPr lang="en-US" altLang="en-US" sz="2400" b="1" i="1" dirty="0">
                <a:solidFill>
                  <a:srgbClr val="FF0000"/>
                </a:solidFill>
              </a:rPr>
              <a:t>representation change</a:t>
            </a:r>
            <a:endParaRPr lang="en-US" sz="2400" b="1" i="1" dirty="0">
              <a:solidFill>
                <a:srgbClr val="FF0000"/>
              </a:solidFill>
            </a:endParaRPr>
          </a:p>
          <a:p>
            <a:pPr marL="1090613" indent="-635000">
              <a:lnSpc>
                <a:spcPct val="100000"/>
              </a:lnSpc>
              <a:buFont typeface="Courier New" panose="02070309020205020404" pitchFamily="49" charset="0"/>
              <a:buChar char="o"/>
              <a:tabLst>
                <a:tab pos="396875" algn="l"/>
              </a:tabLst>
            </a:pPr>
            <a:r>
              <a:rPr lang="en-US" sz="2400" b="1" dirty="0"/>
              <a:t>Balanced Search Trees</a:t>
            </a:r>
          </a:p>
          <a:p>
            <a:pPr marL="1090613" indent="-635000">
              <a:lnSpc>
                <a:spcPct val="100000"/>
              </a:lnSpc>
              <a:buFont typeface="Courier New" panose="02070309020205020404" pitchFamily="49" charset="0"/>
              <a:buChar char="o"/>
              <a:tabLst>
                <a:tab pos="396875" algn="l"/>
              </a:tabLst>
            </a:pPr>
            <a:r>
              <a:rPr lang="en-US" sz="2400" b="1" dirty="0"/>
              <a:t>Heaps and Heapsort</a:t>
            </a:r>
          </a:p>
        </p:txBody>
      </p:sp>
      <p:sp>
        <p:nvSpPr>
          <p:cNvPr id="27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A7AB7-D961-4CE0-8EC1-8747B9C4F9E9}" type="slidenum">
              <a:rPr lang="en-US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17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Lect 1- introduction"/>
  <p:tag name="ISPRING_FIRST_PUBLISH" val="1"/>
  <p:tag name="ISPRING_UUID" val="{04D3DB32-9EAA-4555-9716-93E9F88CE6E8}"/>
  <p:tag name="ISPRING_RESOURCE_FOLDER" val="E:\2020-2021\First Semester\Algorithm analysis and design\My course\Lect 1- introduction\"/>
  <p:tag name="ISPRING_PRESENTATION_PATH" val="E:\2020-2021\First Semester\Algorithm analysis and design\My course\Lect 1- introduction.pptx"/>
  <p:tag name="ISPRING_PROJECT_VERSION" val="9.3"/>
  <p:tag name="ISPRING_PROJECT_FOLDER_UPDATED" val="1"/>
  <p:tag name="ISPRING_SCREEN_RECS_UPDATED" val="E:\2020-2021\First Semester\Algorithm analysis and design\My course\Lect 1- introduction\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ntegral" id="{3577F8C9-A904-41D8-97D2-FD898F53F20E}" vid="{B4028482-F53A-4442-AB14-9B7A43F44F96}"/>
    </a:ext>
  </a:extLst>
</a:theme>
</file>

<file path=ppt/theme/theme2.xml><?xml version="1.0" encoding="utf-8"?>
<a:theme xmlns:a="http://schemas.openxmlformats.org/drawingml/2006/main" name="سمة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13670</TotalTime>
  <Words>1280</Words>
  <Application>Microsoft Office PowerPoint</Application>
  <PresentationFormat>عرض على الشاشة (3:4)‏</PresentationFormat>
  <Paragraphs>389</Paragraphs>
  <Slides>29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29</vt:i4>
      </vt:variant>
    </vt:vector>
  </HeadingPairs>
  <TitlesOfParts>
    <vt:vector size="30" baseType="lpstr">
      <vt:lpstr>Integral</vt:lpstr>
      <vt:lpstr>Algorithms analysis and Design</vt:lpstr>
      <vt:lpstr>Chapter 6</vt:lpstr>
      <vt:lpstr>OUTLINE</vt:lpstr>
      <vt:lpstr>Transform and Conquer</vt:lpstr>
      <vt:lpstr>Transform and Conquer</vt:lpstr>
      <vt:lpstr>Transform and Conquer</vt:lpstr>
      <vt:lpstr>OUTLINE</vt:lpstr>
      <vt:lpstr>Instance simplification - Presorting</vt:lpstr>
      <vt:lpstr>How fast can we sort ?</vt:lpstr>
      <vt:lpstr>How fast can we sort ?</vt:lpstr>
      <vt:lpstr>Searching with presorting</vt:lpstr>
      <vt:lpstr>Example: Searching</vt:lpstr>
      <vt:lpstr>Element Uniqueness with presorting</vt:lpstr>
      <vt:lpstr>Example:</vt:lpstr>
      <vt:lpstr>Computing a mode with presorting</vt:lpstr>
      <vt:lpstr>Computing a mode with presorting</vt:lpstr>
      <vt:lpstr>Example: Computing a mode </vt:lpstr>
      <vt:lpstr>Computing a mode with presorting</vt:lpstr>
      <vt:lpstr>OUTLINE</vt:lpstr>
      <vt:lpstr>Instance simplification – Gaussian Elimination</vt:lpstr>
      <vt:lpstr>Gaussian Elimination</vt:lpstr>
      <vt:lpstr>Gaussian Elimination</vt:lpstr>
      <vt:lpstr>Example of Gaussian Elimination</vt:lpstr>
      <vt:lpstr>Example of Gaussian Elimination</vt:lpstr>
      <vt:lpstr>Example of Gaussian Elimination</vt:lpstr>
      <vt:lpstr>Pseudocode and Efficiency of Gaussian Elimination</vt:lpstr>
      <vt:lpstr>Pseudocode and Efficiency of Gaussian Elimination</vt:lpstr>
      <vt:lpstr>Assignment 1</vt:lpstr>
      <vt:lpstr>OUTLINE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 1- introduction</dc:title>
  <dc:creator>ALHALEES</dc:creator>
  <cp:lastModifiedBy>Alaa</cp:lastModifiedBy>
  <cp:revision>523</cp:revision>
  <dcterms:created xsi:type="dcterms:W3CDTF">2014-07-10T11:11:59Z</dcterms:created>
  <dcterms:modified xsi:type="dcterms:W3CDTF">2025-07-14T06:10:20Z</dcterms:modified>
</cp:coreProperties>
</file>