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65" r:id="rId2"/>
    <p:sldId id="257" r:id="rId3"/>
    <p:sldId id="258" r:id="rId4"/>
    <p:sldId id="259" r:id="rId5"/>
    <p:sldId id="267" r:id="rId6"/>
    <p:sldId id="260" r:id="rId7"/>
    <p:sldId id="261" r:id="rId8"/>
    <p:sldId id="262" r:id="rId9"/>
    <p:sldId id="263" r:id="rId10"/>
    <p:sldId id="266" r:id="rId11"/>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6" d="100"/>
          <a:sy n="66" d="100"/>
        </p:scale>
        <p:origin x="-150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smtClean="0"/>
              <a:t>انقر لتحرير نمط العنوان الرئيسي</a:t>
            </a:r>
            <a:endParaRPr lang="ar-SA"/>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ar-SA"/>
          </a:p>
        </p:txBody>
      </p:sp>
      <p:sp>
        <p:nvSpPr>
          <p:cNvPr id="4" name="عنصر نائب للتاريخ 3"/>
          <p:cNvSpPr>
            <a:spLocks noGrp="1"/>
          </p:cNvSpPr>
          <p:nvPr>
            <p:ph type="dt" sz="half" idx="10"/>
          </p:nvPr>
        </p:nvSpPr>
        <p:spPr/>
        <p:txBody>
          <a:bodyPr/>
          <a:lstStyle/>
          <a:p>
            <a:fld id="{994E63BF-03BC-43DD-8914-20375A5D768E}"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333482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محتوى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994E63BF-03BC-43DD-8914-20375A5D768E}"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1241166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994E63BF-03BC-43DD-8914-20375A5D768E}"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1714223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تاريخ 4"/>
          <p:cNvSpPr>
            <a:spLocks noGrp="1"/>
          </p:cNvSpPr>
          <p:nvPr>
            <p:ph type="dt" sz="half" idx="10"/>
          </p:nvPr>
        </p:nvSpPr>
        <p:spPr/>
        <p:txBody>
          <a:bodyPr/>
          <a:lstStyle/>
          <a:p>
            <a:fld id="{994E63BF-03BC-43DD-8914-20375A5D768E}" type="datetimeFigureOut">
              <a:rPr lang="ar-SA" smtClean="0"/>
              <a:t>12/26/1446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2318663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7" name="عنصر نائب للتاريخ 6"/>
          <p:cNvSpPr>
            <a:spLocks noGrp="1"/>
          </p:cNvSpPr>
          <p:nvPr>
            <p:ph type="dt" sz="half" idx="10"/>
          </p:nvPr>
        </p:nvSpPr>
        <p:spPr/>
        <p:txBody>
          <a:bodyPr/>
          <a:lstStyle/>
          <a:p>
            <a:fld id="{994E63BF-03BC-43DD-8914-20375A5D768E}" type="datetimeFigureOut">
              <a:rPr lang="ar-SA" smtClean="0"/>
              <a:t>12/26/1446</a:t>
            </a:fld>
            <a:endParaRPr lang="ar-SA"/>
          </a:p>
        </p:txBody>
      </p:sp>
      <p:sp>
        <p:nvSpPr>
          <p:cNvPr id="8" name="عنصر نائب للتذييل 7"/>
          <p:cNvSpPr>
            <a:spLocks noGrp="1"/>
          </p:cNvSpPr>
          <p:nvPr>
            <p:ph type="ftr" sz="quarter" idx="11"/>
          </p:nvPr>
        </p:nvSpPr>
        <p:spPr/>
        <p:txBody>
          <a:bodyPr/>
          <a:lstStyle/>
          <a:p>
            <a:endParaRPr lang="ar-SA"/>
          </a:p>
        </p:txBody>
      </p:sp>
      <p:sp>
        <p:nvSpPr>
          <p:cNvPr id="9" name="عنصر نائب لرقم الشريحة 8"/>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4237884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تاريخ 2"/>
          <p:cNvSpPr>
            <a:spLocks noGrp="1"/>
          </p:cNvSpPr>
          <p:nvPr>
            <p:ph type="dt" sz="half" idx="10"/>
          </p:nvPr>
        </p:nvSpPr>
        <p:spPr/>
        <p:txBody>
          <a:bodyPr/>
          <a:lstStyle/>
          <a:p>
            <a:fld id="{994E63BF-03BC-43DD-8914-20375A5D768E}" type="datetimeFigureOut">
              <a:rPr lang="ar-SA" smtClean="0"/>
              <a:t>12/26/1446</a:t>
            </a:fld>
            <a:endParaRPr lang="ar-SA"/>
          </a:p>
        </p:txBody>
      </p:sp>
      <p:sp>
        <p:nvSpPr>
          <p:cNvPr id="4" name="عنصر نائب للتذييل 3"/>
          <p:cNvSpPr>
            <a:spLocks noGrp="1"/>
          </p:cNvSpPr>
          <p:nvPr>
            <p:ph type="ftr" sz="quarter" idx="11"/>
          </p:nvPr>
        </p:nvSpPr>
        <p:spPr/>
        <p:txBody>
          <a:bodyPr/>
          <a:lstStyle/>
          <a:p>
            <a:endParaRPr lang="ar-SA"/>
          </a:p>
        </p:txBody>
      </p:sp>
      <p:sp>
        <p:nvSpPr>
          <p:cNvPr id="5" name="عنصر نائب لرقم الشريحة 4"/>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88301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994E63BF-03BC-43DD-8914-20375A5D768E}" type="datetimeFigureOut">
              <a:rPr lang="ar-SA" smtClean="0"/>
              <a:t>12/26/1446</a:t>
            </a:fld>
            <a:endParaRPr lang="ar-SA"/>
          </a:p>
        </p:txBody>
      </p:sp>
      <p:sp>
        <p:nvSpPr>
          <p:cNvPr id="3" name="عنصر نائب للتذييل 2"/>
          <p:cNvSpPr>
            <a:spLocks noGrp="1"/>
          </p:cNvSpPr>
          <p:nvPr>
            <p:ph type="ftr" sz="quarter" idx="11"/>
          </p:nvPr>
        </p:nvSpPr>
        <p:spPr/>
        <p:txBody>
          <a:bodyPr/>
          <a:lstStyle/>
          <a:p>
            <a:endParaRPr lang="ar-SA"/>
          </a:p>
        </p:txBody>
      </p:sp>
      <p:sp>
        <p:nvSpPr>
          <p:cNvPr id="4" name="عنصر نائب لرقم الشريحة 3"/>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2226808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smtClean="0"/>
              <a:t>انقر لتحرير نمط العنوان الرئيسي</a:t>
            </a:r>
            <a:endParaRPr lang="ar-SA"/>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994E63BF-03BC-43DD-8914-20375A5D768E}" type="datetimeFigureOut">
              <a:rPr lang="ar-SA" smtClean="0"/>
              <a:t>12/26/1446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1027021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smtClean="0"/>
              <a:t>انقر لتحرير نمط العنوان الرئيسي</a:t>
            </a:r>
            <a:endParaRPr lang="ar-SA"/>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994E63BF-03BC-43DD-8914-20375A5D768E}" type="datetimeFigureOut">
              <a:rPr lang="ar-SA" smtClean="0"/>
              <a:t>12/26/1446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4245501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994E63BF-03BC-43DD-8914-20375A5D768E}"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2359211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smtClean="0"/>
              <a:t>انقر لتحرير نمط العنوان الرئيسي</a:t>
            </a:r>
            <a:endParaRPr lang="ar-SA"/>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994E63BF-03BC-43DD-8914-20375A5D768E}"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23FF597B-2171-4A57-B62C-EED720C1E742}" type="slidenum">
              <a:rPr lang="ar-SA" smtClean="0"/>
              <a:t>‹#›</a:t>
            </a:fld>
            <a:endParaRPr lang="ar-SA"/>
          </a:p>
        </p:txBody>
      </p:sp>
    </p:spTree>
    <p:extLst>
      <p:ext uri="{BB962C8B-B14F-4D97-AF65-F5344CB8AC3E}">
        <p14:creationId xmlns:p14="http://schemas.microsoft.com/office/powerpoint/2010/main" val="2378407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94E63BF-03BC-43DD-8914-20375A5D768E}" type="datetimeFigureOut">
              <a:rPr lang="ar-SA" smtClean="0"/>
              <a:t>12/26/1446</a:t>
            </a:fld>
            <a:endParaRPr lang="ar-SA"/>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3FF597B-2171-4A57-B62C-EED720C1E742}" type="slidenum">
              <a:rPr lang="ar-SA" smtClean="0"/>
              <a:t>‹#›</a:t>
            </a:fld>
            <a:endParaRPr lang="ar-SA"/>
          </a:p>
        </p:txBody>
      </p:sp>
    </p:spTree>
    <p:extLst>
      <p:ext uri="{BB962C8B-B14F-4D97-AF65-F5344CB8AC3E}">
        <p14:creationId xmlns:p14="http://schemas.microsoft.com/office/powerpoint/2010/main" val="2514498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467544" y="764704"/>
            <a:ext cx="7772400" cy="1470025"/>
          </a:xfrm>
        </p:spPr>
        <p:txBody>
          <a:bodyPr/>
          <a:lstStyle/>
          <a:p>
            <a:r>
              <a:rPr lang="ar-SA" b="1" dirty="0" smtClean="0"/>
              <a:t>بسم الله الرحمن الرحيم    </a:t>
            </a:r>
            <a:r>
              <a:rPr lang="en-US" dirty="0" smtClean="0"/>
              <a:t/>
            </a:r>
            <a:br>
              <a:rPr lang="en-US" dirty="0" smtClean="0"/>
            </a:br>
            <a:endParaRPr lang="ar-SA" dirty="0"/>
          </a:p>
        </p:txBody>
      </p:sp>
      <p:sp>
        <p:nvSpPr>
          <p:cNvPr id="3" name="عنوان فرعي 2"/>
          <p:cNvSpPr>
            <a:spLocks noGrp="1"/>
          </p:cNvSpPr>
          <p:nvPr>
            <p:ph type="subTitle" idx="1"/>
          </p:nvPr>
        </p:nvSpPr>
        <p:spPr>
          <a:xfrm>
            <a:off x="467544" y="2060848"/>
            <a:ext cx="8424936" cy="4320480"/>
          </a:xfrm>
        </p:spPr>
        <p:txBody>
          <a:bodyPr>
            <a:normAutofit/>
          </a:bodyPr>
          <a:lstStyle/>
          <a:p>
            <a:pPr marL="1828800" algn="l" rtl="0">
              <a:lnSpc>
                <a:spcPct val="115000"/>
              </a:lnSpc>
              <a:spcAft>
                <a:spcPts val="1000"/>
              </a:spcAft>
            </a:pPr>
            <a:r>
              <a:rPr lang="en-US" b="1" dirty="0" smtClean="0">
                <a:solidFill>
                  <a:srgbClr val="953735"/>
                </a:solidFill>
                <a:ea typeface="Calibri"/>
                <a:cs typeface="Arial"/>
              </a:rPr>
              <a:t>  (</a:t>
            </a:r>
            <a:r>
              <a:rPr lang="en-US" b="1" dirty="0">
                <a:solidFill>
                  <a:srgbClr val="C00000"/>
                </a:solidFill>
              </a:rPr>
              <a:t>Advanced Algorithm</a:t>
            </a:r>
            <a:r>
              <a:rPr lang="en-US" b="1" dirty="0" smtClean="0">
                <a:solidFill>
                  <a:srgbClr val="953735"/>
                </a:solidFill>
                <a:ea typeface="Calibri"/>
                <a:cs typeface="Arial"/>
              </a:rPr>
              <a:t>)</a:t>
            </a:r>
            <a:endParaRPr lang="en-US" sz="1600" dirty="0" smtClean="0">
              <a:ea typeface="Calibri"/>
              <a:cs typeface="Arial"/>
            </a:endParaRPr>
          </a:p>
          <a:p>
            <a:pPr algn="l" rtl="0">
              <a:lnSpc>
                <a:spcPct val="115000"/>
              </a:lnSpc>
              <a:spcAft>
                <a:spcPts val="1000"/>
              </a:spcAft>
            </a:pPr>
            <a:r>
              <a:rPr lang="en-US" sz="3600" b="1" dirty="0" smtClean="0">
                <a:solidFill>
                  <a:srgbClr val="7030A0"/>
                </a:solidFill>
                <a:ea typeface="Calibri"/>
                <a:cs typeface="Arial"/>
              </a:rPr>
              <a:t>     ***   </a:t>
            </a:r>
            <a:r>
              <a:rPr lang="en-US" sz="3600" b="1" dirty="0">
                <a:solidFill>
                  <a:srgbClr val="7030A0"/>
                </a:solidFill>
              </a:rPr>
              <a:t>Eng. </a:t>
            </a:r>
            <a:r>
              <a:rPr lang="en-US" sz="3600" b="1" dirty="0" err="1">
                <a:solidFill>
                  <a:srgbClr val="7030A0"/>
                </a:solidFill>
              </a:rPr>
              <a:t>Firas</a:t>
            </a:r>
            <a:r>
              <a:rPr lang="en-US" sz="3600" b="1" dirty="0">
                <a:solidFill>
                  <a:srgbClr val="7030A0"/>
                </a:solidFill>
              </a:rPr>
              <a:t>  </a:t>
            </a:r>
            <a:r>
              <a:rPr lang="en-US" sz="3600" b="1" dirty="0" err="1">
                <a:solidFill>
                  <a:srgbClr val="7030A0"/>
                </a:solidFill>
              </a:rPr>
              <a:t>Foad</a:t>
            </a:r>
            <a:r>
              <a:rPr lang="en-US" sz="3600" b="1" dirty="0">
                <a:solidFill>
                  <a:srgbClr val="7030A0"/>
                </a:solidFill>
              </a:rPr>
              <a:t> </a:t>
            </a:r>
            <a:r>
              <a:rPr lang="en-US" sz="3600" b="1" dirty="0" smtClean="0">
                <a:solidFill>
                  <a:srgbClr val="7030A0"/>
                </a:solidFill>
              </a:rPr>
              <a:t>AL-</a:t>
            </a:r>
            <a:r>
              <a:rPr lang="en-US" sz="3600" b="1" dirty="0" err="1" smtClean="0">
                <a:solidFill>
                  <a:srgbClr val="7030A0"/>
                </a:solidFill>
              </a:rPr>
              <a:t>Ejla</a:t>
            </a:r>
            <a:r>
              <a:rPr lang="en-US" sz="3600" b="1" dirty="0" smtClean="0">
                <a:solidFill>
                  <a:srgbClr val="7030A0"/>
                </a:solidFill>
              </a:rPr>
              <a:t>  </a:t>
            </a:r>
            <a:r>
              <a:rPr lang="en-US" sz="3600" b="1" dirty="0" smtClean="0">
                <a:solidFill>
                  <a:srgbClr val="7030A0"/>
                </a:solidFill>
                <a:ea typeface="Calibri"/>
                <a:cs typeface="Arial"/>
              </a:rPr>
              <a:t>***</a:t>
            </a:r>
            <a:endParaRPr lang="en-US" sz="1600" dirty="0" smtClean="0">
              <a:ea typeface="Calibri"/>
              <a:cs typeface="Arial"/>
            </a:endParaRPr>
          </a:p>
          <a:p>
            <a:r>
              <a:rPr lang="en-US" sz="4000" b="1" dirty="0" smtClean="0">
                <a:solidFill>
                  <a:srgbClr val="000000"/>
                </a:solidFill>
                <a:ea typeface="Calibri"/>
                <a:cs typeface="Arial"/>
              </a:rPr>
              <a:t>Answers of Assignment 1</a:t>
            </a:r>
          </a:p>
          <a:p>
            <a:r>
              <a:rPr lang="en-US" sz="4000" b="1" dirty="0" smtClean="0">
                <a:solidFill>
                  <a:srgbClr val="000000"/>
                </a:solidFill>
                <a:ea typeface="Calibri"/>
                <a:cs typeface="Arial"/>
              </a:rPr>
              <a:t> </a:t>
            </a:r>
            <a:r>
              <a:rPr lang="en-US" b="1" dirty="0" smtClean="0">
                <a:solidFill>
                  <a:srgbClr val="002060"/>
                </a:solidFill>
                <a:ea typeface="Calibri"/>
                <a:cs typeface="Arial"/>
              </a:rPr>
              <a:t>Eng. </a:t>
            </a:r>
            <a:r>
              <a:rPr lang="en-US" b="1" dirty="0" err="1" smtClean="0">
                <a:solidFill>
                  <a:srgbClr val="002060"/>
                </a:solidFill>
                <a:ea typeface="Calibri"/>
                <a:cs typeface="Arial"/>
              </a:rPr>
              <a:t>Deema</a:t>
            </a:r>
            <a:r>
              <a:rPr lang="en-US" b="1" dirty="0" smtClean="0">
                <a:solidFill>
                  <a:srgbClr val="002060"/>
                </a:solidFill>
                <a:ea typeface="Calibri"/>
                <a:cs typeface="Arial"/>
              </a:rPr>
              <a:t> Mohammed AL-</a:t>
            </a:r>
            <a:r>
              <a:rPr lang="en-US" b="1" dirty="0" err="1" smtClean="0">
                <a:solidFill>
                  <a:srgbClr val="002060"/>
                </a:solidFill>
                <a:ea typeface="Calibri"/>
                <a:cs typeface="Arial"/>
              </a:rPr>
              <a:t>Maqadma</a:t>
            </a:r>
            <a:r>
              <a:rPr lang="en-US" b="1" dirty="0" smtClean="0">
                <a:solidFill>
                  <a:srgbClr val="002060"/>
                </a:solidFill>
                <a:ea typeface="Calibri"/>
                <a:cs typeface="Arial"/>
              </a:rPr>
              <a:t> </a:t>
            </a:r>
            <a:endParaRPr lang="en-US" sz="1400" dirty="0" smtClean="0">
              <a:ea typeface="Calibri"/>
              <a:cs typeface="Arial"/>
            </a:endParaRPr>
          </a:p>
          <a:p>
            <a:endParaRPr lang="ar-SA" dirty="0"/>
          </a:p>
        </p:txBody>
      </p:sp>
    </p:spTree>
    <p:extLst>
      <p:ext uri="{BB962C8B-B14F-4D97-AF65-F5344CB8AC3E}">
        <p14:creationId xmlns:p14="http://schemas.microsoft.com/office/powerpoint/2010/main" val="81646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b="1" dirty="0" smtClean="0">
                <a:solidFill>
                  <a:srgbClr val="FF0000"/>
                </a:solidFill>
              </a:rPr>
              <a:t>1</a:t>
            </a:r>
            <a:r>
              <a:rPr lang="ar-SA" b="1" dirty="0" smtClean="0">
                <a:solidFill>
                  <a:srgbClr val="FF0000"/>
                </a:solidFill>
              </a:rPr>
              <a:t>. خوارزمية البحث الثنائي</a:t>
            </a:r>
            <a:r>
              <a:rPr lang="en-US" b="1" dirty="0" smtClean="0">
                <a:solidFill>
                  <a:srgbClr val="FF0000"/>
                </a:solidFill>
              </a:rPr>
              <a:t>(Binary Search):</a:t>
            </a:r>
            <a:endParaRPr lang="ar-SA" b="1" dirty="0">
              <a:solidFill>
                <a:srgbClr val="FF0000"/>
              </a:solidFill>
            </a:endParaRPr>
          </a:p>
        </p:txBody>
      </p:sp>
      <p:sp>
        <p:nvSpPr>
          <p:cNvPr id="3" name="عنصر نائب للمحتوى 2"/>
          <p:cNvSpPr>
            <a:spLocks noGrp="1"/>
          </p:cNvSpPr>
          <p:nvPr>
            <p:ph idx="1"/>
          </p:nvPr>
        </p:nvSpPr>
        <p:spPr/>
        <p:txBody>
          <a:bodyPr>
            <a:normAutofit/>
          </a:bodyPr>
          <a:lstStyle/>
          <a:p>
            <a:r>
              <a:rPr lang="ar-SA" sz="3600" b="1" dirty="0" smtClean="0">
                <a:solidFill>
                  <a:srgbClr val="0070C0"/>
                </a:solidFill>
              </a:rPr>
              <a:t>الفكرة/ </a:t>
            </a:r>
          </a:p>
          <a:p>
            <a:r>
              <a:rPr lang="ar-SA" b="1" dirty="0" smtClean="0"/>
              <a:t>تبحث عن عنصر معين في مصفوفة مرتبة عن طريق تقسيمها لنصفين كل مرة، وتقارن العنصر المطلوب بالعنصر في المنتصف. إذا لم تجده، تكرر العملية في النصف المناسب حتى تجد العنصر أو تنتهي العناصر. </a:t>
            </a:r>
          </a:p>
          <a:p>
            <a:r>
              <a:rPr lang="ar-SA" b="1" dirty="0" smtClean="0"/>
              <a:t>( باختصار نرتب المصفوفة ونبحث عن العنصر في المنتصف، إذا </a:t>
            </a:r>
            <a:r>
              <a:rPr lang="ar-SA" b="1" dirty="0" err="1" smtClean="0"/>
              <a:t>مو</a:t>
            </a:r>
            <a:r>
              <a:rPr lang="ar-SA" b="1" dirty="0" smtClean="0"/>
              <a:t> هو المطلوب نكرر على النصف المناسب، وهكذا حتى نلاقيه أو تنتهي العناصر)</a:t>
            </a:r>
            <a:endParaRPr lang="ar-SA" b="1" dirty="0"/>
          </a:p>
        </p:txBody>
      </p:sp>
    </p:spTree>
    <p:extLst>
      <p:ext uri="{BB962C8B-B14F-4D97-AF65-F5344CB8AC3E}">
        <p14:creationId xmlns:p14="http://schemas.microsoft.com/office/powerpoint/2010/main" val="184130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539552" y="548680"/>
            <a:ext cx="8229600" cy="1143000"/>
          </a:xfrm>
        </p:spPr>
        <p:txBody>
          <a:bodyPr>
            <a:noAutofit/>
          </a:bodyPr>
          <a:lstStyle/>
          <a:p>
            <a:r>
              <a:rPr lang="ar-SA" sz="3600" b="1" dirty="0" smtClean="0">
                <a:solidFill>
                  <a:srgbClr val="0070C0"/>
                </a:solidFill>
              </a:rPr>
              <a:t> - خطوات التطبيق الخوارزمية على المصفوفة :</a:t>
            </a:r>
            <a:br>
              <a:rPr lang="ar-SA" sz="3600" b="1" dirty="0" smtClean="0">
                <a:solidFill>
                  <a:srgbClr val="0070C0"/>
                </a:solidFill>
              </a:rPr>
            </a:br>
            <a:endParaRPr lang="ar-SA" sz="3600" dirty="0"/>
          </a:p>
        </p:txBody>
      </p:sp>
      <p:sp>
        <p:nvSpPr>
          <p:cNvPr id="3" name="عنصر نائب للمحتوى 2"/>
          <p:cNvSpPr>
            <a:spLocks noGrp="1"/>
          </p:cNvSpPr>
          <p:nvPr>
            <p:ph idx="1"/>
          </p:nvPr>
        </p:nvSpPr>
        <p:spPr/>
        <p:txBody>
          <a:bodyPr>
            <a:normAutofit fontScale="85000" lnSpcReduction="20000"/>
          </a:bodyPr>
          <a:lstStyle/>
          <a:p>
            <a:pPr marL="0" indent="0">
              <a:buNone/>
            </a:pPr>
            <a:r>
              <a:rPr lang="en-US" sz="3300" b="1" dirty="0" smtClean="0"/>
              <a:t>array :[15, 7, 22, 3, 9, 5]</a:t>
            </a:r>
          </a:p>
          <a:p>
            <a:pPr marL="0" indent="0">
              <a:buNone/>
            </a:pPr>
            <a:endParaRPr lang="en-US" b="1" dirty="0" smtClean="0"/>
          </a:p>
          <a:p>
            <a:r>
              <a:rPr lang="en-US" b="1" dirty="0" smtClean="0"/>
              <a:t> .1 </a:t>
            </a:r>
            <a:r>
              <a:rPr lang="ar-SA" b="1" dirty="0" smtClean="0"/>
              <a:t>لازم نرتب المصفوفة أولًا : </a:t>
            </a:r>
            <a:r>
              <a:rPr lang="en-US" b="1" dirty="0"/>
              <a:t>[ 3, 5, 7, 9, 15, 22]</a:t>
            </a:r>
            <a:endParaRPr lang="ar-SA" b="1" dirty="0" smtClean="0"/>
          </a:p>
          <a:p>
            <a:r>
              <a:rPr lang="en-US" b="1" dirty="0" smtClean="0"/>
              <a:t>2</a:t>
            </a:r>
            <a:r>
              <a:rPr lang="ar-SA" b="1" dirty="0" smtClean="0"/>
              <a:t>. لنبحث عن 9 مثلًا، نأخذ المنتصف (العنصر 9)، وجدناه ( اي تساوت قيمة العنصر الأوسط </a:t>
            </a:r>
            <a:r>
              <a:rPr lang="en-US" b="1" dirty="0" smtClean="0"/>
              <a:t>mid </a:t>
            </a:r>
            <a:r>
              <a:rPr lang="ar-SA" b="1" dirty="0" smtClean="0"/>
              <a:t>مع قيمة العنصر الذي نبحث  </a:t>
            </a:r>
            <a:r>
              <a:rPr lang="en-US" b="1" dirty="0" smtClean="0"/>
              <a:t>target </a:t>
            </a:r>
            <a:r>
              <a:rPr lang="ar-SA" b="1" dirty="0" smtClean="0"/>
              <a:t>بالتالي ينتهي البحث)، في حال لم نجده، نقسم المصفوفة لقسمين بناء على العنصر الأوسط </a:t>
            </a:r>
            <a:r>
              <a:rPr lang="en-US" b="1" dirty="0" smtClean="0"/>
              <a:t>mid </a:t>
            </a:r>
            <a:r>
              <a:rPr lang="ar-SA" b="1" dirty="0" smtClean="0"/>
              <a:t>ونقارن  قيمة العنصر الذي نبحث عنه </a:t>
            </a:r>
            <a:r>
              <a:rPr lang="en-US" b="1" dirty="0" smtClean="0"/>
              <a:t>target </a:t>
            </a:r>
            <a:r>
              <a:rPr lang="ar-SA" b="1" dirty="0" smtClean="0"/>
              <a:t>بقيمة </a:t>
            </a:r>
            <a:r>
              <a:rPr lang="en-US" b="1" dirty="0" smtClean="0"/>
              <a:t>mid </a:t>
            </a:r>
            <a:r>
              <a:rPr lang="ar-SA" b="1" dirty="0" smtClean="0"/>
              <a:t>لمعرفة المكان المناسب للبحث ، في حال كان </a:t>
            </a:r>
            <a:r>
              <a:rPr lang="en-US" b="1" dirty="0" smtClean="0"/>
              <a:t>mid&gt;target  </a:t>
            </a:r>
            <a:r>
              <a:rPr lang="ar-SA" b="1" dirty="0" smtClean="0"/>
              <a:t>نبحث في الجزء الاصغر ( اي من </a:t>
            </a:r>
            <a:r>
              <a:rPr lang="en-US" b="1" dirty="0" smtClean="0"/>
              <a:t>left </a:t>
            </a:r>
            <a:r>
              <a:rPr lang="ar-SA" b="1" dirty="0" smtClean="0"/>
              <a:t>الى </a:t>
            </a:r>
            <a:r>
              <a:rPr lang="en-US" b="1" dirty="0" smtClean="0"/>
              <a:t>mid-1</a:t>
            </a:r>
            <a:r>
              <a:rPr lang="ar-SA" b="1" dirty="0" smtClean="0"/>
              <a:t>)أما في حال العكس </a:t>
            </a:r>
            <a:r>
              <a:rPr lang="en-US" b="1" dirty="0" smtClean="0"/>
              <a:t>mid&lt; target </a:t>
            </a:r>
            <a:r>
              <a:rPr lang="ar-SA" b="1" dirty="0" smtClean="0"/>
              <a:t>نبحث في الجزء الأكبر ( اي من </a:t>
            </a:r>
            <a:r>
              <a:rPr lang="en-US" b="1" dirty="0" smtClean="0"/>
              <a:t>mid+1 </a:t>
            </a:r>
            <a:r>
              <a:rPr lang="ar-SA" b="1" dirty="0" smtClean="0"/>
              <a:t>إلى </a:t>
            </a:r>
            <a:r>
              <a:rPr lang="en-US" b="1" dirty="0" smtClean="0"/>
              <a:t>(right ، </a:t>
            </a:r>
            <a:r>
              <a:rPr lang="ar-SA" b="1" dirty="0" smtClean="0"/>
              <a:t>ونكرر العملية حتى نجد العنصر المطلوب في مكانه</a:t>
            </a:r>
            <a:endParaRPr lang="ar-SA" b="1" dirty="0"/>
          </a:p>
        </p:txBody>
      </p:sp>
    </p:spTree>
    <p:extLst>
      <p:ext uri="{BB962C8B-B14F-4D97-AF65-F5344CB8AC3E}">
        <p14:creationId xmlns:p14="http://schemas.microsoft.com/office/powerpoint/2010/main" val="2392258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539552" y="620688"/>
            <a:ext cx="8229600" cy="1143000"/>
          </a:xfrm>
        </p:spPr>
        <p:txBody>
          <a:bodyPr>
            <a:normAutofit fontScale="90000"/>
          </a:bodyPr>
          <a:lstStyle/>
          <a:p>
            <a:r>
              <a:rPr lang="ar-SA" b="1" dirty="0" smtClean="0">
                <a:solidFill>
                  <a:srgbClr val="0070C0"/>
                </a:solidFill>
              </a:rPr>
              <a:t>-  التعقيد الزمني  </a:t>
            </a:r>
            <a:r>
              <a:rPr lang="en-US" b="1" dirty="0" smtClean="0">
                <a:solidFill>
                  <a:srgbClr val="0070C0"/>
                </a:solidFill>
              </a:rPr>
              <a:t>Time Complexity /</a:t>
            </a:r>
            <a:br>
              <a:rPr lang="en-US" b="1" dirty="0" smtClean="0">
                <a:solidFill>
                  <a:srgbClr val="0070C0"/>
                </a:solidFill>
              </a:rPr>
            </a:br>
            <a:endParaRPr lang="ar-SA" b="1" dirty="0">
              <a:solidFill>
                <a:srgbClr val="0070C0"/>
              </a:solidFill>
            </a:endParaRPr>
          </a:p>
        </p:txBody>
      </p:sp>
      <p:sp>
        <p:nvSpPr>
          <p:cNvPr id="3" name="عنصر نائب للمحتوى 2"/>
          <p:cNvSpPr>
            <a:spLocks noGrp="1"/>
          </p:cNvSpPr>
          <p:nvPr>
            <p:ph idx="1"/>
          </p:nvPr>
        </p:nvSpPr>
        <p:spPr/>
        <p:txBody>
          <a:bodyPr/>
          <a:lstStyle/>
          <a:p>
            <a:r>
              <a:rPr lang="en-US" sz="4000" b="1" dirty="0" smtClean="0"/>
              <a:t>O(log n) </a:t>
            </a:r>
            <a:endParaRPr lang="ar-SA" sz="4000" b="1" dirty="0" smtClean="0"/>
          </a:p>
          <a:p>
            <a:r>
              <a:rPr lang="ar-SA" b="1" dirty="0" smtClean="0"/>
              <a:t>لأننا نقسم المصفوفة لنصفين في كل خطوة أي يقل عدد العناصر للنصف </a:t>
            </a:r>
            <a:r>
              <a:rPr lang="en-US" b="1" dirty="0" smtClean="0"/>
              <a:t>n/2 </a:t>
            </a:r>
            <a:endParaRPr lang="ar-SA" b="1" dirty="0" smtClean="0"/>
          </a:p>
          <a:p>
            <a:endParaRPr lang="ar-SA" dirty="0"/>
          </a:p>
        </p:txBody>
      </p:sp>
    </p:spTree>
    <p:extLst>
      <p:ext uri="{BB962C8B-B14F-4D97-AF65-F5344CB8AC3E}">
        <p14:creationId xmlns:p14="http://schemas.microsoft.com/office/powerpoint/2010/main" val="1562886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23528" y="404664"/>
            <a:ext cx="8229600" cy="1143000"/>
          </a:xfrm>
        </p:spPr>
        <p:txBody>
          <a:bodyPr>
            <a:noAutofit/>
          </a:bodyPr>
          <a:lstStyle/>
          <a:p>
            <a:r>
              <a:rPr lang="ar-SA" sz="2800" b="1" dirty="0">
                <a:solidFill>
                  <a:srgbClr val="0070C0"/>
                </a:solidFill>
              </a:rPr>
              <a:t>كود </a:t>
            </a:r>
            <a:r>
              <a:rPr lang="ar-SA" sz="3200" b="1" dirty="0">
                <a:solidFill>
                  <a:srgbClr val="0070C0"/>
                </a:solidFill>
              </a:rPr>
              <a:t>بلغة الجافا يوضح عمليا تطبيق </a:t>
            </a:r>
            <a:r>
              <a:rPr lang="ar-SA" sz="3200" b="1" dirty="0" smtClean="0">
                <a:solidFill>
                  <a:srgbClr val="0070C0"/>
                </a:solidFill>
              </a:rPr>
              <a:t>خوارزمية </a:t>
            </a:r>
            <a:br>
              <a:rPr lang="ar-SA" sz="3200" b="1" dirty="0" smtClean="0">
                <a:solidFill>
                  <a:srgbClr val="0070C0"/>
                </a:solidFill>
              </a:rPr>
            </a:br>
            <a:r>
              <a:rPr lang="ar-SA" sz="3200" b="1" dirty="0" smtClean="0">
                <a:solidFill>
                  <a:srgbClr val="0070C0"/>
                </a:solidFill>
              </a:rPr>
              <a:t>(</a:t>
            </a:r>
            <a:r>
              <a:rPr lang="en-US" sz="3200" b="1" dirty="0" smtClean="0">
                <a:solidFill>
                  <a:srgbClr val="0070C0"/>
                </a:solidFill>
              </a:rPr>
              <a:t>Binary Search</a:t>
            </a:r>
            <a:r>
              <a:rPr lang="ar-SA" sz="3200" b="1" dirty="0" smtClean="0">
                <a:solidFill>
                  <a:srgbClr val="0070C0"/>
                </a:solidFill>
              </a:rPr>
              <a:t>)</a:t>
            </a:r>
            <a:endParaRPr lang="ar-SA" sz="32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1600200"/>
            <a:ext cx="7200800" cy="514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2532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548680"/>
            <a:ext cx="8229600" cy="1143000"/>
          </a:xfrm>
        </p:spPr>
        <p:txBody>
          <a:bodyPr>
            <a:normAutofit fontScale="90000"/>
          </a:bodyPr>
          <a:lstStyle/>
          <a:p>
            <a:r>
              <a:rPr lang="en-US" b="1" dirty="0" smtClean="0">
                <a:solidFill>
                  <a:srgbClr val="FF0000"/>
                </a:solidFill>
              </a:rPr>
              <a:t>2</a:t>
            </a:r>
            <a:r>
              <a:rPr lang="ar-SA" b="1" dirty="0" smtClean="0">
                <a:solidFill>
                  <a:srgbClr val="FF0000"/>
                </a:solidFill>
              </a:rPr>
              <a:t>. خوارزمية فرز الفقاعة </a:t>
            </a:r>
            <a:r>
              <a:rPr lang="en-US" b="1" dirty="0" smtClean="0">
                <a:solidFill>
                  <a:srgbClr val="FF0000"/>
                </a:solidFill>
              </a:rPr>
              <a:t>Bubble Sort):</a:t>
            </a:r>
            <a:r>
              <a:rPr lang="ar-SA" b="1" dirty="0" smtClean="0">
                <a:solidFill>
                  <a:srgbClr val="FF0000"/>
                </a:solidFill>
              </a:rPr>
              <a:t>)</a:t>
            </a:r>
            <a:br>
              <a:rPr lang="ar-SA" b="1" dirty="0" smtClean="0">
                <a:solidFill>
                  <a:srgbClr val="FF0000"/>
                </a:solidFill>
              </a:rPr>
            </a:br>
            <a:endParaRPr lang="ar-SA" b="1" dirty="0">
              <a:solidFill>
                <a:srgbClr val="FF0000"/>
              </a:solidFill>
            </a:endParaRPr>
          </a:p>
        </p:txBody>
      </p:sp>
      <p:sp>
        <p:nvSpPr>
          <p:cNvPr id="3" name="عنصر نائب للمحتوى 2"/>
          <p:cNvSpPr>
            <a:spLocks noGrp="1"/>
          </p:cNvSpPr>
          <p:nvPr>
            <p:ph idx="1"/>
          </p:nvPr>
        </p:nvSpPr>
        <p:spPr/>
        <p:txBody>
          <a:bodyPr>
            <a:normAutofit lnSpcReduction="10000"/>
          </a:bodyPr>
          <a:lstStyle/>
          <a:p>
            <a:r>
              <a:rPr lang="ar-SA" sz="3600" b="1" dirty="0" smtClean="0">
                <a:solidFill>
                  <a:srgbClr val="0070C0"/>
                </a:solidFill>
              </a:rPr>
              <a:t>الفكرة/</a:t>
            </a:r>
          </a:p>
          <a:p>
            <a:r>
              <a:rPr lang="ar-SA" b="1" dirty="0" smtClean="0"/>
              <a:t>تمر على المصفوفة عدة مرات، وتبدّل </a:t>
            </a:r>
            <a:r>
              <a:rPr lang="en-US" b="1" dirty="0" smtClean="0"/>
              <a:t>swap </a:t>
            </a:r>
            <a:r>
              <a:rPr lang="ar-SA" b="1" dirty="0" smtClean="0"/>
              <a:t>كل عنصر مع العنصر الذي يليه إذا كان أكبر منه، حتى تصبح المصفوفة مرتبة تصاعدياً ، وفي هذه الخوارزمية بركز على وضع العنصر الأكبر في مكانه الصحيح اي نبدأ بترتيب العناصر بحيث نضع أولا العنصر الأكبر </a:t>
            </a:r>
            <a:r>
              <a:rPr lang="en-US" b="1" dirty="0" smtClean="0"/>
              <a:t>Largest </a:t>
            </a:r>
            <a:r>
              <a:rPr lang="ar-SA" b="1" dirty="0" smtClean="0"/>
              <a:t>في مكانه الصحيح ثم نكمل حتى تترتب المصفوفة ( باختصار نمر على المصفوفة أكثر من مرة، كل مرة نبدّل بين كل عنصر وجاره إذا كان أكبر، ونكرر حتى تصير مرتبة بالكامل.)</a:t>
            </a:r>
            <a:endParaRPr lang="ar-SA" b="1" dirty="0"/>
          </a:p>
        </p:txBody>
      </p:sp>
    </p:spTree>
    <p:extLst>
      <p:ext uri="{BB962C8B-B14F-4D97-AF65-F5344CB8AC3E}">
        <p14:creationId xmlns:p14="http://schemas.microsoft.com/office/powerpoint/2010/main" val="854831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smtClean="0">
                <a:solidFill>
                  <a:srgbClr val="FF0000"/>
                </a:solidFill>
              </a:rPr>
              <a:t>Note /</a:t>
            </a:r>
            <a:endParaRPr lang="ar-SA" b="1" dirty="0">
              <a:solidFill>
                <a:srgbClr val="FF0000"/>
              </a:solidFill>
            </a:endParaRPr>
          </a:p>
        </p:txBody>
      </p:sp>
      <p:sp>
        <p:nvSpPr>
          <p:cNvPr id="3" name="عنصر نائب للمحتوى 2"/>
          <p:cNvSpPr>
            <a:spLocks noGrp="1"/>
          </p:cNvSpPr>
          <p:nvPr>
            <p:ph idx="1"/>
          </p:nvPr>
        </p:nvSpPr>
        <p:spPr/>
        <p:txBody>
          <a:bodyPr/>
          <a:lstStyle/>
          <a:p>
            <a:r>
              <a:rPr lang="ar-SA" b="1" dirty="0" smtClean="0">
                <a:solidFill>
                  <a:srgbClr val="0070C0"/>
                </a:solidFill>
              </a:rPr>
              <a:t>مقارنة بين </a:t>
            </a:r>
            <a:r>
              <a:rPr lang="ar-SA" b="1" dirty="0" err="1" smtClean="0">
                <a:solidFill>
                  <a:srgbClr val="0070C0"/>
                </a:solidFill>
              </a:rPr>
              <a:t>خوازميات</a:t>
            </a:r>
            <a:r>
              <a:rPr lang="ar-SA" b="1" dirty="0" smtClean="0">
                <a:solidFill>
                  <a:srgbClr val="0070C0"/>
                </a:solidFill>
              </a:rPr>
              <a:t> البحث </a:t>
            </a:r>
            <a:r>
              <a:rPr lang="en-US" b="1" dirty="0" smtClean="0">
                <a:solidFill>
                  <a:srgbClr val="0070C0"/>
                </a:solidFill>
              </a:rPr>
              <a:t>Searching</a:t>
            </a:r>
            <a:r>
              <a:rPr lang="ar-SA" b="1" dirty="0" smtClean="0">
                <a:solidFill>
                  <a:srgbClr val="0070C0"/>
                </a:solidFill>
              </a:rPr>
              <a:t> /</a:t>
            </a:r>
            <a:endParaRPr lang="en-US" b="1" dirty="0" smtClean="0">
              <a:solidFill>
                <a:srgbClr val="0070C0"/>
              </a:solidFill>
            </a:endParaRPr>
          </a:p>
          <a:p>
            <a:r>
              <a:rPr lang="ar-SA" b="1" dirty="0" smtClean="0"/>
              <a:t> خوارزمية الفرز بالاختيار (</a:t>
            </a:r>
            <a:r>
              <a:rPr lang="en-US" b="1" dirty="0" smtClean="0"/>
              <a:t> (Selection Sort</a:t>
            </a:r>
            <a:r>
              <a:rPr lang="ar-SA" b="1" dirty="0" err="1" smtClean="0"/>
              <a:t>وخوازمية</a:t>
            </a:r>
            <a:r>
              <a:rPr lang="ar-SA" b="1" dirty="0" smtClean="0"/>
              <a:t> فرز الفقاعة(</a:t>
            </a:r>
            <a:r>
              <a:rPr lang="en-US" b="1" dirty="0" smtClean="0"/>
              <a:t>(Bubble Sort</a:t>
            </a:r>
            <a:r>
              <a:rPr lang="ar-SA" b="1" dirty="0" smtClean="0"/>
              <a:t> :</a:t>
            </a:r>
          </a:p>
          <a:p>
            <a:r>
              <a:rPr lang="ar-SA" b="1" dirty="0" smtClean="0"/>
              <a:t>تعبر خوارزمية </a:t>
            </a:r>
            <a:r>
              <a:rPr lang="en-US" b="1" dirty="0" smtClean="0"/>
              <a:t>Bubble Sort </a:t>
            </a:r>
            <a:r>
              <a:rPr lang="ar-SA" b="1" dirty="0" smtClean="0"/>
              <a:t>أذكى ، لأنه في حال كانت المصفوفة مرتبة لن يحدث اي تبديل </a:t>
            </a:r>
            <a:r>
              <a:rPr lang="en-US" b="1" dirty="0" smtClean="0"/>
              <a:t>swap </a:t>
            </a:r>
            <a:r>
              <a:rPr lang="ar-SA" b="1" dirty="0" smtClean="0"/>
              <a:t>بالتالي ما يحتاج أمر على </a:t>
            </a:r>
            <a:r>
              <a:rPr lang="ar-SA" b="1" dirty="0" err="1" smtClean="0"/>
              <a:t>عناصرالمصفوفة</a:t>
            </a:r>
            <a:r>
              <a:rPr lang="ar-SA" b="1" dirty="0" smtClean="0"/>
              <a:t> مرة اخرى</a:t>
            </a:r>
          </a:p>
          <a:p>
            <a:endParaRPr lang="ar-SA" b="1" dirty="0"/>
          </a:p>
        </p:txBody>
      </p:sp>
    </p:spTree>
    <p:extLst>
      <p:ext uri="{BB962C8B-B14F-4D97-AF65-F5344CB8AC3E}">
        <p14:creationId xmlns:p14="http://schemas.microsoft.com/office/powerpoint/2010/main" val="821985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ar-SA" b="1" dirty="0" smtClean="0">
                <a:solidFill>
                  <a:srgbClr val="0070C0"/>
                </a:solidFill>
              </a:rPr>
              <a:t> - خطوات التطبيق الخوارزمية على المصفوفة :</a:t>
            </a:r>
            <a:endParaRPr lang="ar-SA" dirty="0"/>
          </a:p>
        </p:txBody>
      </p:sp>
      <p:sp>
        <p:nvSpPr>
          <p:cNvPr id="3" name="عنصر نائب للمحتوى 2"/>
          <p:cNvSpPr>
            <a:spLocks noGrp="1"/>
          </p:cNvSpPr>
          <p:nvPr>
            <p:ph idx="1"/>
          </p:nvPr>
        </p:nvSpPr>
        <p:spPr/>
        <p:txBody>
          <a:bodyPr>
            <a:normAutofit lnSpcReduction="10000"/>
          </a:bodyPr>
          <a:lstStyle/>
          <a:p>
            <a:r>
              <a:rPr lang="en-US" b="1" dirty="0" smtClean="0"/>
              <a:t>array :[15, 7, 22, 3, 9, 5] </a:t>
            </a:r>
          </a:p>
          <a:p>
            <a:r>
              <a:rPr lang="en-US" b="1" dirty="0" smtClean="0"/>
              <a:t> .1 </a:t>
            </a:r>
            <a:r>
              <a:rPr lang="ar-SA" b="1" dirty="0" smtClean="0"/>
              <a:t>قارن 15 و7 → بدّل</a:t>
            </a:r>
          </a:p>
          <a:p>
            <a:r>
              <a:rPr lang="ar-SA" b="1" dirty="0" smtClean="0"/>
              <a:t> </a:t>
            </a:r>
            <a:r>
              <a:rPr lang="en-US" b="1" dirty="0" smtClean="0"/>
              <a:t>2</a:t>
            </a:r>
            <a:r>
              <a:rPr lang="ar-SA" b="1" dirty="0" smtClean="0"/>
              <a:t>. قارن 15 و22 → لا تبديل </a:t>
            </a:r>
          </a:p>
          <a:p>
            <a:r>
              <a:rPr lang="ar-SA" b="1" dirty="0" smtClean="0"/>
              <a:t> </a:t>
            </a:r>
            <a:r>
              <a:rPr lang="en-US" b="1" dirty="0" smtClean="0"/>
              <a:t>3</a:t>
            </a:r>
            <a:r>
              <a:rPr lang="ar-SA" b="1" dirty="0" smtClean="0"/>
              <a:t>. قارن 22 و3 → بدّل  </a:t>
            </a:r>
          </a:p>
          <a:p>
            <a:r>
              <a:rPr lang="en-US" b="1" dirty="0" smtClean="0"/>
              <a:t>4</a:t>
            </a:r>
            <a:r>
              <a:rPr lang="ar-SA" b="1" dirty="0" smtClean="0"/>
              <a:t>. كمل بنفس الطريقة حتى نهاية المصفوفة وكرر عدة مرات حتى الترتيب النهائي </a:t>
            </a:r>
            <a:r>
              <a:rPr lang="en-US" b="1" dirty="0" smtClean="0"/>
              <a:t>[ 3, 5, 7, 9, 15, 22]</a:t>
            </a:r>
            <a:endParaRPr lang="ar-SA" b="1" dirty="0" smtClean="0"/>
          </a:p>
          <a:p>
            <a:r>
              <a:rPr lang="ar-SA" sz="4000" b="1" dirty="0" smtClean="0">
                <a:solidFill>
                  <a:srgbClr val="0070C0"/>
                </a:solidFill>
              </a:rPr>
              <a:t>- التعقيد الزمني  </a:t>
            </a:r>
            <a:r>
              <a:rPr lang="en-US" sz="4000" b="1" dirty="0" smtClean="0">
                <a:solidFill>
                  <a:srgbClr val="0070C0"/>
                </a:solidFill>
              </a:rPr>
              <a:t>Time Complexity /</a:t>
            </a:r>
          </a:p>
          <a:p>
            <a:r>
              <a:rPr lang="en-US" b="1" dirty="0" smtClean="0"/>
              <a:t> O(n^2) </a:t>
            </a:r>
            <a:r>
              <a:rPr lang="ar-SA" b="1" dirty="0" smtClean="0"/>
              <a:t>لأنك تمر على كل العناصر عدة مرات </a:t>
            </a:r>
            <a:endParaRPr lang="ar-SA" b="1" dirty="0"/>
          </a:p>
        </p:txBody>
      </p:sp>
    </p:spTree>
    <p:extLst>
      <p:ext uri="{BB962C8B-B14F-4D97-AF65-F5344CB8AC3E}">
        <p14:creationId xmlns:p14="http://schemas.microsoft.com/office/powerpoint/2010/main" val="3744927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476672"/>
            <a:ext cx="8229600" cy="1143000"/>
          </a:xfrm>
        </p:spPr>
        <p:txBody>
          <a:bodyPr>
            <a:noAutofit/>
          </a:bodyPr>
          <a:lstStyle/>
          <a:p>
            <a:r>
              <a:rPr lang="ar-SA" sz="3600" b="1" dirty="0" smtClean="0">
                <a:solidFill>
                  <a:srgbClr val="0070C0"/>
                </a:solidFill>
              </a:rPr>
              <a:t>كود </a:t>
            </a:r>
            <a:r>
              <a:rPr lang="ar-SA" sz="4000" b="1" dirty="0" smtClean="0">
                <a:solidFill>
                  <a:srgbClr val="0070C0"/>
                </a:solidFill>
              </a:rPr>
              <a:t>بلغة الجافا يوضح عمليا تطبيق </a:t>
            </a:r>
            <a:r>
              <a:rPr lang="ar-SA" sz="4000" b="1" dirty="0" smtClean="0">
                <a:solidFill>
                  <a:srgbClr val="0070C0"/>
                </a:solidFill>
              </a:rPr>
              <a:t>خوارزمية </a:t>
            </a:r>
            <a:r>
              <a:rPr lang="ar-SA" sz="4000" b="1" dirty="0" smtClean="0">
                <a:solidFill>
                  <a:srgbClr val="0070C0"/>
                </a:solidFill>
              </a:rPr>
              <a:t>(</a:t>
            </a:r>
            <a:r>
              <a:rPr lang="en-US" sz="4000" b="1" dirty="0" smtClean="0">
                <a:solidFill>
                  <a:srgbClr val="0070C0"/>
                </a:solidFill>
              </a:rPr>
              <a:t>Bubble Sort</a:t>
            </a:r>
            <a:r>
              <a:rPr lang="ar-SA" sz="4000" b="1" dirty="0" smtClean="0">
                <a:solidFill>
                  <a:srgbClr val="0070C0"/>
                </a:solidFill>
              </a:rPr>
              <a:t>)</a:t>
            </a:r>
            <a:endParaRPr lang="ar-SA" sz="4000" b="1" dirty="0">
              <a:solidFill>
                <a:srgbClr val="0070C0"/>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844824"/>
            <a:ext cx="7272808" cy="460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1631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95536" y="2636912"/>
            <a:ext cx="8445624" cy="1224136"/>
          </a:xfrm>
        </p:spPr>
        <p:txBody>
          <a:bodyPr>
            <a:noAutofit/>
          </a:bodyPr>
          <a:lstStyle/>
          <a:p>
            <a:r>
              <a:rPr lang="ar-SA" b="1" dirty="0" smtClean="0">
                <a:solidFill>
                  <a:srgbClr val="7030A0"/>
                </a:solidFill>
              </a:rPr>
              <a:t>« واخر دعواهم أن الحمد لله رب العالمين «</a:t>
            </a:r>
            <a:endParaRPr lang="ar-SA" b="1" dirty="0"/>
          </a:p>
        </p:txBody>
      </p:sp>
    </p:spTree>
    <p:extLst>
      <p:ext uri="{BB962C8B-B14F-4D97-AF65-F5344CB8AC3E}">
        <p14:creationId xmlns:p14="http://schemas.microsoft.com/office/powerpoint/2010/main" val="1470156554"/>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521</Words>
  <Application>Microsoft Office PowerPoint</Application>
  <PresentationFormat>عرض على الشاشة (3:4)‏</PresentationFormat>
  <Paragraphs>35</Paragraphs>
  <Slides>10</Slides>
  <Notes>0</Notes>
  <HiddenSlides>0</HiddenSlides>
  <MMClips>0</MMClips>
  <ScaleCrop>false</ScaleCrop>
  <HeadingPairs>
    <vt:vector size="4" baseType="variant">
      <vt:variant>
        <vt:lpstr>نسق</vt:lpstr>
      </vt:variant>
      <vt:variant>
        <vt:i4>1</vt:i4>
      </vt:variant>
      <vt:variant>
        <vt:lpstr>عناوين الشرائح</vt:lpstr>
      </vt:variant>
      <vt:variant>
        <vt:i4>10</vt:i4>
      </vt:variant>
    </vt:vector>
  </HeadingPairs>
  <TitlesOfParts>
    <vt:vector size="11" baseType="lpstr">
      <vt:lpstr>نسق Office</vt:lpstr>
      <vt:lpstr>بسم الله الرحمن الرحيم     </vt:lpstr>
      <vt:lpstr>1. خوارزمية البحث الثنائي(Binary Search):</vt:lpstr>
      <vt:lpstr> - خطوات التطبيق الخوارزمية على المصفوفة : </vt:lpstr>
      <vt:lpstr>-  التعقيد الزمني  Time Complexity / </vt:lpstr>
      <vt:lpstr>كود بلغة الجافا يوضح عمليا تطبيق خوارزمية  (Binary Search)</vt:lpstr>
      <vt:lpstr>2. خوارزمية فرز الفقاعة Bubble Sort):) </vt:lpstr>
      <vt:lpstr>Note /</vt:lpstr>
      <vt:lpstr> - خطوات التطبيق الخوارزمية على المصفوفة :</vt:lpstr>
      <vt:lpstr>كود بلغة الجافا يوضح عمليا تطبيق خوارزمية (Bubble Sort)</vt:lpstr>
      <vt:lpstr>« واخر دعواهم أن الحمد لله رب العالمين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Alaa</dc:creator>
  <cp:lastModifiedBy>Alaa</cp:lastModifiedBy>
  <cp:revision>7</cp:revision>
  <dcterms:created xsi:type="dcterms:W3CDTF">2025-06-22T03:24:33Z</dcterms:created>
  <dcterms:modified xsi:type="dcterms:W3CDTF">2025-06-22T05:43:54Z</dcterms:modified>
</cp:coreProperties>
</file>