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58" d="100"/>
          <a:sy n="58" d="100"/>
        </p:scale>
        <p:origin x="-1413" y="-8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36D6-6606-4CB8-9C92-165DE5187AF5}" type="datetimeFigureOut">
              <a:rPr lang="ar-SA" smtClean="0"/>
              <a:t>09/06/1446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E2D75-699D-4FFC-A3E3-F025F25E273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85927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36D6-6606-4CB8-9C92-165DE5187AF5}" type="datetimeFigureOut">
              <a:rPr lang="ar-SA" smtClean="0"/>
              <a:t>09/06/1446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E2D75-699D-4FFC-A3E3-F025F25E273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95813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36D6-6606-4CB8-9C92-165DE5187AF5}" type="datetimeFigureOut">
              <a:rPr lang="ar-SA" smtClean="0"/>
              <a:t>09/06/1446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E2D75-699D-4FFC-A3E3-F025F25E273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0985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36D6-6606-4CB8-9C92-165DE5187AF5}" type="datetimeFigureOut">
              <a:rPr lang="ar-SA" smtClean="0"/>
              <a:t>09/06/1446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E2D75-699D-4FFC-A3E3-F025F25E273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1972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36D6-6606-4CB8-9C92-165DE5187AF5}" type="datetimeFigureOut">
              <a:rPr lang="ar-SA" smtClean="0"/>
              <a:t>09/06/1446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E2D75-699D-4FFC-A3E3-F025F25E273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53134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36D6-6606-4CB8-9C92-165DE5187AF5}" type="datetimeFigureOut">
              <a:rPr lang="ar-SA" smtClean="0"/>
              <a:t>09/06/1446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E2D75-699D-4FFC-A3E3-F025F25E273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67165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36D6-6606-4CB8-9C92-165DE5187AF5}" type="datetimeFigureOut">
              <a:rPr lang="ar-SA" smtClean="0"/>
              <a:t>09/06/1446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E2D75-699D-4FFC-A3E3-F025F25E273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26819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36D6-6606-4CB8-9C92-165DE5187AF5}" type="datetimeFigureOut">
              <a:rPr lang="ar-SA" smtClean="0"/>
              <a:t>09/06/1446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E2D75-699D-4FFC-A3E3-F025F25E273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62760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36D6-6606-4CB8-9C92-165DE5187AF5}" type="datetimeFigureOut">
              <a:rPr lang="ar-SA" smtClean="0"/>
              <a:t>09/06/1446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E2D75-699D-4FFC-A3E3-F025F25E273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16787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36D6-6606-4CB8-9C92-165DE5187AF5}" type="datetimeFigureOut">
              <a:rPr lang="ar-SA" smtClean="0"/>
              <a:t>09/06/1446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E2D75-699D-4FFC-A3E3-F025F25E273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64722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536D6-6606-4CB8-9C92-165DE5187AF5}" type="datetimeFigureOut">
              <a:rPr lang="ar-SA" smtClean="0"/>
              <a:t>09/06/1446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E2D75-699D-4FFC-A3E3-F025F25E273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76524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536D6-6606-4CB8-9C92-165DE5187AF5}" type="datetimeFigureOut">
              <a:rPr lang="ar-SA" smtClean="0"/>
              <a:t>09/06/1446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E2D75-699D-4FFC-A3E3-F025F25E273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76318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268760"/>
          </a:xfrm>
        </p:spPr>
        <p:txBody>
          <a:bodyPr>
            <a:normAutofit fontScale="90000"/>
          </a:bodyPr>
          <a:lstStyle/>
          <a:p>
            <a:r>
              <a:rPr lang="ar-SA" b="1" dirty="0"/>
              <a:t>بسم الله الرحمن الرحيم    </a:t>
            </a:r>
            <a:r>
              <a:rPr lang="en-US" dirty="0"/>
              <a:t/>
            </a:r>
            <a:br>
              <a:rPr lang="en-US" dirty="0"/>
            </a:br>
            <a:endParaRPr lang="ar-SA" dirty="0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0" y="1844824"/>
            <a:ext cx="8676456" cy="5616624"/>
          </a:xfrm>
        </p:spPr>
        <p:txBody>
          <a:bodyPr>
            <a:normAutofit/>
          </a:bodyPr>
          <a:lstStyle/>
          <a:p>
            <a:pPr marL="1828800" algn="l" rtl="0">
              <a:lnSpc>
                <a:spcPct val="115000"/>
              </a:lnSpc>
              <a:spcAft>
                <a:spcPts val="1000"/>
              </a:spcAft>
            </a:pPr>
            <a:r>
              <a:rPr lang="en-US" b="1" dirty="0" smtClean="0">
                <a:solidFill>
                  <a:srgbClr val="953735"/>
                </a:solidFill>
                <a:ea typeface="Calibri"/>
                <a:cs typeface="Arial"/>
              </a:rPr>
              <a:t>      Programming </a:t>
            </a:r>
            <a:r>
              <a:rPr lang="en-US" b="1" dirty="0">
                <a:solidFill>
                  <a:srgbClr val="953735"/>
                </a:solidFill>
                <a:ea typeface="Calibri"/>
                <a:cs typeface="Arial"/>
              </a:rPr>
              <a:t>1</a:t>
            </a:r>
            <a:endParaRPr lang="en-US" sz="1600" dirty="0">
              <a:ea typeface="Calibri"/>
              <a:cs typeface="Arial"/>
            </a:endParaRPr>
          </a:p>
          <a:p>
            <a:pPr marL="914400" rtl="0"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solidFill>
                  <a:srgbClr val="953735"/>
                </a:solidFill>
                <a:ea typeface="Calibri"/>
                <a:cs typeface="Arial"/>
              </a:rPr>
              <a:t> ( Object Oriented Programming )</a:t>
            </a:r>
            <a:endParaRPr lang="en-US" sz="1600" dirty="0">
              <a:ea typeface="Calibri"/>
              <a:cs typeface="Arial"/>
            </a:endParaRPr>
          </a:p>
          <a:p>
            <a:pPr rtl="0"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 smtClean="0">
                <a:solidFill>
                  <a:srgbClr val="7030A0"/>
                </a:solidFill>
                <a:ea typeface="Calibri"/>
                <a:cs typeface="Arial"/>
              </a:rPr>
              <a:t>  ***   </a:t>
            </a:r>
            <a:r>
              <a:rPr lang="en-US" sz="3600" b="1" dirty="0" err="1">
                <a:solidFill>
                  <a:srgbClr val="7030A0"/>
                </a:solidFill>
                <a:ea typeface="Calibri"/>
                <a:cs typeface="Arial"/>
              </a:rPr>
              <a:t>Dr</a:t>
            </a:r>
            <a:r>
              <a:rPr lang="en-US" sz="3600" b="1" dirty="0">
                <a:solidFill>
                  <a:srgbClr val="7030A0"/>
                </a:solidFill>
                <a:ea typeface="Calibri"/>
                <a:cs typeface="Arial"/>
              </a:rPr>
              <a:t> . Mohammed </a:t>
            </a:r>
            <a:r>
              <a:rPr lang="en-US" sz="3600" b="1" dirty="0" err="1">
                <a:solidFill>
                  <a:srgbClr val="7030A0"/>
                </a:solidFill>
                <a:ea typeface="Calibri"/>
                <a:cs typeface="Arial"/>
              </a:rPr>
              <a:t>Musalam</a:t>
            </a:r>
            <a:r>
              <a:rPr lang="en-US" sz="3600" b="1" dirty="0">
                <a:solidFill>
                  <a:srgbClr val="7030A0"/>
                </a:solidFill>
                <a:ea typeface="Calibri"/>
                <a:cs typeface="Arial"/>
              </a:rPr>
              <a:t>   </a:t>
            </a:r>
            <a:r>
              <a:rPr lang="en-US" sz="3600" b="1" dirty="0" smtClean="0">
                <a:solidFill>
                  <a:srgbClr val="7030A0"/>
                </a:solidFill>
                <a:ea typeface="Calibri"/>
                <a:cs typeface="Arial"/>
              </a:rPr>
              <a:t>***</a:t>
            </a:r>
            <a:r>
              <a:rPr lang="en-US" sz="1600" dirty="0">
                <a:ea typeface="Calibri"/>
                <a:cs typeface="Arial"/>
              </a:rPr>
              <a:t> </a:t>
            </a:r>
            <a:r>
              <a:rPr lang="en-US" sz="1600" dirty="0" smtClean="0">
                <a:ea typeface="Calibri"/>
                <a:cs typeface="Arial"/>
              </a:rPr>
              <a:t>            </a:t>
            </a:r>
            <a:r>
              <a:rPr lang="en-US" sz="4000" b="1" dirty="0" smtClean="0">
                <a:solidFill>
                  <a:srgbClr val="000000"/>
                </a:solidFill>
                <a:ea typeface="Calibri"/>
                <a:cs typeface="Arial"/>
              </a:rPr>
              <a:t>Answers </a:t>
            </a:r>
            <a:r>
              <a:rPr lang="en-US" sz="4000" b="1" dirty="0">
                <a:solidFill>
                  <a:srgbClr val="000000"/>
                </a:solidFill>
                <a:ea typeface="Calibri"/>
                <a:cs typeface="Arial"/>
              </a:rPr>
              <a:t>of </a:t>
            </a:r>
            <a:r>
              <a:rPr lang="en-US" sz="4000" b="1" dirty="0" err="1">
                <a:solidFill>
                  <a:srgbClr val="000000"/>
                </a:solidFill>
                <a:ea typeface="Calibri"/>
                <a:cs typeface="Arial"/>
              </a:rPr>
              <a:t>Assigment</a:t>
            </a:r>
            <a:r>
              <a:rPr lang="en-US" sz="4000" b="1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sz="4000" b="1" dirty="0" smtClean="0">
                <a:solidFill>
                  <a:srgbClr val="000000"/>
                </a:solidFill>
                <a:ea typeface="Calibri"/>
                <a:cs typeface="Arial"/>
              </a:rPr>
              <a:t>2</a:t>
            </a:r>
          </a:p>
          <a:p>
            <a:pPr rtl="0">
              <a:lnSpc>
                <a:spcPct val="115000"/>
              </a:lnSpc>
              <a:spcAft>
                <a:spcPts val="1000"/>
              </a:spcAft>
            </a:pPr>
            <a:r>
              <a:rPr lang="en-US" b="1" dirty="0" smtClean="0">
                <a:solidFill>
                  <a:srgbClr val="002060"/>
                </a:solidFill>
                <a:ea typeface="Calibri"/>
                <a:cs typeface="Arial"/>
              </a:rPr>
              <a:t>Eng</a:t>
            </a:r>
            <a:r>
              <a:rPr lang="en-US" b="1" dirty="0" smtClean="0">
                <a:solidFill>
                  <a:srgbClr val="002060"/>
                </a:solidFill>
                <a:ea typeface="Calibri"/>
                <a:cs typeface="Arial"/>
              </a:rPr>
              <a:t>. </a:t>
            </a:r>
            <a:r>
              <a:rPr lang="en-US" b="1" dirty="0" err="1" smtClean="0">
                <a:solidFill>
                  <a:srgbClr val="002060"/>
                </a:solidFill>
                <a:ea typeface="Calibri"/>
                <a:cs typeface="Arial"/>
              </a:rPr>
              <a:t>Deema</a:t>
            </a:r>
            <a:r>
              <a:rPr lang="en-US" b="1" dirty="0" smtClean="0">
                <a:solidFill>
                  <a:srgbClr val="002060"/>
                </a:solidFill>
                <a:ea typeface="Calibri"/>
                <a:cs typeface="Arial"/>
              </a:rPr>
              <a:t> Mohammed AL-</a:t>
            </a:r>
            <a:r>
              <a:rPr lang="en-US" b="1" dirty="0" err="1" smtClean="0">
                <a:solidFill>
                  <a:srgbClr val="002060"/>
                </a:solidFill>
                <a:ea typeface="Calibri"/>
                <a:cs typeface="Arial"/>
              </a:rPr>
              <a:t>Maqadma</a:t>
            </a:r>
            <a:r>
              <a:rPr lang="en-US" b="1" dirty="0" smtClean="0">
                <a:solidFill>
                  <a:srgbClr val="002060"/>
                </a:solidFill>
                <a:ea typeface="Calibri"/>
                <a:cs typeface="Arial"/>
              </a:rPr>
              <a:t> </a:t>
            </a:r>
            <a:endParaRPr lang="en-US" sz="1400" dirty="0" smtClean="0">
              <a:ea typeface="Calibri"/>
              <a:cs typeface="Arial"/>
            </a:endParaRPr>
          </a:p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292506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rgbClr val="C00000"/>
                </a:solidFill>
              </a:rPr>
              <a:t>Multiple Choice and True/False</a:t>
            </a:r>
            <a:endParaRPr lang="ar-SA" sz="4800" b="1" dirty="0">
              <a:solidFill>
                <a:srgbClr val="C00000"/>
              </a:solidFill>
            </a:endParaRP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 smtClean="0"/>
              <a:t>1. This type of method cannot access any non-static member variables in its own class.</a:t>
            </a:r>
          </a:p>
          <a:p>
            <a:pPr algn="l"/>
            <a:r>
              <a:rPr lang="en-US" sz="3600" b="1" dirty="0" smtClean="0">
                <a:solidFill>
                  <a:srgbClr val="7030A0"/>
                </a:solidFill>
              </a:rPr>
              <a:t>c. Static</a:t>
            </a:r>
            <a:endParaRPr lang="ar-SA" sz="3600" b="1" dirty="0" smtClean="0">
              <a:solidFill>
                <a:srgbClr val="7030A0"/>
              </a:solidFill>
            </a:endParaRPr>
          </a:p>
          <a:p>
            <a:pPr algn="l"/>
            <a:r>
              <a:rPr lang="en-US" dirty="0" smtClean="0"/>
              <a:t>2. When an object is passed as an argument to a method, this is actually passed. </a:t>
            </a:r>
            <a:r>
              <a:rPr lang="en-US" sz="3600" b="1" dirty="0" smtClean="0">
                <a:solidFill>
                  <a:srgbClr val="7030A0"/>
                </a:solidFill>
              </a:rPr>
              <a:t>c. a reference to the objec</a:t>
            </a:r>
            <a:r>
              <a:rPr lang="en-US" b="1" dirty="0" smtClean="0">
                <a:solidFill>
                  <a:srgbClr val="7030A0"/>
                </a:solidFill>
              </a:rPr>
              <a:t>t</a:t>
            </a:r>
            <a:endParaRPr lang="ar-SA" b="1" dirty="0" smtClean="0">
              <a:solidFill>
                <a:srgbClr val="7030A0"/>
              </a:solidFill>
            </a:endParaRPr>
          </a:p>
          <a:p>
            <a:pPr algn="l"/>
            <a:r>
              <a:rPr lang="en-US" dirty="0" smtClean="0"/>
              <a:t>3. If you write this method for a class, Java will automatically call it any time you concatenate an object of the class with a string. </a:t>
            </a:r>
            <a:r>
              <a:rPr lang="en-US" sz="3600" b="1" dirty="0" smtClean="0">
                <a:solidFill>
                  <a:srgbClr val="7030A0"/>
                </a:solidFill>
              </a:rPr>
              <a:t>a. </a:t>
            </a:r>
            <a:r>
              <a:rPr lang="en-US" sz="3600" b="1" dirty="0" err="1" smtClean="0">
                <a:solidFill>
                  <a:srgbClr val="7030A0"/>
                </a:solidFill>
              </a:rPr>
              <a:t>toString</a:t>
            </a:r>
            <a:endParaRPr lang="ar-SA" sz="36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0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/>
          <a:lstStyle/>
          <a:p>
            <a:pPr algn="l"/>
            <a:r>
              <a:rPr lang="en-US" dirty="0" smtClean="0"/>
              <a:t>4. Making an instance of one class a field in another class is called </a:t>
            </a:r>
            <a:r>
              <a:rPr lang="en-US" sz="3600" b="1" dirty="0" smtClean="0">
                <a:solidFill>
                  <a:srgbClr val="7030A0"/>
                </a:solidFill>
              </a:rPr>
              <a:t>c. aggregation</a:t>
            </a:r>
            <a:endParaRPr lang="ar-SA" b="1" dirty="0" smtClean="0">
              <a:solidFill>
                <a:srgbClr val="7030A0"/>
              </a:solidFill>
            </a:endParaRPr>
          </a:p>
          <a:p>
            <a:pPr algn="l"/>
            <a:r>
              <a:rPr lang="en-US" dirty="0" smtClean="0"/>
              <a:t>5. This is the name of a reference variable that is always available to an instance method </a:t>
            </a:r>
          </a:p>
          <a:p>
            <a:pPr algn="l"/>
            <a:r>
              <a:rPr lang="en-US" dirty="0" smtClean="0"/>
              <a:t>and refers to the object that is calling the method</a:t>
            </a:r>
            <a:r>
              <a:rPr lang="en-US" sz="3600" dirty="0" smtClean="0">
                <a:solidFill>
                  <a:srgbClr val="7030A0"/>
                </a:solidFill>
              </a:rPr>
              <a:t>. </a:t>
            </a:r>
            <a:r>
              <a:rPr lang="en-US" sz="3600" b="1" dirty="0" smtClean="0">
                <a:solidFill>
                  <a:srgbClr val="7030A0"/>
                </a:solidFill>
              </a:rPr>
              <a:t>b. this</a:t>
            </a:r>
            <a:endParaRPr lang="ar-SA" sz="3600" b="1" dirty="0" smtClean="0">
              <a:solidFill>
                <a:srgbClr val="7030A0"/>
              </a:solidFill>
            </a:endParaRPr>
          </a:p>
          <a:p>
            <a:pPr algn="l"/>
            <a:r>
              <a:rPr lang="en-US" dirty="0" smtClean="0"/>
              <a:t>9. The Java Virtual Machine periodically performs this process, which automatically </a:t>
            </a:r>
          </a:p>
          <a:p>
            <a:pPr algn="l"/>
            <a:r>
              <a:rPr lang="en-US" dirty="0" smtClean="0"/>
              <a:t>removes unreferenced objects from memory. </a:t>
            </a:r>
            <a:r>
              <a:rPr lang="en-US" sz="3600" b="1" dirty="0" smtClean="0">
                <a:solidFill>
                  <a:srgbClr val="7030A0"/>
                </a:solidFill>
              </a:rPr>
              <a:t>c. garbage collection</a:t>
            </a:r>
            <a:endParaRPr lang="ar-SA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204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264696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True or </a:t>
            </a:r>
            <a:r>
              <a:rPr lang="en-US" sz="3600" b="1" dirty="0" smtClean="0">
                <a:solidFill>
                  <a:srgbClr val="7030A0"/>
                </a:solidFill>
              </a:rPr>
              <a:t>False</a:t>
            </a:r>
            <a:r>
              <a:rPr lang="en-US" dirty="0" smtClean="0"/>
              <a:t>: A static member method may refer to non-static member variables of </a:t>
            </a:r>
          </a:p>
          <a:p>
            <a:pPr algn="l"/>
            <a:r>
              <a:rPr lang="en-US" dirty="0" smtClean="0"/>
              <a:t>the same class, but only after an instance of the class has been defined.</a:t>
            </a:r>
            <a:endParaRPr lang="ar-SA" dirty="0" smtClean="0"/>
          </a:p>
          <a:p>
            <a:pPr algn="l"/>
            <a:r>
              <a:rPr lang="en-US" dirty="0" smtClean="0"/>
              <a:t>13. True or </a:t>
            </a:r>
            <a:r>
              <a:rPr lang="en-US" sz="3600" b="1" dirty="0" smtClean="0">
                <a:solidFill>
                  <a:srgbClr val="7030A0"/>
                </a:solidFill>
              </a:rPr>
              <a:t>False</a:t>
            </a:r>
            <a:r>
              <a:rPr lang="en-US" dirty="0" smtClean="0"/>
              <a:t>: All static member variables are initialized to –1 by default.</a:t>
            </a:r>
            <a:r>
              <a:rPr lang="ar-SA" dirty="0" smtClean="0"/>
              <a:t> </a:t>
            </a:r>
          </a:p>
          <a:p>
            <a:pPr algn="l"/>
            <a:r>
              <a:rPr lang="en-US" dirty="0" smtClean="0"/>
              <a:t>14.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sz="3600" b="1" dirty="0" smtClean="0">
                <a:solidFill>
                  <a:srgbClr val="7030A0"/>
                </a:solidFill>
              </a:rPr>
              <a:t>True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dirty="0" smtClean="0"/>
              <a:t>or False: When an object is passed as an argument to a method, the method can </a:t>
            </a:r>
          </a:p>
          <a:p>
            <a:pPr algn="l"/>
            <a:r>
              <a:rPr lang="en-US" dirty="0" smtClean="0"/>
              <a:t>access the argument.</a:t>
            </a:r>
            <a:r>
              <a:rPr lang="ar-SA" dirty="0" smtClean="0"/>
              <a:t> </a:t>
            </a:r>
          </a:p>
          <a:p>
            <a:pPr algn="l"/>
            <a:r>
              <a:rPr lang="en-US" dirty="0" smtClean="0"/>
              <a:t>15. True or </a:t>
            </a:r>
            <a:r>
              <a:rPr lang="en-US" sz="3600" b="1" dirty="0" smtClean="0">
                <a:solidFill>
                  <a:srgbClr val="7030A0"/>
                </a:solidFill>
              </a:rPr>
              <a:t>False</a:t>
            </a:r>
            <a:r>
              <a:rPr lang="en-US" dirty="0" smtClean="0"/>
              <a:t>: A method cannot return a reference to an object.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848989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Find the Error</a:t>
            </a:r>
            <a:endParaRPr lang="ar-SA" b="1" dirty="0">
              <a:solidFill>
                <a:srgbClr val="C00000"/>
              </a:solidFill>
            </a:endParaRP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539552" y="1384721"/>
            <a:ext cx="8229600" cy="5472608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dirty="0" smtClean="0"/>
              <a:t>The following class definition has an error. What is it?</a:t>
            </a:r>
          </a:p>
          <a:p>
            <a:pPr algn="l"/>
            <a:r>
              <a:rPr lang="en-US" dirty="0" smtClean="0"/>
              <a:t>1. public class </a:t>
            </a:r>
            <a:r>
              <a:rPr lang="en-US" dirty="0" err="1" smtClean="0"/>
              <a:t>MyClass</a:t>
            </a:r>
            <a:endParaRPr lang="en-US" dirty="0" smtClean="0"/>
          </a:p>
          <a:p>
            <a:pPr algn="l"/>
            <a:r>
              <a:rPr lang="en-US" dirty="0" smtClean="0"/>
              <a:t>{</a:t>
            </a:r>
          </a:p>
          <a:p>
            <a:pPr algn="l"/>
            <a:r>
              <a:rPr lang="en-US" dirty="0" smtClean="0"/>
              <a:t> private </a:t>
            </a:r>
            <a:r>
              <a:rPr lang="en-US" dirty="0" err="1" smtClean="0"/>
              <a:t>int</a:t>
            </a:r>
            <a:r>
              <a:rPr lang="en-US" dirty="0" smtClean="0"/>
              <a:t> x;</a:t>
            </a:r>
          </a:p>
          <a:p>
            <a:pPr algn="l"/>
            <a:r>
              <a:rPr lang="en-US" dirty="0" smtClean="0"/>
              <a:t> private double y;</a:t>
            </a:r>
          </a:p>
          <a:p>
            <a:pPr algn="l"/>
            <a:r>
              <a:rPr lang="en-US" dirty="0" smtClean="0"/>
              <a:t> public static void </a:t>
            </a:r>
            <a:r>
              <a:rPr lang="en-US" dirty="0" err="1" smtClean="0"/>
              <a:t>setValues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a, double b)</a:t>
            </a:r>
          </a:p>
          <a:p>
            <a:pPr algn="l"/>
            <a:r>
              <a:rPr lang="en-US" dirty="0" smtClean="0"/>
              <a:t> {x = a;</a:t>
            </a:r>
          </a:p>
          <a:p>
            <a:pPr algn="l"/>
            <a:r>
              <a:rPr lang="en-US" dirty="0" smtClean="0"/>
              <a:t> y = b;</a:t>
            </a:r>
          </a:p>
          <a:p>
            <a:pPr algn="l"/>
            <a:r>
              <a:rPr lang="en-US" dirty="0" smtClean="0"/>
              <a:t> }</a:t>
            </a:r>
          </a:p>
          <a:p>
            <a:pPr algn="l"/>
            <a:r>
              <a:rPr lang="en-US" dirty="0" smtClean="0"/>
              <a:t>}</a:t>
            </a:r>
            <a:r>
              <a:rPr lang="ar-SA" dirty="0" smtClean="0"/>
              <a:t> </a:t>
            </a:r>
          </a:p>
          <a:p>
            <a:pPr algn="l"/>
            <a:r>
              <a:rPr lang="ar-SA" sz="3300" b="1" dirty="0" smtClean="0">
                <a:solidFill>
                  <a:srgbClr val="7030A0"/>
                </a:solidFill>
              </a:rPr>
              <a:t>&lt; </a:t>
            </a:r>
            <a:r>
              <a:rPr lang="en-US" sz="3300" b="1" dirty="0" smtClean="0">
                <a:solidFill>
                  <a:srgbClr val="7030A0"/>
                </a:solidFill>
              </a:rPr>
              <a:t> [ The Static method can only access Static data  </a:t>
            </a:r>
            <a:r>
              <a:rPr lang="ar-SA" sz="3300" b="1" dirty="0" smtClean="0">
                <a:solidFill>
                  <a:srgbClr val="7030A0"/>
                </a:solidFill>
              </a:rPr>
              <a:t>&gt;</a:t>
            </a:r>
            <a:endParaRPr lang="ar-SA" sz="33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591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>
                <a:solidFill>
                  <a:srgbClr val="C00000"/>
                </a:solidFill>
              </a:rPr>
              <a:t>Algorithm Workbench</a:t>
            </a:r>
            <a:endParaRPr lang="ar-SA" b="1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07" y="1624843"/>
            <a:ext cx="3600400" cy="511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1556792"/>
            <a:ext cx="5053211" cy="5301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مربع نص 4"/>
          <p:cNvSpPr txBox="1"/>
          <p:nvPr/>
        </p:nvSpPr>
        <p:spPr>
          <a:xfrm>
            <a:off x="7287162" y="1124744"/>
            <a:ext cx="1512168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5400" b="1" dirty="0" smtClean="0">
                <a:solidFill>
                  <a:schemeClr val="accent5">
                    <a:lumMod val="50000"/>
                  </a:schemeClr>
                </a:solidFill>
              </a:rPr>
              <a:t>Q/1</a:t>
            </a:r>
            <a:endParaRPr lang="ar-SA" sz="5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03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0" y="-1323528"/>
            <a:ext cx="8229600" cy="1143000"/>
          </a:xfrm>
        </p:spPr>
        <p:txBody>
          <a:bodyPr/>
          <a:lstStyle/>
          <a:p>
            <a:endParaRPr lang="ar-SA"/>
          </a:p>
        </p:txBody>
      </p:sp>
      <p:sp>
        <p:nvSpPr>
          <p:cNvPr id="4" name="عنصر نائب للمحتوى 3"/>
          <p:cNvSpPr>
            <a:spLocks noGrp="1"/>
          </p:cNvSpPr>
          <p:nvPr>
            <p:ph idx="1"/>
          </p:nvPr>
        </p:nvSpPr>
        <p:spPr>
          <a:xfrm>
            <a:off x="539552" y="260648"/>
            <a:ext cx="8229600" cy="6597352"/>
          </a:xfrm>
        </p:spPr>
        <p:txBody>
          <a:bodyPr>
            <a:noAutofit/>
          </a:bodyPr>
          <a:lstStyle/>
          <a:p>
            <a:pPr algn="l"/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</a:rPr>
              <a:t>2. Consider the following class declaration:</a:t>
            </a:r>
          </a:p>
          <a:p>
            <a:pPr algn="l"/>
            <a:r>
              <a:rPr lang="en-US" sz="1600" dirty="0" smtClean="0"/>
              <a:t>public class Thing</a:t>
            </a:r>
          </a:p>
          <a:p>
            <a:pPr algn="l"/>
            <a:r>
              <a:rPr lang="en-US" sz="1600" dirty="0" smtClean="0"/>
              <a:t>{</a:t>
            </a:r>
          </a:p>
          <a:p>
            <a:pPr algn="l"/>
            <a:r>
              <a:rPr lang="en-US" sz="1600" dirty="0" smtClean="0"/>
              <a:t> private </a:t>
            </a:r>
            <a:r>
              <a:rPr lang="en-US" sz="1600" dirty="0" err="1" smtClean="0"/>
              <a:t>int</a:t>
            </a:r>
            <a:r>
              <a:rPr lang="en-US" sz="1600" dirty="0" smtClean="0"/>
              <a:t> x;</a:t>
            </a:r>
          </a:p>
          <a:p>
            <a:pPr algn="l"/>
            <a:r>
              <a:rPr lang="en-US" sz="1600" dirty="0" smtClean="0"/>
              <a:t> private </a:t>
            </a:r>
            <a:r>
              <a:rPr lang="en-US" sz="1600" dirty="0" err="1" smtClean="0"/>
              <a:t>int</a:t>
            </a:r>
            <a:r>
              <a:rPr lang="en-US" sz="1600" dirty="0" smtClean="0"/>
              <a:t> y;</a:t>
            </a:r>
          </a:p>
          <a:p>
            <a:pPr algn="l"/>
            <a:r>
              <a:rPr lang="en-US" sz="1600" dirty="0" smtClean="0"/>
              <a:t> private static </a:t>
            </a:r>
            <a:r>
              <a:rPr lang="en-US" sz="1600" dirty="0" err="1" smtClean="0"/>
              <a:t>int</a:t>
            </a:r>
            <a:r>
              <a:rPr lang="en-US" sz="1600" dirty="0" smtClean="0"/>
              <a:t> z = 0;</a:t>
            </a:r>
          </a:p>
          <a:p>
            <a:pPr algn="l"/>
            <a:r>
              <a:rPr lang="en-US" sz="1600" dirty="0" smtClean="0"/>
              <a:t> public Thing()</a:t>
            </a:r>
          </a:p>
          <a:p>
            <a:pPr algn="l"/>
            <a:r>
              <a:rPr lang="en-US" sz="1600" dirty="0" smtClean="0"/>
              <a:t> {</a:t>
            </a:r>
          </a:p>
          <a:p>
            <a:pPr algn="l"/>
            <a:r>
              <a:rPr lang="en-US" sz="1600" dirty="0" smtClean="0"/>
              <a:t> x = z;</a:t>
            </a:r>
          </a:p>
          <a:p>
            <a:pPr algn="l"/>
            <a:r>
              <a:rPr lang="en-US" sz="1600" dirty="0" smtClean="0"/>
              <a:t> y = z;</a:t>
            </a:r>
          </a:p>
          <a:p>
            <a:pPr algn="l"/>
            <a:r>
              <a:rPr lang="en-US" sz="1600" dirty="0" smtClean="0"/>
              <a:t> }</a:t>
            </a:r>
          </a:p>
          <a:p>
            <a:pPr algn="l"/>
            <a:r>
              <a:rPr lang="en-US" sz="1600" dirty="0" smtClean="0"/>
              <a:t> static void </a:t>
            </a:r>
            <a:r>
              <a:rPr lang="en-US" sz="1600" dirty="0" err="1" smtClean="0"/>
              <a:t>putThing</a:t>
            </a:r>
            <a:r>
              <a:rPr lang="en-US" sz="1600" dirty="0" smtClean="0"/>
              <a:t>(</a:t>
            </a:r>
            <a:r>
              <a:rPr lang="en-US" sz="1600" dirty="0" err="1" smtClean="0"/>
              <a:t>int</a:t>
            </a:r>
            <a:r>
              <a:rPr lang="en-US" sz="1600" dirty="0" smtClean="0"/>
              <a:t> a)</a:t>
            </a:r>
          </a:p>
          <a:p>
            <a:pPr algn="l"/>
            <a:r>
              <a:rPr lang="en-US" sz="1600" dirty="0" smtClean="0"/>
              <a:t> {</a:t>
            </a:r>
          </a:p>
          <a:p>
            <a:pPr algn="l"/>
            <a:r>
              <a:rPr lang="en-US" sz="1600" dirty="0" smtClean="0"/>
              <a:t> z = a;</a:t>
            </a:r>
          </a:p>
          <a:p>
            <a:pPr algn="l"/>
            <a:r>
              <a:rPr lang="en-US" sz="1600" dirty="0" smtClean="0"/>
              <a:t> }</a:t>
            </a:r>
          </a:p>
          <a:p>
            <a:pPr algn="l"/>
            <a:r>
              <a:rPr lang="en-US" sz="1600" dirty="0" smtClean="0"/>
              <a:t>}</a:t>
            </a:r>
          </a:p>
          <a:p>
            <a:pPr algn="l"/>
            <a:r>
              <a:rPr lang="en-US" sz="1600" dirty="0" smtClean="0"/>
              <a:t> Assume a program containing the class declaration defines three Thing objects with </a:t>
            </a:r>
          </a:p>
          <a:p>
            <a:pPr algn="l"/>
            <a:r>
              <a:rPr lang="en-US" sz="1600" dirty="0" smtClean="0"/>
              <a:t>the following statements:</a:t>
            </a:r>
          </a:p>
          <a:p>
            <a:pPr algn="l"/>
            <a:r>
              <a:rPr lang="en-US" sz="1600" dirty="0" smtClean="0"/>
              <a:t>Thing one = new Thing();</a:t>
            </a:r>
          </a:p>
          <a:p>
            <a:pPr algn="l"/>
            <a:r>
              <a:rPr lang="en-US" sz="1600" dirty="0" smtClean="0"/>
              <a:t>Thing two = new Thing();</a:t>
            </a:r>
          </a:p>
          <a:p>
            <a:pPr algn="l"/>
            <a:r>
              <a:rPr lang="en-US" sz="1600" dirty="0" smtClean="0"/>
              <a:t>Thing three = new Thing();</a:t>
            </a:r>
            <a:endParaRPr lang="ar-SA" sz="1600" dirty="0"/>
          </a:p>
        </p:txBody>
      </p:sp>
    </p:spTree>
    <p:extLst>
      <p:ext uri="{BB962C8B-B14F-4D97-AF65-F5344CB8AC3E}">
        <p14:creationId xmlns:p14="http://schemas.microsoft.com/office/powerpoint/2010/main" val="3003767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23528" y="183849"/>
            <a:ext cx="8507288" cy="6669360"/>
          </a:xfrm>
        </p:spPr>
        <p:txBody>
          <a:bodyPr>
            <a:noAutofit/>
          </a:bodyPr>
          <a:lstStyle/>
          <a:p>
            <a:pPr marL="514350" indent="-514350" algn="l">
              <a:buAutoNum type="alphaLcPeriod"/>
            </a:pPr>
            <a:r>
              <a:rPr lang="en-US" sz="3600" dirty="0" smtClean="0"/>
              <a:t>How many separate instances of the x member exist?   </a:t>
            </a:r>
            <a:r>
              <a:rPr lang="en-US" sz="3600" b="1" dirty="0" smtClean="0">
                <a:solidFill>
                  <a:srgbClr val="7030A0"/>
                </a:solidFill>
              </a:rPr>
              <a:t>3</a:t>
            </a:r>
            <a:r>
              <a:rPr lang="ar-SA" sz="3600" b="1" dirty="0" smtClean="0">
                <a:solidFill>
                  <a:srgbClr val="7030A0"/>
                </a:solidFill>
              </a:rPr>
              <a:t> </a:t>
            </a:r>
          </a:p>
          <a:p>
            <a:pPr marL="514350" indent="-514350" algn="l">
              <a:buAutoNum type="alphaLcPeriod"/>
            </a:pPr>
            <a:r>
              <a:rPr lang="en-US" sz="3600" dirty="0" smtClean="0"/>
              <a:t>b. How many separate instances of the y </a:t>
            </a:r>
            <a:r>
              <a:rPr lang="ar-SA" sz="3600" dirty="0" smtClean="0"/>
              <a:t>    </a:t>
            </a:r>
            <a:r>
              <a:rPr lang="en-US" sz="3600" b="1" dirty="0" smtClean="0">
                <a:solidFill>
                  <a:srgbClr val="7030A0"/>
                </a:solidFill>
              </a:rPr>
              <a:t>3</a:t>
            </a:r>
            <a:r>
              <a:rPr lang="ar-SA" sz="3600" dirty="0" smtClean="0"/>
              <a:t>  </a:t>
            </a:r>
            <a:r>
              <a:rPr lang="en-US" sz="3600" dirty="0" smtClean="0"/>
              <a:t>member exist?</a:t>
            </a:r>
            <a:r>
              <a:rPr lang="ar-SA" sz="3600" dirty="0" smtClean="0"/>
              <a:t>  </a:t>
            </a:r>
          </a:p>
          <a:p>
            <a:pPr marL="0" indent="0" algn="l">
              <a:buNone/>
            </a:pPr>
            <a:r>
              <a:rPr lang="en-US" sz="3600" dirty="0" smtClean="0"/>
              <a:t>c. How many separate instances of the z </a:t>
            </a:r>
            <a:r>
              <a:rPr lang="ar-SA" sz="3600" dirty="0" smtClean="0"/>
              <a:t> </a:t>
            </a:r>
            <a:r>
              <a:rPr lang="en-US" sz="3600" dirty="0" smtClean="0"/>
              <a:t> member exist?</a:t>
            </a:r>
            <a:r>
              <a:rPr lang="en-US" sz="3600" dirty="0" smtClean="0"/>
              <a:t> </a:t>
            </a:r>
            <a:r>
              <a:rPr lang="en-US" sz="3600" b="1" dirty="0" smtClean="0">
                <a:solidFill>
                  <a:srgbClr val="7030A0"/>
                </a:solidFill>
              </a:rPr>
              <a:t>1</a:t>
            </a:r>
            <a:r>
              <a:rPr lang="ar-SA" sz="3600" dirty="0" smtClean="0"/>
              <a:t> </a:t>
            </a:r>
          </a:p>
          <a:p>
            <a:pPr marL="0" indent="0" algn="l">
              <a:buNone/>
            </a:pPr>
            <a:r>
              <a:rPr lang="en-US" sz="3600" dirty="0" smtClean="0"/>
              <a:t>d. What value will be stored in the x and y members of each object? </a:t>
            </a:r>
            <a:r>
              <a:rPr lang="en-US" sz="3600" b="1" dirty="0" smtClean="0">
                <a:solidFill>
                  <a:srgbClr val="7030A0"/>
                </a:solidFill>
              </a:rPr>
              <a:t>0</a:t>
            </a:r>
            <a:endParaRPr lang="ar-SA" sz="3600" b="1" dirty="0" smtClean="0">
              <a:solidFill>
                <a:srgbClr val="7030A0"/>
              </a:solidFill>
            </a:endParaRPr>
          </a:p>
          <a:p>
            <a:pPr marL="0" indent="0" algn="l">
              <a:buNone/>
            </a:pPr>
            <a:r>
              <a:rPr lang="en-US" sz="3600" dirty="0" smtClean="0"/>
              <a:t>e. Write a statement that will call the </a:t>
            </a:r>
            <a:r>
              <a:rPr lang="en-US" sz="3600" dirty="0" err="1" smtClean="0"/>
              <a:t>putThing</a:t>
            </a:r>
            <a:r>
              <a:rPr lang="en-US" sz="3600" dirty="0" smtClean="0"/>
              <a:t> method.</a:t>
            </a:r>
            <a:endParaRPr lang="ar-SA" sz="3600" dirty="0" smtClean="0"/>
          </a:p>
          <a:p>
            <a:pPr marL="0" indent="0" algn="l">
              <a:buNone/>
            </a:pPr>
            <a:r>
              <a:rPr lang="en-US" sz="3600" b="1" dirty="0" err="1" smtClean="0">
                <a:solidFill>
                  <a:srgbClr val="7030A0"/>
                </a:solidFill>
              </a:rPr>
              <a:t>Thing.putThing</a:t>
            </a:r>
            <a:r>
              <a:rPr lang="en-US" sz="3600" b="1" dirty="0" smtClean="0">
                <a:solidFill>
                  <a:srgbClr val="7030A0"/>
                </a:solidFill>
              </a:rPr>
              <a:t>(3);</a:t>
            </a:r>
            <a:endParaRPr lang="ar-SA" sz="36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004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323528" y="1124744"/>
            <a:ext cx="8496944" cy="4522514"/>
          </a:xfrm>
        </p:spPr>
        <p:txBody>
          <a:bodyPr>
            <a:normAutofit/>
          </a:bodyPr>
          <a:lstStyle/>
          <a:p>
            <a:r>
              <a:rPr lang="ar-SA" b="1" dirty="0" smtClean="0">
                <a:solidFill>
                  <a:srgbClr val="7030A0"/>
                </a:solidFill>
              </a:rPr>
              <a:t>« واخر دعواهم أن الحمد لله رب العالمين «</a:t>
            </a:r>
            <a:endParaRPr lang="ar-SA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823070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520</Words>
  <Application>Microsoft Office PowerPoint</Application>
  <PresentationFormat>عرض على الشاشة (3:4)‏</PresentationFormat>
  <Paragraphs>63</Paragraphs>
  <Slides>9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9</vt:i4>
      </vt:variant>
    </vt:vector>
  </HeadingPairs>
  <TitlesOfParts>
    <vt:vector size="10" baseType="lpstr">
      <vt:lpstr>نسق Office</vt:lpstr>
      <vt:lpstr>بسم الله الرحمن الرحيم     </vt:lpstr>
      <vt:lpstr>Multiple Choice and True/False</vt:lpstr>
      <vt:lpstr>عرض تقديمي في PowerPoint</vt:lpstr>
      <vt:lpstr>عرض تقديمي في PowerPoint</vt:lpstr>
      <vt:lpstr>Find the Error</vt:lpstr>
      <vt:lpstr>Algorithm Workbench</vt:lpstr>
      <vt:lpstr>عرض تقديمي في PowerPoint</vt:lpstr>
      <vt:lpstr>عرض تقديمي في PowerPoint</vt:lpstr>
      <vt:lpstr>« واخر دعواهم أن الحمد لله رب العالمين «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Alaa</dc:creator>
  <cp:lastModifiedBy>Alaa</cp:lastModifiedBy>
  <cp:revision>8</cp:revision>
  <dcterms:created xsi:type="dcterms:W3CDTF">2025-03-05T10:50:27Z</dcterms:created>
  <dcterms:modified xsi:type="dcterms:W3CDTF">2025-03-05T12:25:52Z</dcterms:modified>
</cp:coreProperties>
</file>