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67" d="100"/>
          <a:sy n="67" d="100"/>
        </p:scale>
        <p:origin x="-1141" y="-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9E0FE7A-B064-404E-8DA0-0BF3D8E087A8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243D026A-2EEA-4DF0-9FD7-EF1FE8629FF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13987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3D026A-2EEA-4DF0-9FD7-EF1FE8629FF0}" type="slidenum">
              <a:rPr lang="ar-SA" smtClean="0"/>
              <a:t>20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9679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928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22792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0395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331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0550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3349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3825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49810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4752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884873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3987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98D-A811-4C67-BFD7-7D143712FF54}" type="datetimeFigureOut">
              <a:rPr lang="ar-SA" smtClean="0"/>
              <a:t>08/17/1446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F3F0C-9D76-48BC-A271-6CBB6CE46C17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1737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11560" y="692696"/>
            <a:ext cx="7772400" cy="1268760"/>
          </a:xfrm>
        </p:spPr>
        <p:txBody>
          <a:bodyPr>
            <a:normAutofit fontScale="90000"/>
          </a:bodyPr>
          <a:lstStyle/>
          <a:p>
            <a:r>
              <a:rPr lang="ar-SA" b="1" dirty="0"/>
              <a:t>بسم الله الرحمن الرحيم    </a:t>
            </a:r>
            <a:r>
              <a:rPr lang="en-US" dirty="0"/>
              <a:t/>
            </a:r>
            <a:br>
              <a:rPr lang="en-US" dirty="0"/>
            </a:br>
            <a:endParaRPr lang="ar-SA" dirty="0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611560" y="1844824"/>
            <a:ext cx="8064896" cy="5616624"/>
          </a:xfrm>
        </p:spPr>
        <p:txBody>
          <a:bodyPr>
            <a:normAutofit/>
          </a:bodyPr>
          <a:lstStyle/>
          <a:p>
            <a:pPr marL="18288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 smtClean="0">
                <a:solidFill>
                  <a:srgbClr val="953735"/>
                </a:solidFill>
                <a:ea typeface="Calibri"/>
                <a:cs typeface="Arial"/>
              </a:rPr>
              <a:t>      Programming </a:t>
            </a: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1</a:t>
            </a:r>
            <a:endParaRPr lang="en-US" sz="1600" dirty="0">
              <a:ea typeface="Calibri"/>
              <a:cs typeface="Arial"/>
            </a:endParaRPr>
          </a:p>
          <a:p>
            <a:pPr marL="914400" algn="l" rtl="0"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rgbClr val="953735"/>
                </a:solidFill>
                <a:ea typeface="Calibri"/>
                <a:cs typeface="Arial"/>
              </a:rPr>
              <a:t> ( Object Oriented Programming )</a:t>
            </a:r>
            <a:endParaRPr lang="en-US" sz="1600" dirty="0">
              <a:ea typeface="Calibri"/>
              <a:cs typeface="Arial"/>
            </a:endParaRPr>
          </a:p>
          <a:p>
            <a:pPr algn="l" rtl="0">
              <a:lnSpc>
                <a:spcPct val="115000"/>
              </a:lnSpc>
              <a:spcAft>
                <a:spcPts val="1000"/>
              </a:spcAft>
            </a:pPr>
            <a:r>
              <a:rPr lang="en-US" sz="3600" b="1" dirty="0" smtClean="0">
                <a:solidFill>
                  <a:srgbClr val="7030A0"/>
                </a:solidFill>
                <a:ea typeface="Calibri"/>
                <a:cs typeface="Arial"/>
              </a:rPr>
              <a:t>  ***  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Dr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. Mohammed </a:t>
            </a:r>
            <a:r>
              <a:rPr lang="en-US" sz="3600" b="1" dirty="0" err="1">
                <a:solidFill>
                  <a:srgbClr val="7030A0"/>
                </a:solidFill>
                <a:ea typeface="Calibri"/>
                <a:cs typeface="Arial"/>
              </a:rPr>
              <a:t>Musalam</a:t>
            </a:r>
            <a:r>
              <a:rPr lang="en-US" sz="3600" b="1" dirty="0">
                <a:solidFill>
                  <a:srgbClr val="7030A0"/>
                </a:solidFill>
                <a:ea typeface="Calibri"/>
                <a:cs typeface="Arial"/>
              </a:rPr>
              <a:t>   ***</a:t>
            </a:r>
            <a:endParaRPr lang="en-US" sz="1600" dirty="0">
              <a:ea typeface="Calibri"/>
              <a:cs typeface="Arial"/>
            </a:endParaRPr>
          </a:p>
          <a:p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Answers of </a:t>
            </a:r>
            <a:r>
              <a:rPr lang="en-US" sz="4000" b="1" dirty="0" err="1">
                <a:solidFill>
                  <a:srgbClr val="000000"/>
                </a:solidFill>
                <a:ea typeface="Calibri"/>
                <a:cs typeface="Arial"/>
              </a:rPr>
              <a:t>Assigment</a:t>
            </a:r>
            <a:r>
              <a:rPr lang="en-US" sz="4000" b="1" dirty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1</a:t>
            </a:r>
          </a:p>
          <a:p>
            <a:r>
              <a:rPr lang="en-US" sz="4000" b="1" dirty="0" smtClean="0">
                <a:solidFill>
                  <a:srgbClr val="000000"/>
                </a:solidFill>
                <a:ea typeface="Calibri"/>
                <a:cs typeface="Arial"/>
              </a:rPr>
              <a:t> 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Eng. 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Deema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Mohammed AL-</a:t>
            </a:r>
            <a:r>
              <a:rPr lang="en-US" b="1" dirty="0" err="1" smtClean="0">
                <a:solidFill>
                  <a:srgbClr val="002060"/>
                </a:solidFill>
                <a:ea typeface="Calibri"/>
                <a:cs typeface="Arial"/>
              </a:rPr>
              <a:t>Maqadma</a:t>
            </a:r>
            <a:r>
              <a:rPr lang="en-US" b="1" dirty="0" smtClean="0">
                <a:solidFill>
                  <a:srgbClr val="002060"/>
                </a:solidFill>
                <a:ea typeface="Calibri"/>
                <a:cs typeface="Arial"/>
              </a:rPr>
              <a:t> </a:t>
            </a:r>
            <a:endParaRPr lang="en-US" sz="1400" dirty="0" smtClean="0">
              <a:ea typeface="Calibri"/>
              <a:cs typeface="Arial"/>
            </a:endParaRPr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23840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*Multiple Choice*</a:t>
            </a:r>
            <a:endParaRPr lang="ar-SA" b="1" dirty="0">
              <a:solidFill>
                <a:srgbClr val="C00000"/>
              </a:solidFill>
            </a:endParaRPr>
          </a:p>
        </p:txBody>
      </p:sp>
      <p:sp>
        <p:nvSpPr>
          <p:cNvPr id="4" name="عنصر نائب للمحتوى 3"/>
          <p:cNvSpPr>
            <a:spLocks noGrp="1"/>
          </p:cNvSpPr>
          <p:nvPr>
            <p:ph idx="1"/>
          </p:nvPr>
        </p:nvSpPr>
        <p:spPr>
          <a:xfrm>
            <a:off x="179512" y="1387025"/>
            <a:ext cx="8784976" cy="4850287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l"/>
            <a:r>
              <a:rPr lang="en-US" dirty="0"/>
              <a:t>1. This is a collection of programming </a:t>
            </a:r>
            <a:r>
              <a:rPr lang="en-US" dirty="0" smtClean="0"/>
              <a:t>that specify </a:t>
            </a:r>
            <a:r>
              <a:rPr lang="ar-SA" dirty="0" smtClean="0"/>
              <a:t>         </a:t>
            </a:r>
            <a:r>
              <a:rPr lang="en-US" dirty="0" smtClean="0"/>
              <a:t>the </a:t>
            </a:r>
            <a:r>
              <a:rPr lang="en-US" dirty="0"/>
              <a:t>fields and methods that a particular type of </a:t>
            </a:r>
            <a:r>
              <a:rPr lang="ar-SA" dirty="0" smtClean="0"/>
              <a:t>          </a:t>
            </a:r>
            <a:r>
              <a:rPr lang="en-US" dirty="0" smtClean="0"/>
              <a:t>object </a:t>
            </a:r>
            <a:r>
              <a:rPr lang="en-US" dirty="0"/>
              <a:t>may have.  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 smtClean="0">
                <a:solidFill>
                  <a:srgbClr val="0070C0"/>
                </a:solidFill>
              </a:rPr>
              <a:t>a</a:t>
            </a:r>
            <a:r>
              <a:rPr lang="en-US" dirty="0">
                <a:solidFill>
                  <a:srgbClr val="0070C0"/>
                </a:solidFill>
              </a:rPr>
              <a:t>. </a:t>
            </a:r>
            <a:r>
              <a:rPr lang="en-US" dirty="0" smtClean="0">
                <a:solidFill>
                  <a:srgbClr val="0070C0"/>
                </a:solidFill>
              </a:rPr>
              <a:t>class</a:t>
            </a:r>
            <a:endParaRPr lang="ar-SA" dirty="0" smtClean="0">
              <a:solidFill>
                <a:srgbClr val="0070C0"/>
              </a:solidFill>
            </a:endParaRPr>
          </a:p>
          <a:p>
            <a:pPr algn="l"/>
            <a:r>
              <a:rPr lang="en-US" dirty="0" smtClean="0"/>
              <a:t>2</a:t>
            </a:r>
            <a:r>
              <a:rPr lang="en-US" dirty="0"/>
              <a:t>. A class is analogous to a(n) __________.   - </a:t>
            </a:r>
            <a:r>
              <a:rPr lang="en-US" dirty="0" smtClean="0">
                <a:solidFill>
                  <a:srgbClr val="0070C0"/>
                </a:solidFill>
              </a:rPr>
              <a:t>b</a:t>
            </a:r>
            <a:r>
              <a:rPr lang="en-US" dirty="0">
                <a:solidFill>
                  <a:srgbClr val="0070C0"/>
                </a:solidFill>
              </a:rPr>
              <a:t>. </a:t>
            </a:r>
            <a:r>
              <a:rPr lang="en-US" dirty="0" smtClean="0">
                <a:solidFill>
                  <a:srgbClr val="0070C0"/>
                </a:solidFill>
              </a:rPr>
              <a:t>blueprint                                                                  </a:t>
            </a:r>
            <a:r>
              <a:rPr lang="en-US" dirty="0" smtClean="0"/>
              <a:t>   </a:t>
            </a:r>
          </a:p>
          <a:p>
            <a:pPr marL="0" indent="0" algn="l">
              <a:buNone/>
            </a:pPr>
            <a:r>
              <a:rPr lang="ar-SA" dirty="0" smtClean="0"/>
              <a:t>  </a:t>
            </a:r>
            <a:r>
              <a:rPr lang="en-US" dirty="0" smtClean="0"/>
              <a:t>3</a:t>
            </a:r>
            <a:r>
              <a:rPr lang="en-US" dirty="0"/>
              <a:t>. An object is a(n) __________.  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 smtClean="0">
                <a:solidFill>
                  <a:srgbClr val="0070C0"/>
                </a:solidFill>
              </a:rPr>
              <a:t>d</a:t>
            </a:r>
            <a:r>
              <a:rPr lang="en-US" dirty="0">
                <a:solidFill>
                  <a:srgbClr val="0070C0"/>
                </a:solidFill>
              </a:rPr>
              <a:t>. instance of a </a:t>
            </a:r>
            <a:r>
              <a:rPr lang="en-US" dirty="0" smtClean="0">
                <a:solidFill>
                  <a:srgbClr val="0070C0"/>
                </a:solidFill>
              </a:rPr>
              <a:t>class</a:t>
            </a:r>
          </a:p>
          <a:p>
            <a:pPr marL="0" indent="0" algn="l">
              <a:buNone/>
            </a:pPr>
            <a:r>
              <a:rPr lang="en-US" dirty="0" smtClean="0"/>
              <a:t>4</a:t>
            </a:r>
            <a:r>
              <a:rPr lang="en-US" dirty="0"/>
              <a:t>. This is a class </a:t>
            </a:r>
            <a:r>
              <a:rPr lang="en-US" dirty="0" smtClean="0"/>
              <a:t>member </a:t>
            </a:r>
            <a:r>
              <a:rPr lang="en-US" dirty="0"/>
              <a:t>that holds data.   </a:t>
            </a:r>
            <a:r>
              <a:rPr lang="en-US" dirty="0">
                <a:solidFill>
                  <a:srgbClr val="0070C0"/>
                </a:solidFill>
              </a:rPr>
              <a:t>- </a:t>
            </a:r>
            <a:r>
              <a:rPr lang="en-US" dirty="0" err="1" smtClean="0">
                <a:solidFill>
                  <a:srgbClr val="0070C0"/>
                </a:solidFill>
              </a:rPr>
              <a:t>c.field</a:t>
            </a:r>
            <a:endParaRPr lang="ar-S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96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 flipV="1">
            <a:off x="457200" y="116632"/>
            <a:ext cx="8229600" cy="158006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179512" y="152763"/>
            <a:ext cx="8784976" cy="666936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5. This key word causes an object to be created in memory.   - </a:t>
            </a:r>
            <a:r>
              <a:rPr lang="en-US" dirty="0">
                <a:solidFill>
                  <a:srgbClr val="0070C0"/>
                </a:solidFill>
              </a:rPr>
              <a:t>*b. new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6</a:t>
            </a:r>
            <a:r>
              <a:rPr lang="en-US" dirty="0"/>
              <a:t>. This is a method that gets a value from a class’s field, but does not change it.   - </a:t>
            </a:r>
            <a:r>
              <a:rPr lang="en-US" dirty="0">
                <a:solidFill>
                  <a:srgbClr val="0070C0"/>
                </a:solidFill>
              </a:rPr>
              <a:t>*a. </a:t>
            </a:r>
            <a:r>
              <a:rPr lang="en-US" dirty="0" err="1">
                <a:solidFill>
                  <a:srgbClr val="0070C0"/>
                </a:solidFill>
              </a:rPr>
              <a:t>accessor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7</a:t>
            </a:r>
            <a:r>
              <a:rPr lang="en-US" dirty="0"/>
              <a:t>. This is a method that stores a value in a field or in some other way changes the value of a field.   - </a:t>
            </a:r>
            <a:r>
              <a:rPr lang="en-US" dirty="0">
                <a:solidFill>
                  <a:srgbClr val="0070C0"/>
                </a:solidFill>
              </a:rPr>
              <a:t>*d. </a:t>
            </a:r>
            <a:r>
              <a:rPr lang="en-US" dirty="0" err="1">
                <a:solidFill>
                  <a:srgbClr val="0070C0"/>
                </a:solidFill>
              </a:rPr>
              <a:t>mutator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8</a:t>
            </a:r>
            <a:r>
              <a:rPr lang="en-US" dirty="0"/>
              <a:t>. When the value of an item is dependent on other data, and that item is not updated when the other data is changed, what has the value become?   - </a:t>
            </a:r>
            <a:r>
              <a:rPr lang="en-US" dirty="0">
                <a:solidFill>
                  <a:srgbClr val="0070C0"/>
                </a:solidFill>
              </a:rPr>
              <a:t>*b. stale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9</a:t>
            </a:r>
            <a:r>
              <a:rPr lang="en-US" dirty="0"/>
              <a:t>. This is a method that is automatically called when an instance of a class is created.   - </a:t>
            </a:r>
            <a:r>
              <a:rPr lang="en-US" dirty="0">
                <a:solidFill>
                  <a:srgbClr val="0070C0"/>
                </a:solidFill>
              </a:rPr>
              <a:t>*b. constructor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10</a:t>
            </a:r>
            <a:r>
              <a:rPr lang="en-US" dirty="0"/>
              <a:t>. When a local variable has the same name as a field, the local variable’s name does this to the field’s name.    - </a:t>
            </a:r>
            <a:r>
              <a:rPr lang="en-US" dirty="0">
                <a:solidFill>
                  <a:srgbClr val="0070C0"/>
                </a:solidFill>
              </a:rPr>
              <a:t>*a. shadows*</a:t>
            </a:r>
            <a:endParaRPr lang="ar-S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57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-45719"/>
            <a:ext cx="8229600" cy="45719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95536" y="332656"/>
            <a:ext cx="8496944" cy="626469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10. When a local variable has the same name as a field, the local variable’s name does this to the field’s name.    - </a:t>
            </a:r>
            <a:r>
              <a:rPr lang="en-US" dirty="0">
                <a:solidFill>
                  <a:srgbClr val="0070C0"/>
                </a:solidFill>
              </a:rPr>
              <a:t>*a. shadows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11</a:t>
            </a:r>
            <a:r>
              <a:rPr lang="en-US" dirty="0"/>
              <a:t>. This is automatically provided for a class if you do not write one yourself.    - </a:t>
            </a:r>
            <a:r>
              <a:rPr lang="en-US" dirty="0">
                <a:solidFill>
                  <a:srgbClr val="0070C0"/>
                </a:solidFill>
              </a:rPr>
              <a:t>*c. default constructor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12</a:t>
            </a:r>
            <a:r>
              <a:rPr lang="en-US" dirty="0"/>
              <a:t>. Two or more methods in a class may have the same name, as long as this is different.    - </a:t>
            </a:r>
            <a:r>
              <a:rPr lang="en-US" dirty="0">
                <a:solidFill>
                  <a:srgbClr val="0070C0"/>
                </a:solidFill>
              </a:rPr>
              <a:t>*c. their parameter lists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13</a:t>
            </a:r>
            <a:r>
              <a:rPr lang="en-US" dirty="0"/>
              <a:t>. The process of matching a method call with the correct method is known as __________.    - </a:t>
            </a:r>
            <a:r>
              <a:rPr lang="en-US" dirty="0">
                <a:solidFill>
                  <a:srgbClr val="0070C0"/>
                </a:solidFill>
              </a:rPr>
              <a:t>*b. binding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algn="l"/>
            <a:r>
              <a:rPr lang="en-US" dirty="0" smtClean="0"/>
              <a:t>14</a:t>
            </a:r>
            <a:r>
              <a:rPr lang="en-US" dirty="0"/>
              <a:t>. A class’s responsibilities are __________.    - </a:t>
            </a:r>
            <a:r>
              <a:rPr lang="en-US" dirty="0">
                <a:solidFill>
                  <a:srgbClr val="0070C0"/>
                </a:solidFill>
              </a:rPr>
              <a:t>*d. both b and c*</a:t>
            </a:r>
            <a:endParaRPr lang="ar-S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06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4746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*True or False*</a:t>
            </a:r>
            <a:endParaRPr lang="ar-SA" sz="4800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1052736"/>
            <a:ext cx="8363272" cy="5616624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dirty="0"/>
              <a:t>15. The new operator creates an instance of a class. </a:t>
            </a:r>
            <a:r>
              <a:rPr lang="en-US" dirty="0" smtClean="0"/>
              <a:t>  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</a:rPr>
              <a:t>*</a:t>
            </a:r>
            <a:r>
              <a:rPr lang="en-US" dirty="0" smtClean="0">
                <a:solidFill>
                  <a:srgbClr val="0070C0"/>
                </a:solidFill>
              </a:rPr>
              <a:t>True</a:t>
            </a:r>
          </a:p>
          <a:p>
            <a:pPr marL="0" indent="0" algn="l">
              <a:buNone/>
            </a:pPr>
            <a:r>
              <a:rPr lang="en-US" dirty="0" smtClean="0"/>
              <a:t>16</a:t>
            </a:r>
            <a:r>
              <a:rPr lang="en-US" dirty="0"/>
              <a:t>. Each instance of a class has its own set of instance fields.    - </a:t>
            </a:r>
            <a:r>
              <a:rPr lang="en-US" dirty="0">
                <a:solidFill>
                  <a:srgbClr val="0070C0"/>
                </a:solidFill>
              </a:rPr>
              <a:t>*True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marL="0" indent="0" algn="l">
              <a:buNone/>
            </a:pPr>
            <a:r>
              <a:rPr lang="en-US" dirty="0" smtClean="0"/>
              <a:t>17</a:t>
            </a:r>
            <a:r>
              <a:rPr lang="en-US" dirty="0"/>
              <a:t>. When you write a constructor for a class, it still has the default constructor that Java automatically provides.    - </a:t>
            </a:r>
            <a:r>
              <a:rPr lang="en-US" dirty="0">
                <a:solidFill>
                  <a:srgbClr val="0070C0"/>
                </a:solidFill>
              </a:rPr>
              <a:t>*False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marL="0" indent="0" algn="l">
              <a:buNone/>
            </a:pPr>
            <a:r>
              <a:rPr lang="en-US" dirty="0" smtClean="0"/>
              <a:t>18</a:t>
            </a:r>
            <a:r>
              <a:rPr lang="en-US" dirty="0"/>
              <a:t>. A class may not have more than one constructor.    - </a:t>
            </a:r>
            <a:r>
              <a:rPr lang="en-US" dirty="0">
                <a:solidFill>
                  <a:srgbClr val="0070C0"/>
                </a:solidFill>
              </a:rPr>
              <a:t>*False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</a:p>
          <a:p>
            <a:pPr marL="0" indent="0" algn="l">
              <a:buNone/>
            </a:pPr>
            <a:r>
              <a:rPr lang="en-US" dirty="0" smtClean="0"/>
              <a:t>19</a:t>
            </a:r>
            <a:r>
              <a:rPr lang="en-US" dirty="0"/>
              <a:t>. To find the classes needed for an object-oriented application, you identify all of the verbs in a description of the problem domain.    - </a:t>
            </a:r>
            <a:r>
              <a:rPr lang="en-US" dirty="0">
                <a:solidFill>
                  <a:srgbClr val="0070C0"/>
                </a:solidFill>
              </a:rPr>
              <a:t>*False*</a:t>
            </a:r>
            <a:endParaRPr lang="ar-S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597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C00000"/>
                </a:solidFill>
              </a:rPr>
              <a:t>Find </a:t>
            </a:r>
            <a:r>
              <a:rPr lang="en-US" sz="5400" b="1" dirty="0">
                <a:solidFill>
                  <a:srgbClr val="C00000"/>
                </a:solidFill>
              </a:rPr>
              <a:t>the </a:t>
            </a:r>
            <a:r>
              <a:rPr lang="en-US" sz="5400" b="1" dirty="0" smtClean="0">
                <a:solidFill>
                  <a:srgbClr val="C00000"/>
                </a:solidFill>
              </a:rPr>
              <a:t>Error</a:t>
            </a:r>
            <a:endParaRPr lang="ar-SA" sz="5400" b="1" dirty="0">
              <a:solidFill>
                <a:srgbClr val="C00000"/>
              </a:solidFill>
            </a:endParaRP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1666292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1. Find the error in the following class:</a:t>
            </a:r>
          </a:p>
          <a:p>
            <a:pPr algn="l"/>
            <a:r>
              <a:rPr lang="en-US" dirty="0"/>
              <a:t>public class </a:t>
            </a:r>
            <a:r>
              <a:rPr lang="en-US" dirty="0" err="1"/>
              <a:t>MyClass</a:t>
            </a:r>
            <a:endParaRPr lang="en-US" dirty="0"/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 private </a:t>
            </a:r>
            <a:r>
              <a:rPr lang="en-US" dirty="0" err="1"/>
              <a:t>int</a:t>
            </a:r>
            <a:r>
              <a:rPr lang="en-US" dirty="0"/>
              <a:t> x;</a:t>
            </a:r>
          </a:p>
          <a:p>
            <a:pPr algn="l"/>
            <a:r>
              <a:rPr lang="en-US" dirty="0"/>
              <a:t> private double y;</a:t>
            </a:r>
          </a:p>
          <a:p>
            <a:pPr algn="l"/>
            <a:r>
              <a:rPr lang="en-US" dirty="0"/>
              <a:t> public void </a:t>
            </a:r>
            <a:r>
              <a:rPr lang="en-US" dirty="0" err="1"/>
              <a:t>MyClass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a, double b)</a:t>
            </a:r>
          </a:p>
          <a:p>
            <a:pPr algn="l"/>
            <a:r>
              <a:rPr lang="en-US" dirty="0"/>
              <a:t> {</a:t>
            </a:r>
          </a:p>
          <a:p>
            <a:pPr algn="l"/>
            <a:r>
              <a:rPr lang="en-US" dirty="0"/>
              <a:t> x = a;</a:t>
            </a:r>
          </a:p>
          <a:p>
            <a:pPr algn="l"/>
            <a:r>
              <a:rPr lang="en-US" dirty="0"/>
              <a:t> y = b;</a:t>
            </a:r>
          </a:p>
          <a:p>
            <a:pPr algn="l"/>
            <a:r>
              <a:rPr lang="en-US" dirty="0"/>
              <a:t> }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sz="4600" dirty="0" smtClean="0">
                <a:solidFill>
                  <a:srgbClr val="7030A0"/>
                </a:solidFill>
              </a:rPr>
              <a:t>[ </a:t>
            </a:r>
            <a:r>
              <a:rPr lang="en-US" sz="4600" dirty="0">
                <a:solidFill>
                  <a:srgbClr val="7030A0"/>
                </a:solidFill>
              </a:rPr>
              <a:t>The constructor doesn't have a return </a:t>
            </a:r>
            <a:r>
              <a:rPr lang="en-US" sz="4600" dirty="0" smtClean="0">
                <a:solidFill>
                  <a:srgbClr val="7030A0"/>
                </a:solidFill>
              </a:rPr>
              <a:t>type]</a:t>
            </a:r>
            <a:endParaRPr lang="ar-SA" sz="4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39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 flipV="1">
            <a:off x="457200" y="228919"/>
            <a:ext cx="8229600" cy="45719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363272" cy="5976664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	 2.</a:t>
            </a:r>
            <a:r>
              <a:rPr lang="en-US" dirty="0" smtClean="0"/>
              <a:t> </a:t>
            </a:r>
            <a:r>
              <a:rPr lang="en-US" dirty="0"/>
              <a:t>Assume that the following method is a member of a class. Find the error.</a:t>
            </a:r>
          </a:p>
          <a:p>
            <a:pPr algn="l"/>
            <a:r>
              <a:rPr lang="en-US" dirty="0"/>
              <a:t>public void total(</a:t>
            </a:r>
            <a:r>
              <a:rPr lang="en-US" dirty="0" err="1"/>
              <a:t>int</a:t>
            </a:r>
            <a:r>
              <a:rPr lang="en-US" dirty="0"/>
              <a:t> value1, value2, value3)</a:t>
            </a:r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 return value1 + value2 + value3;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b="1" dirty="0" smtClean="0">
                <a:solidFill>
                  <a:srgbClr val="7030A0"/>
                </a:solidFill>
              </a:rPr>
              <a:t>[ </a:t>
            </a:r>
            <a:r>
              <a:rPr lang="en-US" b="1" dirty="0">
                <a:solidFill>
                  <a:srgbClr val="7030A0"/>
                </a:solidFill>
              </a:rPr>
              <a:t>Every variable should declare separately &amp; The function returns the value of </a:t>
            </a:r>
            <a:r>
              <a:rPr lang="en-US" b="1" dirty="0" err="1">
                <a:solidFill>
                  <a:srgbClr val="7030A0"/>
                </a:solidFill>
              </a:rPr>
              <a:t>int</a:t>
            </a:r>
            <a:r>
              <a:rPr lang="en-US" b="1" dirty="0">
                <a:solidFill>
                  <a:srgbClr val="7030A0"/>
                </a:solidFill>
              </a:rPr>
              <a:t> so </a:t>
            </a:r>
            <a:r>
              <a:rPr lang="en-US" b="1" dirty="0" err="1">
                <a:solidFill>
                  <a:srgbClr val="7030A0"/>
                </a:solidFill>
              </a:rPr>
              <a:t>returntypr</a:t>
            </a:r>
            <a:r>
              <a:rPr lang="en-US" b="1" dirty="0">
                <a:solidFill>
                  <a:srgbClr val="7030A0"/>
                </a:solidFill>
              </a:rPr>
              <a:t> must </a:t>
            </a:r>
            <a:endParaRPr lang="ar-SA" b="1" dirty="0" smtClean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b="1" dirty="0" smtClean="0">
                <a:solidFill>
                  <a:srgbClr val="7030A0"/>
                </a:solidFill>
              </a:rPr>
              <a:t>be </a:t>
            </a:r>
            <a:r>
              <a:rPr lang="en-US" b="1" dirty="0" err="1">
                <a:solidFill>
                  <a:srgbClr val="7030A0"/>
                </a:solidFill>
              </a:rPr>
              <a:t>int</a:t>
            </a:r>
            <a:r>
              <a:rPr lang="en-US" b="1" dirty="0">
                <a:solidFill>
                  <a:srgbClr val="7030A0"/>
                </a:solidFill>
              </a:rPr>
              <a:t> ,not Void ]</a:t>
            </a:r>
            <a:r>
              <a:rPr lang="en-US" dirty="0"/>
              <a:t> </a:t>
            </a:r>
          </a:p>
          <a:p>
            <a:pPr algn="l"/>
            <a:r>
              <a:rPr lang="en-US" dirty="0"/>
              <a:t>	 	 </a:t>
            </a:r>
            <a:endParaRPr lang="en-US" dirty="0" smtClean="0"/>
          </a:p>
          <a:p>
            <a:pPr algn="l"/>
            <a:r>
              <a:rPr lang="en-US" dirty="0" smtClean="0"/>
              <a:t>3</a:t>
            </a:r>
            <a:r>
              <a:rPr lang="en-US" dirty="0"/>
              <a:t>. </a:t>
            </a:r>
            <a:r>
              <a:rPr lang="en-US" dirty="0" smtClean="0"/>
              <a:t>The </a:t>
            </a:r>
            <a:r>
              <a:rPr lang="en-US" dirty="0"/>
              <a:t>following statement attempts to create a Rectangle object. Find the error.</a:t>
            </a:r>
          </a:p>
          <a:p>
            <a:pPr algn="l" rtl="0"/>
            <a:r>
              <a:rPr lang="en-US" dirty="0"/>
              <a:t>Rectangle box = new Rectangle</a:t>
            </a:r>
            <a:r>
              <a:rPr lang="en-US" dirty="0" smtClean="0"/>
              <a:t>;</a:t>
            </a:r>
          </a:p>
          <a:p>
            <a:pPr algn="l" rtl="0"/>
            <a:r>
              <a:rPr lang="en-US" b="1" dirty="0" smtClean="0">
                <a:solidFill>
                  <a:srgbClr val="7030A0"/>
                </a:solidFill>
              </a:rPr>
              <a:t>[ </a:t>
            </a:r>
            <a:r>
              <a:rPr lang="en-US" b="1" dirty="0">
                <a:solidFill>
                  <a:srgbClr val="7030A0"/>
                </a:solidFill>
              </a:rPr>
              <a:t>The parentheses of object's constructor] </a:t>
            </a:r>
            <a:r>
              <a:rPr lang="ar-SA" b="1" dirty="0" smtClean="0">
                <a:solidFill>
                  <a:srgbClr val="7030A0"/>
                </a:solidFill>
              </a:rPr>
              <a:t> 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853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8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57200" y="476672"/>
            <a:ext cx="8363272" cy="5832648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dirty="0"/>
              <a:t>	 4. </a:t>
            </a:r>
            <a:r>
              <a:rPr lang="en-US" dirty="0" smtClean="0"/>
              <a:t>Find </a:t>
            </a:r>
            <a:r>
              <a:rPr lang="en-US" dirty="0"/>
              <a:t>the error in the following class:</a:t>
            </a:r>
          </a:p>
          <a:p>
            <a:pPr algn="l"/>
            <a:r>
              <a:rPr lang="en-US" dirty="0"/>
              <a:t>public class </a:t>
            </a:r>
            <a:r>
              <a:rPr lang="en-US" dirty="0" err="1"/>
              <a:t>TwoValues</a:t>
            </a:r>
            <a:endParaRPr lang="en-US" dirty="0"/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 private </a:t>
            </a:r>
            <a:r>
              <a:rPr lang="en-US" dirty="0" err="1"/>
              <a:t>int</a:t>
            </a:r>
            <a:r>
              <a:rPr lang="en-US" dirty="0"/>
              <a:t> x, y;</a:t>
            </a:r>
          </a:p>
          <a:p>
            <a:pPr algn="l"/>
            <a:r>
              <a:rPr lang="en-US" dirty="0"/>
              <a:t> public </a:t>
            </a:r>
            <a:r>
              <a:rPr lang="en-US" dirty="0" err="1"/>
              <a:t>TwoValues</a:t>
            </a:r>
            <a:r>
              <a:rPr lang="en-US" dirty="0"/>
              <a:t>()</a:t>
            </a:r>
          </a:p>
          <a:p>
            <a:pPr algn="l"/>
            <a:r>
              <a:rPr lang="en-US" dirty="0"/>
              <a:t> {</a:t>
            </a:r>
          </a:p>
          <a:p>
            <a:pPr algn="l"/>
            <a:r>
              <a:rPr lang="en-US" dirty="0"/>
              <a:t> x = 0;</a:t>
            </a:r>
          </a:p>
          <a:p>
            <a:pPr algn="l"/>
            <a:r>
              <a:rPr lang="en-US" dirty="0"/>
              <a:t> }</a:t>
            </a:r>
          </a:p>
          <a:p>
            <a:pPr algn="l"/>
            <a:r>
              <a:rPr lang="en-US" dirty="0"/>
              <a:t> public </a:t>
            </a:r>
            <a:r>
              <a:rPr lang="en-US" dirty="0" err="1"/>
              <a:t>TwoValues</a:t>
            </a:r>
            <a:r>
              <a:rPr lang="en-US" dirty="0"/>
              <a:t>()</a:t>
            </a:r>
          </a:p>
          <a:p>
            <a:pPr algn="l"/>
            <a:r>
              <a:rPr lang="en-US" dirty="0"/>
              <a:t> {</a:t>
            </a:r>
          </a:p>
          <a:p>
            <a:pPr algn="l"/>
            <a:r>
              <a:rPr lang="en-US" dirty="0"/>
              <a:t> x = 0;</a:t>
            </a:r>
          </a:p>
          <a:p>
            <a:pPr algn="l"/>
            <a:r>
              <a:rPr lang="en-US" dirty="0"/>
              <a:t> y = 0;</a:t>
            </a:r>
          </a:p>
          <a:p>
            <a:pPr algn="l"/>
            <a:r>
              <a:rPr lang="en-US" dirty="0"/>
              <a:t> }</a:t>
            </a:r>
          </a:p>
          <a:p>
            <a:pPr algn="l"/>
            <a:r>
              <a:rPr lang="en-US" dirty="0"/>
              <a:t>} </a:t>
            </a:r>
            <a:endParaRPr lang="en-US" dirty="0" smtClean="0"/>
          </a:p>
          <a:p>
            <a:pPr algn="l"/>
            <a:r>
              <a:rPr lang="en-US" b="1" dirty="0" smtClean="0">
                <a:solidFill>
                  <a:srgbClr val="7030A0"/>
                </a:solidFill>
              </a:rPr>
              <a:t>[ </a:t>
            </a:r>
            <a:r>
              <a:rPr lang="en-US" b="1" dirty="0">
                <a:solidFill>
                  <a:srgbClr val="7030A0"/>
                </a:solidFill>
              </a:rPr>
              <a:t>The overload constructor should differ in parameter list ( either in data type or number of variables) ]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486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018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467544" y="548680"/>
            <a:ext cx="8219256" cy="597666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dirty="0"/>
              <a:t>5. Find the error in the following class:</a:t>
            </a:r>
          </a:p>
          <a:p>
            <a:pPr algn="l"/>
            <a:r>
              <a:rPr lang="en-US" dirty="0"/>
              <a:t>public class </a:t>
            </a:r>
            <a:r>
              <a:rPr lang="en-US" dirty="0" err="1"/>
              <a:t>FindTheError</a:t>
            </a:r>
            <a:endParaRPr lang="en-US" dirty="0"/>
          </a:p>
          <a:p>
            <a:pPr algn="l"/>
            <a:r>
              <a:rPr lang="en-US" dirty="0"/>
              <a:t>{</a:t>
            </a:r>
          </a:p>
          <a:p>
            <a:pPr algn="l"/>
            <a:r>
              <a:rPr lang="en-US" dirty="0"/>
              <a:t> public </a:t>
            </a:r>
            <a:r>
              <a:rPr lang="en-US" dirty="0" err="1"/>
              <a:t>int</a:t>
            </a:r>
            <a:r>
              <a:rPr lang="en-US" dirty="0"/>
              <a:t> square(</a:t>
            </a:r>
            <a:r>
              <a:rPr lang="en-US" dirty="0" err="1"/>
              <a:t>int</a:t>
            </a:r>
            <a:r>
              <a:rPr lang="en-US" dirty="0"/>
              <a:t> number)</a:t>
            </a:r>
          </a:p>
          <a:p>
            <a:pPr algn="l"/>
            <a:r>
              <a:rPr lang="en-US" dirty="0"/>
              <a:t> {</a:t>
            </a:r>
          </a:p>
          <a:p>
            <a:pPr algn="l"/>
            <a:r>
              <a:rPr lang="en-US" dirty="0"/>
              <a:t> return number * number;</a:t>
            </a:r>
          </a:p>
          <a:p>
            <a:pPr algn="l"/>
            <a:r>
              <a:rPr lang="en-US" dirty="0"/>
              <a:t> }</a:t>
            </a:r>
          </a:p>
          <a:p>
            <a:pPr algn="l"/>
            <a:r>
              <a:rPr lang="en-US" dirty="0"/>
              <a:t> public double square(</a:t>
            </a:r>
            <a:r>
              <a:rPr lang="en-US" dirty="0" err="1"/>
              <a:t>int</a:t>
            </a:r>
            <a:r>
              <a:rPr lang="en-US" dirty="0"/>
              <a:t> number)</a:t>
            </a:r>
          </a:p>
          <a:p>
            <a:pPr algn="l"/>
            <a:r>
              <a:rPr lang="en-US" dirty="0"/>
              <a:t> {</a:t>
            </a:r>
          </a:p>
          <a:p>
            <a:pPr algn="l"/>
            <a:r>
              <a:rPr lang="en-US" dirty="0"/>
              <a:t> return number * number;</a:t>
            </a:r>
          </a:p>
          <a:p>
            <a:pPr algn="l"/>
            <a:r>
              <a:rPr lang="en-US" dirty="0"/>
              <a:t> }</a:t>
            </a:r>
          </a:p>
          <a:p>
            <a:pPr algn="l"/>
            <a:r>
              <a:rPr lang="en-US" dirty="0" smtClean="0"/>
              <a:t>}</a:t>
            </a:r>
          </a:p>
          <a:p>
            <a:pPr algn="l"/>
            <a:r>
              <a:rPr lang="en-US" dirty="0" smtClean="0"/>
              <a:t> </a:t>
            </a:r>
            <a:r>
              <a:rPr lang="en-US" b="1" dirty="0">
                <a:solidFill>
                  <a:srgbClr val="7030A0"/>
                </a:solidFill>
              </a:rPr>
              <a:t>[ The second method return a double value, so the data type of it's parameter variable should be double ]</a:t>
            </a:r>
            <a:endParaRPr lang="ar-SA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994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Algorithm </a:t>
            </a:r>
            <a:r>
              <a:rPr lang="en-US" b="1" dirty="0" err="1" smtClean="0">
                <a:solidFill>
                  <a:srgbClr val="C00000"/>
                </a:solidFill>
              </a:rPr>
              <a:t>Workbeanch</a:t>
            </a:r>
            <a:endParaRPr lang="ar-SA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00808"/>
            <a:ext cx="5626861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مستطيل 3"/>
          <p:cNvSpPr/>
          <p:nvPr/>
        </p:nvSpPr>
        <p:spPr>
          <a:xfrm>
            <a:off x="6082672" y="2060848"/>
            <a:ext cx="2447524" cy="35824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sp>
        <p:nvSpPr>
          <p:cNvPr id="5" name="مربع نص 4"/>
          <p:cNvSpPr txBox="1"/>
          <p:nvPr/>
        </p:nvSpPr>
        <p:spPr>
          <a:xfrm>
            <a:off x="5940899" y="2394790"/>
            <a:ext cx="2589297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 smtClean="0"/>
              <a:t>Pet</a:t>
            </a:r>
          </a:p>
          <a:p>
            <a:pPr algn="ctr"/>
            <a:r>
              <a:rPr lang="en-US" sz="2000" b="1" dirty="0" smtClean="0"/>
              <a:t>-----------------------------</a:t>
            </a:r>
          </a:p>
          <a:p>
            <a:pPr marL="285750" indent="-285750" algn="ctr">
              <a:buFontTx/>
              <a:buChar char="-"/>
            </a:pPr>
            <a:r>
              <a:rPr lang="en-US" sz="2000" b="1" dirty="0" smtClean="0"/>
              <a:t>Name : String-</a:t>
            </a:r>
          </a:p>
          <a:p>
            <a:pPr marL="285750" indent="-285750" algn="ctr">
              <a:buFontTx/>
              <a:buChar char="-"/>
            </a:pPr>
            <a:r>
              <a:rPr lang="en-US" sz="2000" b="1" dirty="0" smtClean="0"/>
              <a:t>Animal : String</a:t>
            </a:r>
          </a:p>
          <a:p>
            <a:pPr marL="285750" indent="-285750" algn="ctr">
              <a:buFontTx/>
              <a:buChar char="-"/>
            </a:pPr>
            <a:r>
              <a:rPr lang="en-US" sz="2000" b="1" dirty="0"/>
              <a:t>Age :String</a:t>
            </a:r>
          </a:p>
          <a:p>
            <a:pPr algn="ctr"/>
            <a:r>
              <a:rPr lang="en-US" sz="2000" b="1" dirty="0" smtClean="0"/>
              <a:t>-----------------------------</a:t>
            </a:r>
          </a:p>
          <a:p>
            <a:pPr algn="ctr"/>
            <a:r>
              <a:rPr lang="en-US" sz="2000" b="1" dirty="0" smtClean="0"/>
              <a:t>+ </a:t>
            </a:r>
            <a:r>
              <a:rPr lang="en-US" sz="2000" b="1" dirty="0" err="1" smtClean="0"/>
              <a:t>setName</a:t>
            </a:r>
            <a:r>
              <a:rPr lang="en-US" sz="2000" b="1" dirty="0" smtClean="0"/>
              <a:t>(</a:t>
            </a:r>
            <a:r>
              <a:rPr lang="en-US" sz="2000" b="1" dirty="0" err="1" smtClean="0"/>
              <a:t>n:String</a:t>
            </a:r>
            <a:r>
              <a:rPr lang="en-US" sz="2000" b="1" dirty="0" smtClean="0"/>
              <a:t>):void</a:t>
            </a:r>
            <a:endParaRPr lang="en-US" b="1" dirty="0"/>
          </a:p>
        </p:txBody>
      </p:sp>
      <p:sp>
        <p:nvSpPr>
          <p:cNvPr id="6" name="مربع نص 5"/>
          <p:cNvSpPr txBox="1"/>
          <p:nvPr/>
        </p:nvSpPr>
        <p:spPr>
          <a:xfrm>
            <a:off x="7020272" y="1412776"/>
            <a:ext cx="115212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/>
              <a:t>Q/1      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39123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Q/2</a:t>
            </a:r>
            <a:endParaRPr lang="ar-SA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4824536" cy="53285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مستطيل 3"/>
          <p:cNvSpPr/>
          <p:nvPr/>
        </p:nvSpPr>
        <p:spPr>
          <a:xfrm>
            <a:off x="5796136" y="2564904"/>
            <a:ext cx="2016224" cy="3024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6" name="مربع نص 5"/>
          <p:cNvSpPr txBox="1"/>
          <p:nvPr/>
        </p:nvSpPr>
        <p:spPr>
          <a:xfrm>
            <a:off x="6084168" y="2852936"/>
            <a:ext cx="1512168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b="1" dirty="0" smtClean="0"/>
              <a:t>Book2</a:t>
            </a:r>
          </a:p>
          <a:p>
            <a:pPr algn="ctr"/>
            <a:r>
              <a:rPr lang="en-US" b="1" dirty="0" smtClean="0"/>
              <a:t>-------------------title : String-</a:t>
            </a:r>
          </a:p>
          <a:p>
            <a:pPr algn="ctr"/>
            <a:r>
              <a:rPr lang="en-US" b="1" dirty="0" smtClean="0"/>
              <a:t>------------------</a:t>
            </a:r>
          </a:p>
          <a:p>
            <a:pPr algn="ctr"/>
            <a:r>
              <a:rPr lang="en-US" b="1" dirty="0" smtClean="0"/>
              <a:t>+Book2:(</a:t>
            </a:r>
            <a:r>
              <a:rPr lang="en-US" b="1" dirty="0"/>
              <a:t>title : </a:t>
            </a:r>
            <a:r>
              <a:rPr lang="en-US" b="1" dirty="0" err="1" smtClean="0"/>
              <a:t>String,auther:String</a:t>
            </a:r>
            <a:r>
              <a:rPr lang="en-US" b="1" dirty="0" smtClean="0"/>
              <a:t>,…)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2963435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Q/3</a:t>
            </a:r>
            <a:endParaRPr lang="ar-SA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6840760" cy="5445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0898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Q/4</a:t>
            </a:r>
            <a:endParaRPr lang="ar-SA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268760"/>
            <a:ext cx="7488832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406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41176" y="-315416"/>
            <a:ext cx="8229600" cy="58018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04665"/>
            <a:ext cx="4104456" cy="5189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404665"/>
            <a:ext cx="4896544" cy="5256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2554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3568" y="-1827584"/>
            <a:ext cx="8229600" cy="1143000"/>
          </a:xfrm>
        </p:spPr>
        <p:txBody>
          <a:bodyPr/>
          <a:lstStyle/>
          <a:p>
            <a:endParaRPr lang="ar-SA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6632"/>
            <a:ext cx="2693288" cy="56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9" y="116632"/>
            <a:ext cx="5112568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983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 flipV="1">
            <a:off x="395536" y="-675456"/>
            <a:ext cx="8229600" cy="158006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632"/>
            <a:ext cx="4321386" cy="5624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8640"/>
            <a:ext cx="5827713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0817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 flipV="1">
            <a:off x="467544" y="-243408"/>
            <a:ext cx="8229600" cy="45719"/>
          </a:xfrm>
        </p:spPr>
        <p:txBody>
          <a:bodyPr>
            <a:normAutofit fontScale="90000"/>
          </a:bodyPr>
          <a:lstStyle/>
          <a:p>
            <a:endParaRPr lang="ar-SA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88640"/>
            <a:ext cx="4035603" cy="5589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88640"/>
            <a:ext cx="5153025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8579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3672408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88640"/>
            <a:ext cx="4752528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3720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0"/>
            <a:ext cx="3810440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700" y="476672"/>
            <a:ext cx="4634764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830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3744416" cy="54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32656"/>
            <a:ext cx="4817567" cy="5760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4176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3897041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47012"/>
            <a:ext cx="5707063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4054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4608512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04664"/>
            <a:ext cx="5436096" cy="612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98738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55576" y="1844824"/>
            <a:ext cx="8229600" cy="250629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ar-SA" sz="7200" b="1" dirty="0" smtClean="0">
                <a:solidFill>
                  <a:srgbClr val="7030A0"/>
                </a:solidFill>
              </a:rPr>
              <a:t>« واخر دعواهم أن الحمد لله رب العالمين «</a:t>
            </a:r>
            <a:endParaRPr lang="ar-SA" sz="72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659718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686</Words>
  <Application>Microsoft Office PowerPoint</Application>
  <PresentationFormat>عرض على الشاشة (3:4)‏</PresentationFormat>
  <Paragraphs>98</Paragraphs>
  <Slides>23</Slides>
  <Notes>1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4" baseType="lpstr">
      <vt:lpstr>نسق Office</vt:lpstr>
      <vt:lpstr>بسم الله الرحمن الرحيم     </vt:lpstr>
      <vt:lpstr>*Multiple Choice*</vt:lpstr>
      <vt:lpstr>عرض تقديمي في PowerPoint</vt:lpstr>
      <vt:lpstr>عرض تقديمي في PowerPoint</vt:lpstr>
      <vt:lpstr>*True or False*</vt:lpstr>
      <vt:lpstr>Find the Error</vt:lpstr>
      <vt:lpstr>عرض تقديمي في PowerPoint</vt:lpstr>
      <vt:lpstr>عرض تقديمي في PowerPoint</vt:lpstr>
      <vt:lpstr>عرض تقديمي في PowerPoint</vt:lpstr>
      <vt:lpstr>Algorithm Workbeanch</vt:lpstr>
      <vt:lpstr>Q/2</vt:lpstr>
      <vt:lpstr>Q/3</vt:lpstr>
      <vt:lpstr>Q/4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« واخر دعواهم أن الحمد لله رب العالمين 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بسم الله الرحمن الرحيم     </dc:title>
  <dc:creator>Alaa</dc:creator>
  <cp:lastModifiedBy>Alaa</cp:lastModifiedBy>
  <cp:revision>18</cp:revision>
  <dcterms:created xsi:type="dcterms:W3CDTF">2025-02-15T13:02:03Z</dcterms:created>
  <dcterms:modified xsi:type="dcterms:W3CDTF">2025-02-15T20:28:05Z</dcterms:modified>
</cp:coreProperties>
</file>