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7" r:id="rId2"/>
    <p:sldId id="258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59" r:id="rId18"/>
  </p:sldIdLst>
  <p:sldSz cx="9144000" cy="6858000" type="screen4x3"/>
  <p:notesSz cx="6858000" cy="9144000"/>
  <p:defaultTextStyle>
    <a:defPPr>
      <a:defRPr lang="ar-SA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4660"/>
  </p:normalViewPr>
  <p:slideViewPr>
    <p:cSldViewPr>
      <p:cViewPr>
        <p:scale>
          <a:sx n="60" d="100"/>
          <a:sy n="60" d="100"/>
        </p:scale>
        <p:origin x="-1331" y="-65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وان فرعي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ar-SA" smtClean="0"/>
              <a:t>انقر لتحرير نمط العنوان الثانوي الرئيسي</a:t>
            </a:r>
            <a:endParaRPr lang="ar-SA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6CD8-31DC-44FB-B41B-82A046840936}" type="datetimeFigureOut">
              <a:rPr lang="ar-SA" smtClean="0"/>
              <a:t>09/23/1446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35A7F-227D-4348-BB35-C8BA07D676AE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982829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6CD8-31DC-44FB-B41B-82A046840936}" type="datetimeFigureOut">
              <a:rPr lang="ar-SA" smtClean="0"/>
              <a:t>09/23/1446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35A7F-227D-4348-BB35-C8BA07D676AE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115152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6CD8-31DC-44FB-B41B-82A046840936}" type="datetimeFigureOut">
              <a:rPr lang="ar-SA" smtClean="0"/>
              <a:t>09/23/1446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35A7F-227D-4348-BB35-C8BA07D676AE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12992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ي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محتوى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4" name="عنصر نائب للمحتوى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6CD8-31DC-44FB-B41B-82A046840936}" type="datetimeFigureOut">
              <a:rPr lang="ar-SA" smtClean="0"/>
              <a:t>09/23/1446</a:t>
            </a:fld>
            <a:endParaRPr lang="ar-SA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35A7F-227D-4348-BB35-C8BA07D676AE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69216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</p:txBody>
      </p:sp>
      <p:sp>
        <p:nvSpPr>
          <p:cNvPr id="4" name="عنصر نائب للمحتوى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5" name="عنصر نائب للنص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</p:txBody>
      </p:sp>
      <p:sp>
        <p:nvSpPr>
          <p:cNvPr id="6" name="عنصر نائب للمحتوى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7" name="عنصر نائب للتاريخ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6CD8-31DC-44FB-B41B-82A046840936}" type="datetimeFigureOut">
              <a:rPr lang="ar-SA" smtClean="0"/>
              <a:t>09/23/1446</a:t>
            </a:fld>
            <a:endParaRPr lang="ar-SA"/>
          </a:p>
        </p:txBody>
      </p:sp>
      <p:sp>
        <p:nvSpPr>
          <p:cNvPr id="8" name="عنصر نائب للتذييل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9" name="عنصر نائب لرقم الشريحة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35A7F-227D-4348-BB35-C8BA07D676AE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064213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6CD8-31DC-44FB-B41B-82A046840936}" type="datetimeFigureOut">
              <a:rPr lang="ar-SA" smtClean="0"/>
              <a:t>09/23/1446</a:t>
            </a:fld>
            <a:endParaRPr lang="ar-SA"/>
          </a:p>
        </p:txBody>
      </p:sp>
      <p:sp>
        <p:nvSpPr>
          <p:cNvPr id="4" name="عنصر نائب للتذييل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5" name="عنصر نائب لرقم الشريحة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35A7F-227D-4348-BB35-C8BA07D676AE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26695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تاريخ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6CD8-31DC-44FB-B41B-82A046840936}" type="datetimeFigureOut">
              <a:rPr lang="ar-SA" smtClean="0"/>
              <a:t>09/23/1446</a:t>
            </a:fld>
            <a:endParaRPr lang="ar-SA"/>
          </a:p>
        </p:txBody>
      </p:sp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35A7F-227D-4348-BB35-C8BA07D676AE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7319775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ذو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4" name="عنصر نائب للنص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6CD8-31DC-44FB-B41B-82A046840936}" type="datetimeFigureOut">
              <a:rPr lang="ar-SA" smtClean="0"/>
              <a:t>09/23/1446</a:t>
            </a:fld>
            <a:endParaRPr lang="ar-SA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35A7F-227D-4348-BB35-C8BA07D676AE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6677852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ذو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صورة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SA"/>
          </a:p>
        </p:txBody>
      </p:sp>
      <p:sp>
        <p:nvSpPr>
          <p:cNvPr id="4" name="عنصر نائب للنص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6CD8-31DC-44FB-B41B-82A046840936}" type="datetimeFigureOut">
              <a:rPr lang="ar-SA" smtClean="0"/>
              <a:t>09/23/1446</a:t>
            </a:fld>
            <a:endParaRPr lang="ar-SA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35A7F-227D-4348-BB35-C8BA07D676AE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994836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عنوان العمودي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6CD8-31DC-44FB-B41B-82A046840936}" type="datetimeFigureOut">
              <a:rPr lang="ar-SA" smtClean="0"/>
              <a:t>09/23/1446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35A7F-227D-4348-BB35-C8BA07D676AE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629895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عمودي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عنوان العمودي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6CD8-31DC-44FB-B41B-82A046840936}" type="datetimeFigureOut">
              <a:rPr lang="ar-SA" smtClean="0"/>
              <a:t>09/23/1446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35A7F-227D-4348-BB35-C8BA07D676AE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825792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عنوان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76CD8-31DC-44FB-B41B-82A046840936}" type="datetimeFigureOut">
              <a:rPr lang="ar-SA" smtClean="0"/>
              <a:t>09/23/1446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4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B35A7F-227D-4348-BB35-C8BA07D676AE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300482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1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r" defTabSz="914400" rtl="1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defTabSz="914400" rtl="1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SA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ctrTitle"/>
          </p:nvPr>
        </p:nvSpPr>
        <p:spPr>
          <a:xfrm>
            <a:off x="611560" y="692696"/>
            <a:ext cx="7772400" cy="1268760"/>
          </a:xfrm>
        </p:spPr>
        <p:txBody>
          <a:bodyPr>
            <a:normAutofit fontScale="90000"/>
          </a:bodyPr>
          <a:lstStyle/>
          <a:p>
            <a:r>
              <a:rPr lang="ar-SA" b="1" dirty="0"/>
              <a:t>بسم الله الرحمن الرحيم    </a:t>
            </a:r>
            <a:r>
              <a:rPr lang="en-US" dirty="0"/>
              <a:t/>
            </a:r>
            <a:br>
              <a:rPr lang="en-US" dirty="0"/>
            </a:br>
            <a:endParaRPr lang="ar-SA" dirty="0"/>
          </a:p>
        </p:txBody>
      </p:sp>
      <p:sp>
        <p:nvSpPr>
          <p:cNvPr id="3" name="عنوان فرعي 2"/>
          <p:cNvSpPr>
            <a:spLocks noGrp="1"/>
          </p:cNvSpPr>
          <p:nvPr>
            <p:ph type="subTitle" idx="1"/>
          </p:nvPr>
        </p:nvSpPr>
        <p:spPr>
          <a:xfrm>
            <a:off x="611560" y="1844824"/>
            <a:ext cx="8064896" cy="5616624"/>
          </a:xfrm>
        </p:spPr>
        <p:txBody>
          <a:bodyPr>
            <a:normAutofit/>
          </a:bodyPr>
          <a:lstStyle/>
          <a:p>
            <a:pPr marL="1828800" algn="l" rtl="0">
              <a:lnSpc>
                <a:spcPct val="115000"/>
              </a:lnSpc>
              <a:spcAft>
                <a:spcPts val="1000"/>
              </a:spcAft>
            </a:pPr>
            <a:r>
              <a:rPr lang="en-US" b="1" dirty="0" smtClean="0">
                <a:solidFill>
                  <a:srgbClr val="953735"/>
                </a:solidFill>
                <a:ea typeface="Calibri"/>
                <a:cs typeface="Arial"/>
              </a:rPr>
              <a:t>      Programming </a:t>
            </a:r>
            <a:r>
              <a:rPr lang="en-US" b="1" dirty="0">
                <a:solidFill>
                  <a:srgbClr val="953735"/>
                </a:solidFill>
                <a:ea typeface="Calibri"/>
                <a:cs typeface="Arial"/>
              </a:rPr>
              <a:t>1</a:t>
            </a:r>
            <a:endParaRPr lang="en-US" sz="1600" dirty="0">
              <a:ea typeface="Calibri"/>
              <a:cs typeface="Arial"/>
            </a:endParaRPr>
          </a:p>
          <a:p>
            <a:pPr marL="914400" algn="l" rtl="0">
              <a:lnSpc>
                <a:spcPct val="115000"/>
              </a:lnSpc>
              <a:spcAft>
                <a:spcPts val="1000"/>
              </a:spcAft>
            </a:pPr>
            <a:r>
              <a:rPr lang="en-US" b="1" dirty="0">
                <a:solidFill>
                  <a:srgbClr val="953735"/>
                </a:solidFill>
                <a:ea typeface="Calibri"/>
                <a:cs typeface="Arial"/>
              </a:rPr>
              <a:t> ( Object Oriented Programming )</a:t>
            </a:r>
            <a:endParaRPr lang="en-US" sz="1600" dirty="0">
              <a:ea typeface="Calibri"/>
              <a:cs typeface="Arial"/>
            </a:endParaRPr>
          </a:p>
          <a:p>
            <a:pPr algn="l" rtl="0">
              <a:lnSpc>
                <a:spcPct val="115000"/>
              </a:lnSpc>
              <a:spcAft>
                <a:spcPts val="1000"/>
              </a:spcAft>
            </a:pPr>
            <a:r>
              <a:rPr lang="en-US" sz="3600" b="1" dirty="0" smtClean="0">
                <a:solidFill>
                  <a:srgbClr val="7030A0"/>
                </a:solidFill>
                <a:ea typeface="Calibri"/>
                <a:cs typeface="Arial"/>
              </a:rPr>
              <a:t>  ***   </a:t>
            </a:r>
            <a:r>
              <a:rPr lang="en-US" sz="3600" b="1" dirty="0" err="1">
                <a:solidFill>
                  <a:srgbClr val="7030A0"/>
                </a:solidFill>
                <a:ea typeface="Calibri"/>
                <a:cs typeface="Arial"/>
              </a:rPr>
              <a:t>Dr</a:t>
            </a:r>
            <a:r>
              <a:rPr lang="en-US" sz="3600" b="1" dirty="0">
                <a:solidFill>
                  <a:srgbClr val="7030A0"/>
                </a:solidFill>
                <a:ea typeface="Calibri"/>
                <a:cs typeface="Arial"/>
              </a:rPr>
              <a:t> . Mohammed </a:t>
            </a:r>
            <a:r>
              <a:rPr lang="en-US" sz="3600" b="1" dirty="0" err="1">
                <a:solidFill>
                  <a:srgbClr val="7030A0"/>
                </a:solidFill>
                <a:ea typeface="Calibri"/>
                <a:cs typeface="Arial"/>
              </a:rPr>
              <a:t>Musalam</a:t>
            </a:r>
            <a:r>
              <a:rPr lang="en-US" sz="3600" b="1" dirty="0">
                <a:solidFill>
                  <a:srgbClr val="7030A0"/>
                </a:solidFill>
                <a:ea typeface="Calibri"/>
                <a:cs typeface="Arial"/>
              </a:rPr>
              <a:t>   ***</a:t>
            </a:r>
            <a:endParaRPr lang="en-US" sz="1600" dirty="0">
              <a:ea typeface="Calibri"/>
              <a:cs typeface="Arial"/>
            </a:endParaRPr>
          </a:p>
          <a:p>
            <a:r>
              <a:rPr lang="en-US" sz="4000" b="1" dirty="0">
                <a:solidFill>
                  <a:srgbClr val="000000"/>
                </a:solidFill>
                <a:ea typeface="Calibri"/>
                <a:cs typeface="Arial"/>
              </a:rPr>
              <a:t>Answers of </a:t>
            </a:r>
            <a:r>
              <a:rPr lang="en-US" sz="4000" b="1" dirty="0" err="1">
                <a:solidFill>
                  <a:srgbClr val="000000"/>
                </a:solidFill>
                <a:ea typeface="Calibri"/>
                <a:cs typeface="Arial"/>
              </a:rPr>
              <a:t>Assigment</a:t>
            </a:r>
            <a:r>
              <a:rPr lang="en-US" sz="4000" b="1" dirty="0">
                <a:solidFill>
                  <a:srgbClr val="000000"/>
                </a:solidFill>
                <a:ea typeface="Calibri"/>
                <a:cs typeface="Arial"/>
              </a:rPr>
              <a:t> </a:t>
            </a:r>
            <a:r>
              <a:rPr lang="en-US" sz="4000" b="1" dirty="0" smtClean="0">
                <a:solidFill>
                  <a:srgbClr val="000000"/>
                </a:solidFill>
                <a:ea typeface="Calibri"/>
                <a:cs typeface="Arial"/>
              </a:rPr>
              <a:t>3</a:t>
            </a:r>
          </a:p>
          <a:p>
            <a:r>
              <a:rPr lang="en-US" b="1" dirty="0" smtClean="0">
                <a:solidFill>
                  <a:srgbClr val="002060"/>
                </a:solidFill>
                <a:ea typeface="Calibri"/>
                <a:cs typeface="Arial"/>
              </a:rPr>
              <a:t>Eng. </a:t>
            </a:r>
            <a:r>
              <a:rPr lang="en-US" b="1" dirty="0" err="1" smtClean="0">
                <a:solidFill>
                  <a:srgbClr val="002060"/>
                </a:solidFill>
                <a:ea typeface="Calibri"/>
                <a:cs typeface="Arial"/>
              </a:rPr>
              <a:t>Deema</a:t>
            </a:r>
            <a:r>
              <a:rPr lang="en-US" b="1" dirty="0" smtClean="0">
                <a:solidFill>
                  <a:srgbClr val="002060"/>
                </a:solidFill>
                <a:ea typeface="Calibri"/>
                <a:cs typeface="Arial"/>
              </a:rPr>
              <a:t> Mohammed AL-</a:t>
            </a:r>
            <a:r>
              <a:rPr lang="en-US" b="1" dirty="0" err="1" smtClean="0">
                <a:solidFill>
                  <a:srgbClr val="002060"/>
                </a:solidFill>
                <a:ea typeface="Calibri"/>
                <a:cs typeface="Arial"/>
              </a:rPr>
              <a:t>Maqadma</a:t>
            </a:r>
            <a:r>
              <a:rPr lang="en-US" b="1" dirty="0" smtClean="0">
                <a:solidFill>
                  <a:srgbClr val="002060"/>
                </a:solidFill>
                <a:ea typeface="Calibri"/>
                <a:cs typeface="Arial"/>
              </a:rPr>
              <a:t> </a:t>
            </a:r>
            <a:endParaRPr lang="en-US" sz="1400" dirty="0" smtClean="0">
              <a:ea typeface="Calibri"/>
              <a:cs typeface="Arial"/>
            </a:endParaRPr>
          </a:p>
          <a:p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10574176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1143000"/>
          </a:xfrm>
        </p:spPr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Multiple Choice and True/False</a:t>
            </a:r>
            <a:endParaRPr lang="ar-SA" dirty="0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616624"/>
          </a:xfrm>
          <a:ln>
            <a:solidFill>
              <a:srgbClr val="0070C0"/>
            </a:solidFill>
          </a:ln>
        </p:spPr>
        <p:txBody>
          <a:bodyPr>
            <a:normAutofit/>
          </a:bodyPr>
          <a:lstStyle/>
          <a:p>
            <a:pPr algn="l"/>
            <a:r>
              <a:rPr lang="en-US" dirty="0" smtClean="0"/>
              <a:t>1. In an inheritance relationship, this is the general class </a:t>
            </a:r>
            <a:r>
              <a:rPr lang="en-US" b="1" dirty="0" smtClean="0">
                <a:solidFill>
                  <a:srgbClr val="0070C0"/>
                </a:solidFill>
              </a:rPr>
              <a:t>b. superclass</a:t>
            </a:r>
          </a:p>
          <a:p>
            <a:pPr algn="l"/>
            <a:r>
              <a:rPr lang="en-US" dirty="0" smtClean="0"/>
              <a:t> 2. In an inheritance relationship, this is the specialized class </a:t>
            </a:r>
            <a:r>
              <a:rPr lang="en-US" b="1" dirty="0" smtClean="0">
                <a:solidFill>
                  <a:srgbClr val="0070C0"/>
                </a:solidFill>
              </a:rPr>
              <a:t>c. subclass </a:t>
            </a:r>
          </a:p>
          <a:p>
            <a:pPr algn="l"/>
            <a:r>
              <a:rPr lang="en-US" dirty="0" smtClean="0"/>
              <a:t>3. This key word indicates that a class inherits from another class </a:t>
            </a:r>
            <a:r>
              <a:rPr lang="en-US" b="1" dirty="0" smtClean="0">
                <a:solidFill>
                  <a:srgbClr val="0070C0"/>
                </a:solidFill>
              </a:rPr>
              <a:t>d. Extends</a:t>
            </a:r>
            <a:endParaRPr lang="ar-SA" b="1" dirty="0" smtClean="0">
              <a:solidFill>
                <a:srgbClr val="0070C0"/>
              </a:solidFill>
            </a:endParaRPr>
          </a:p>
          <a:p>
            <a:pPr algn="l"/>
            <a:r>
              <a:rPr lang="en-US" dirty="0" smtClean="0"/>
              <a:t>4. A subclass does not have access to these superclass members </a:t>
            </a:r>
            <a:r>
              <a:rPr lang="en-US" b="1" dirty="0" smtClean="0">
                <a:solidFill>
                  <a:srgbClr val="0070C0"/>
                </a:solidFill>
              </a:rPr>
              <a:t>b. private</a:t>
            </a:r>
          </a:p>
          <a:p>
            <a:pPr algn="l"/>
            <a:r>
              <a:rPr lang="en-US" dirty="0" smtClean="0"/>
              <a:t>5. This key word refers to an object superclass </a:t>
            </a:r>
            <a:r>
              <a:rPr lang="en-US" b="1" dirty="0" smtClean="0">
                <a:solidFill>
                  <a:srgbClr val="0070C0"/>
                </a:solidFill>
              </a:rPr>
              <a:t>a. super</a:t>
            </a:r>
            <a:endParaRPr lang="ar-SA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4024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457200" y="188640"/>
            <a:ext cx="8229600" cy="6669360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dirty="0" smtClean="0"/>
              <a:t>6. In a subclass constructor, a call to the superclass constructor must </a:t>
            </a:r>
            <a:r>
              <a:rPr lang="en-US" b="1" dirty="0" smtClean="0">
                <a:solidFill>
                  <a:srgbClr val="0070C0"/>
                </a:solidFill>
              </a:rPr>
              <a:t>a. appear as the very first statement</a:t>
            </a:r>
          </a:p>
          <a:p>
            <a:pPr algn="l"/>
            <a:r>
              <a:rPr lang="en-US" dirty="0" smtClean="0"/>
              <a:t>7. The following is an explicit call to the superclass default constructor </a:t>
            </a:r>
            <a:r>
              <a:rPr lang="en-US" b="1" dirty="0" smtClean="0">
                <a:solidFill>
                  <a:srgbClr val="0070C0"/>
                </a:solidFill>
              </a:rPr>
              <a:t>c. super();</a:t>
            </a:r>
          </a:p>
          <a:p>
            <a:pPr algn="l"/>
            <a:r>
              <a:rPr lang="en-US" dirty="0" smtClean="0"/>
              <a:t> 8. A method in a subclass that has the same signature as a method in the superclass is an example of </a:t>
            </a:r>
            <a:r>
              <a:rPr lang="en-US" b="1" dirty="0" smtClean="0">
                <a:solidFill>
                  <a:srgbClr val="0070C0"/>
                </a:solidFill>
              </a:rPr>
              <a:t>b. overriding</a:t>
            </a:r>
          </a:p>
          <a:p>
            <a:pPr algn="l"/>
            <a:r>
              <a:rPr lang="en-US" dirty="0" smtClean="0"/>
              <a:t> 9. A method in a subclass having the same name as a method in the superclass but a different signature is an example of </a:t>
            </a:r>
            <a:r>
              <a:rPr lang="en-US" b="1" dirty="0" smtClean="0">
                <a:solidFill>
                  <a:srgbClr val="0070C0"/>
                </a:solidFill>
              </a:rPr>
              <a:t>a. overloading</a:t>
            </a:r>
          </a:p>
          <a:p>
            <a:pPr algn="l"/>
            <a:r>
              <a:rPr lang="en-US" dirty="0" smtClean="0"/>
              <a:t>10. These superclass members are accessible to subclasses and classes in the same package           </a:t>
            </a:r>
            <a:r>
              <a:rPr lang="en-US" b="1" dirty="0" smtClean="0">
                <a:solidFill>
                  <a:srgbClr val="0070C0"/>
                </a:solidFill>
              </a:rPr>
              <a:t>c. protected</a:t>
            </a:r>
            <a:endParaRPr lang="ar-SA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30029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467544" y="305272"/>
            <a:ext cx="8229600" cy="6552728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n-US" dirty="0" smtClean="0"/>
              <a:t>11. All classes directly or indirectly inherit from this class </a:t>
            </a:r>
            <a:r>
              <a:rPr lang="en-US" b="1" dirty="0" smtClean="0">
                <a:solidFill>
                  <a:srgbClr val="0070C0"/>
                </a:solidFill>
              </a:rPr>
              <a:t>a. Object</a:t>
            </a:r>
          </a:p>
          <a:p>
            <a:pPr algn="l"/>
            <a:r>
              <a:rPr lang="en-US" dirty="0" smtClean="0"/>
              <a:t>14. When a class implements an interface, it must </a:t>
            </a:r>
            <a:r>
              <a:rPr lang="en-US" b="1" dirty="0" smtClean="0">
                <a:solidFill>
                  <a:srgbClr val="0070C0"/>
                </a:solidFill>
              </a:rPr>
              <a:t>b. provide all of the non default methods that are listed in the interface, with the exact signatures and return types specified</a:t>
            </a:r>
          </a:p>
          <a:p>
            <a:pPr algn="l"/>
            <a:r>
              <a:rPr lang="en-US" dirty="0" smtClean="0"/>
              <a:t>15. Fields in an interface are </a:t>
            </a:r>
            <a:r>
              <a:rPr lang="en-US" b="1" dirty="0" smtClean="0">
                <a:solidFill>
                  <a:srgbClr val="0070C0"/>
                </a:solidFill>
              </a:rPr>
              <a:t>c. both final and static</a:t>
            </a:r>
          </a:p>
          <a:p>
            <a:pPr algn="l"/>
            <a:r>
              <a:rPr lang="en-US" dirty="0" smtClean="0"/>
              <a:t>16. Abstract methods must be </a:t>
            </a:r>
            <a:r>
              <a:rPr lang="en-US" b="1" dirty="0" smtClean="0">
                <a:solidFill>
                  <a:srgbClr val="0070C0"/>
                </a:solidFill>
              </a:rPr>
              <a:t>a. overridden</a:t>
            </a:r>
          </a:p>
          <a:p>
            <a:pPr marL="0" indent="0" algn="l">
              <a:buNone/>
            </a:pPr>
            <a:r>
              <a:rPr lang="en-US" dirty="0" smtClean="0"/>
              <a:t>17. Abstract classes cannot </a:t>
            </a:r>
            <a:r>
              <a:rPr lang="en-US" b="1" dirty="0" smtClean="0">
                <a:solidFill>
                  <a:srgbClr val="0070C0"/>
                </a:solidFill>
              </a:rPr>
              <a:t>c. be instantiated</a:t>
            </a:r>
            <a:endParaRPr lang="ar-SA" b="1" dirty="0" smtClean="0">
              <a:solidFill>
                <a:srgbClr val="0070C0"/>
              </a:solidFill>
            </a:endParaRPr>
          </a:p>
          <a:p>
            <a:pPr marL="0" indent="0" algn="l">
              <a:buNone/>
            </a:pPr>
            <a:r>
              <a:rPr lang="en-US" dirty="0" smtClean="0"/>
              <a:t>18. You use the _____ operator to define an anonymous inner class </a:t>
            </a:r>
            <a:r>
              <a:rPr lang="en-US" b="1" dirty="0" smtClean="0">
                <a:solidFill>
                  <a:srgbClr val="0070C0"/>
                </a:solidFill>
              </a:rPr>
              <a:t>c. new</a:t>
            </a:r>
          </a:p>
          <a:p>
            <a:pPr marL="0" indent="0" algn="l">
              <a:buNone/>
            </a:pPr>
            <a:r>
              <a:rPr lang="en-US" dirty="0" smtClean="0"/>
              <a:t>19. An anonymous inner class must ______ </a:t>
            </a:r>
            <a:r>
              <a:rPr lang="en-US" b="1" dirty="0" smtClean="0">
                <a:solidFill>
                  <a:srgbClr val="0070C0"/>
                </a:solidFill>
              </a:rPr>
              <a:t>b. implement an </a:t>
            </a:r>
            <a:r>
              <a:rPr lang="en-US" b="1" dirty="0" err="1" smtClean="0">
                <a:solidFill>
                  <a:srgbClr val="0070C0"/>
                </a:solidFill>
              </a:rPr>
              <a:t>interfacec</a:t>
            </a:r>
            <a:r>
              <a:rPr lang="en-US" b="1" dirty="0" smtClean="0">
                <a:solidFill>
                  <a:srgbClr val="0070C0"/>
                </a:solidFill>
              </a:rPr>
              <a:t>. </a:t>
            </a:r>
            <a:r>
              <a:rPr lang="en-US" b="1" dirty="0" err="1" smtClean="0">
                <a:solidFill>
                  <a:srgbClr val="0070C0"/>
                </a:solidFill>
              </a:rPr>
              <a:t>c.extend</a:t>
            </a:r>
            <a:r>
              <a:rPr lang="en-US" b="1" dirty="0" smtClean="0">
                <a:solidFill>
                  <a:srgbClr val="0070C0"/>
                </a:solidFill>
              </a:rPr>
              <a:t> a </a:t>
            </a:r>
            <a:r>
              <a:rPr lang="en-US" b="1" dirty="0" err="1" smtClean="0">
                <a:solidFill>
                  <a:srgbClr val="0070C0"/>
                </a:solidFill>
              </a:rPr>
              <a:t>superclassd</a:t>
            </a:r>
            <a:r>
              <a:rPr lang="en-US" b="1" dirty="0" smtClean="0">
                <a:solidFill>
                  <a:srgbClr val="0070C0"/>
                </a:solidFill>
              </a:rPr>
              <a:t>. either b or c.</a:t>
            </a:r>
            <a:endParaRPr lang="ar-SA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07596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395536" y="332656"/>
            <a:ext cx="8352928" cy="6120680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dirty="0" smtClean="0"/>
              <a:t>22. </a:t>
            </a:r>
            <a:r>
              <a:rPr lang="en-US" b="1" dirty="0" smtClean="0">
                <a:solidFill>
                  <a:srgbClr val="00B050"/>
                </a:solidFill>
              </a:rPr>
              <a:t>True</a:t>
            </a:r>
            <a:r>
              <a:rPr lang="en-US" dirty="0" smtClean="0"/>
              <a:t> : Constructors are not inherited.</a:t>
            </a:r>
          </a:p>
          <a:p>
            <a:pPr algn="l"/>
            <a:r>
              <a:rPr lang="en-US" dirty="0" smtClean="0"/>
              <a:t>23. </a:t>
            </a:r>
            <a:r>
              <a:rPr lang="en-US" b="1" dirty="0" smtClean="0">
                <a:solidFill>
                  <a:srgbClr val="FF0000"/>
                </a:solidFill>
              </a:rPr>
              <a:t>False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: In a subclass, a call to the superclass constructor can only be written in the subclass constructor.</a:t>
            </a:r>
          </a:p>
          <a:p>
            <a:pPr algn="l"/>
            <a:r>
              <a:rPr lang="en-US" dirty="0" smtClean="0"/>
              <a:t>24. </a:t>
            </a:r>
            <a:r>
              <a:rPr lang="en-US" b="1" dirty="0" smtClean="0">
                <a:solidFill>
                  <a:srgbClr val="FF0000"/>
                </a:solidFill>
              </a:rPr>
              <a:t>False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: If a subclass constructor does not explicitly call a superclass constructor, Java will not call any of the superclass constructors.</a:t>
            </a:r>
          </a:p>
          <a:p>
            <a:pPr algn="l"/>
            <a:r>
              <a:rPr lang="en-US" dirty="0" smtClean="0"/>
              <a:t>25. </a:t>
            </a:r>
            <a:r>
              <a:rPr lang="en-US" b="1" dirty="0" smtClean="0">
                <a:solidFill>
                  <a:srgbClr val="00B050"/>
                </a:solidFill>
              </a:rPr>
              <a:t>True</a:t>
            </a:r>
            <a:r>
              <a:rPr lang="en-US" dirty="0" smtClean="0">
                <a:solidFill>
                  <a:srgbClr val="00B050"/>
                </a:solidFill>
              </a:rPr>
              <a:t> </a:t>
            </a:r>
            <a:r>
              <a:rPr lang="en-US" dirty="0" smtClean="0"/>
              <a:t>: An object of a superclass can access members declared in a subclass.</a:t>
            </a:r>
          </a:p>
          <a:p>
            <a:pPr algn="l"/>
            <a:r>
              <a:rPr lang="en-US" dirty="0" smtClean="0"/>
              <a:t>26. </a:t>
            </a:r>
            <a:r>
              <a:rPr lang="en-US" b="1" dirty="0" smtClean="0">
                <a:solidFill>
                  <a:srgbClr val="00B050"/>
                </a:solidFill>
              </a:rPr>
              <a:t>True</a:t>
            </a:r>
            <a:r>
              <a:rPr lang="en-US" dirty="0" smtClean="0">
                <a:solidFill>
                  <a:srgbClr val="00B050"/>
                </a:solidFill>
              </a:rPr>
              <a:t> </a:t>
            </a:r>
            <a:r>
              <a:rPr lang="en-US" dirty="0" smtClean="0"/>
              <a:t>: The superclass constructor always </a:t>
            </a:r>
            <a:endParaRPr lang="ar-SA" dirty="0" smtClean="0"/>
          </a:p>
          <a:p>
            <a:pPr marL="0" indent="0" algn="l">
              <a:buNone/>
            </a:pPr>
            <a:r>
              <a:rPr lang="en-US" dirty="0" smtClean="0"/>
              <a:t>executes before the subclass constructor.</a:t>
            </a:r>
          </a:p>
          <a:p>
            <a:pPr marL="0" indent="0" algn="l">
              <a:buNone/>
            </a:pPr>
            <a:r>
              <a:rPr lang="en-US" dirty="0" smtClean="0"/>
              <a:t>27. </a:t>
            </a:r>
            <a:r>
              <a:rPr lang="en-US" b="1" dirty="0" smtClean="0">
                <a:solidFill>
                  <a:srgbClr val="FF0000"/>
                </a:solidFill>
              </a:rPr>
              <a:t>False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: When a method is declared with the final </a:t>
            </a:r>
            <a:r>
              <a:rPr lang="en-US" dirty="0" err="1" smtClean="0"/>
              <a:t>modifier,it</a:t>
            </a:r>
            <a:r>
              <a:rPr lang="en-US" dirty="0" smtClean="0"/>
              <a:t> must be overridden in a subclass.</a:t>
            </a:r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31451564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467544" y="116632"/>
            <a:ext cx="8229600" cy="6840760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dirty="0" smtClean="0"/>
              <a:t>28. </a:t>
            </a:r>
            <a:r>
              <a:rPr lang="en-US" b="1" dirty="0" smtClean="0">
                <a:solidFill>
                  <a:srgbClr val="FF0000"/>
                </a:solidFill>
              </a:rPr>
              <a:t>False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: A superclass has a member with package access. A class that is outside the superclass package but inherits from the superclass can access the member</a:t>
            </a:r>
          </a:p>
          <a:p>
            <a:pPr algn="l"/>
            <a:r>
              <a:rPr lang="en-US" dirty="0" smtClean="0"/>
              <a:t>29. </a:t>
            </a:r>
            <a:r>
              <a:rPr lang="en-US" b="1" dirty="0" smtClean="0">
                <a:solidFill>
                  <a:srgbClr val="00B050"/>
                </a:solidFill>
              </a:rPr>
              <a:t>True</a:t>
            </a:r>
            <a:r>
              <a:rPr lang="en-US" dirty="0" smtClean="0">
                <a:solidFill>
                  <a:srgbClr val="00B050"/>
                </a:solidFill>
              </a:rPr>
              <a:t> </a:t>
            </a:r>
            <a:r>
              <a:rPr lang="en-US" dirty="0" smtClean="0"/>
              <a:t>: A superclass reference variable can reference an object of a subclass that extends the superclass.</a:t>
            </a:r>
          </a:p>
          <a:p>
            <a:pPr algn="l"/>
            <a:r>
              <a:rPr lang="en-US" dirty="0" smtClean="0"/>
              <a:t>30. </a:t>
            </a:r>
            <a:r>
              <a:rPr lang="en-US" b="1" dirty="0" smtClean="0">
                <a:solidFill>
                  <a:srgbClr val="FF0000"/>
                </a:solidFill>
              </a:rPr>
              <a:t>False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: A subclass reference variable can reference an object of the superclass.</a:t>
            </a:r>
          </a:p>
          <a:p>
            <a:pPr algn="l"/>
            <a:r>
              <a:rPr lang="en-US" dirty="0" smtClean="0"/>
              <a:t>31. </a:t>
            </a:r>
            <a:r>
              <a:rPr lang="en-US" b="1" dirty="0" smtClean="0">
                <a:solidFill>
                  <a:srgbClr val="00B050"/>
                </a:solidFill>
              </a:rPr>
              <a:t>True</a:t>
            </a:r>
            <a:r>
              <a:rPr lang="en-US" dirty="0" smtClean="0">
                <a:solidFill>
                  <a:srgbClr val="00B050"/>
                </a:solidFill>
              </a:rPr>
              <a:t> </a:t>
            </a:r>
            <a:r>
              <a:rPr lang="en-US" dirty="0" smtClean="0"/>
              <a:t>: When a class contains an abstract method, the class cannot be instantiated.</a:t>
            </a:r>
          </a:p>
          <a:p>
            <a:pPr algn="l"/>
            <a:r>
              <a:rPr lang="en-US" dirty="0" smtClean="0"/>
              <a:t>32. </a:t>
            </a:r>
            <a:r>
              <a:rPr lang="en-US" b="1" dirty="0" smtClean="0">
                <a:solidFill>
                  <a:srgbClr val="FF0000"/>
                </a:solidFill>
              </a:rPr>
              <a:t>False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: A class may only implement one interface.</a:t>
            </a:r>
          </a:p>
          <a:p>
            <a:pPr algn="l"/>
            <a:r>
              <a:rPr lang="en-US" dirty="0" smtClean="0"/>
              <a:t>33. </a:t>
            </a:r>
            <a:r>
              <a:rPr lang="en-US" b="1" dirty="0" smtClean="0">
                <a:solidFill>
                  <a:srgbClr val="00B050"/>
                </a:solidFill>
              </a:rPr>
              <a:t>True</a:t>
            </a:r>
            <a:r>
              <a:rPr lang="en-US" dirty="0" smtClean="0">
                <a:solidFill>
                  <a:srgbClr val="00B050"/>
                </a:solidFill>
              </a:rPr>
              <a:t> </a:t>
            </a:r>
            <a:r>
              <a:rPr lang="en-US" dirty="0" smtClean="0"/>
              <a:t>: By default all members of an interface are public.</a:t>
            </a:r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10385910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Find the Error</a:t>
            </a:r>
            <a:endParaRPr lang="ar-SA" b="1" dirty="0">
              <a:solidFill>
                <a:srgbClr val="C00000"/>
              </a:solidFill>
            </a:endParaRPr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611560" y="1412776"/>
            <a:ext cx="8301608" cy="518457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dirty="0" smtClean="0"/>
              <a:t>1. // Superclass</a:t>
            </a:r>
          </a:p>
          <a:p>
            <a:pPr algn="l"/>
            <a:r>
              <a:rPr lang="en-US" dirty="0" smtClean="0"/>
              <a:t>public class Vehicle{</a:t>
            </a:r>
          </a:p>
          <a:p>
            <a:pPr algn="l"/>
            <a:r>
              <a:rPr lang="en-US" dirty="0" smtClean="0"/>
              <a:t> (Member declarations . . .)</a:t>
            </a:r>
          </a:p>
          <a:p>
            <a:pPr algn="l"/>
            <a:r>
              <a:rPr lang="en-US" dirty="0" smtClean="0"/>
              <a:t>}</a:t>
            </a:r>
          </a:p>
          <a:p>
            <a:pPr algn="l"/>
            <a:r>
              <a:rPr lang="en-US" dirty="0" smtClean="0"/>
              <a:t>// Subclass</a:t>
            </a:r>
          </a:p>
          <a:p>
            <a:pPr algn="l"/>
            <a:r>
              <a:rPr lang="en-US" dirty="0" smtClean="0"/>
              <a:t>public class Car expands Vehicle{</a:t>
            </a:r>
          </a:p>
          <a:p>
            <a:pPr algn="l"/>
            <a:r>
              <a:rPr lang="en-US" dirty="0" smtClean="0"/>
              <a:t> (Member declarations . . .)</a:t>
            </a:r>
          </a:p>
          <a:p>
            <a:pPr algn="l"/>
            <a:r>
              <a:rPr lang="en-US" dirty="0" smtClean="0"/>
              <a:t>}</a:t>
            </a:r>
          </a:p>
          <a:p>
            <a:pPr algn="l"/>
            <a:r>
              <a:rPr lang="en-US" sz="3500" b="1" dirty="0" smtClean="0">
                <a:solidFill>
                  <a:srgbClr val="7030A0"/>
                </a:solidFill>
              </a:rPr>
              <a:t>[ The correct keyword is extends in Java for inheritance ]</a:t>
            </a:r>
            <a:endParaRPr lang="ar-SA" sz="35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38082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457200" y="404664"/>
            <a:ext cx="8229600" cy="6264696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US" dirty="0" smtClean="0"/>
              <a:t>2. // Superclass</a:t>
            </a:r>
          </a:p>
          <a:p>
            <a:pPr algn="l"/>
            <a:r>
              <a:rPr lang="en-US" dirty="0" smtClean="0"/>
              <a:t>public class Vehicle{</a:t>
            </a:r>
          </a:p>
          <a:p>
            <a:pPr algn="l"/>
            <a:r>
              <a:rPr lang="en-US" dirty="0" smtClean="0"/>
              <a:t> private double cost;</a:t>
            </a:r>
          </a:p>
          <a:p>
            <a:pPr algn="l"/>
            <a:r>
              <a:rPr lang="en-US" dirty="0" smtClean="0"/>
              <a:t> (Other methods . . .)</a:t>
            </a:r>
          </a:p>
          <a:p>
            <a:pPr algn="l"/>
            <a:r>
              <a:rPr lang="en-US" dirty="0" smtClean="0"/>
              <a:t>}</a:t>
            </a:r>
          </a:p>
          <a:p>
            <a:pPr algn="l"/>
            <a:r>
              <a:rPr lang="en-US" dirty="0" smtClean="0"/>
              <a:t>// Subclass</a:t>
            </a:r>
          </a:p>
          <a:p>
            <a:pPr algn="l"/>
            <a:r>
              <a:rPr lang="en-US" dirty="0" smtClean="0"/>
              <a:t>public class Car extends Vehicle{</a:t>
            </a:r>
          </a:p>
          <a:p>
            <a:pPr algn="l"/>
            <a:r>
              <a:rPr lang="en-US" dirty="0" smtClean="0"/>
              <a:t> public Car(double c) {</a:t>
            </a:r>
          </a:p>
          <a:p>
            <a:pPr algn="l"/>
            <a:r>
              <a:rPr lang="en-US" dirty="0" smtClean="0"/>
              <a:t> cost = c;</a:t>
            </a:r>
          </a:p>
          <a:p>
            <a:pPr algn="l"/>
            <a:r>
              <a:rPr lang="en-US" dirty="0" smtClean="0"/>
              <a:t> }</a:t>
            </a:r>
          </a:p>
          <a:p>
            <a:pPr lvl="8" algn="l"/>
            <a:endParaRPr lang="en-US" dirty="0" smtClean="0"/>
          </a:p>
          <a:p>
            <a:pPr algn="l"/>
            <a:r>
              <a:rPr lang="en-US" sz="3800" b="1" dirty="0" smtClean="0">
                <a:solidFill>
                  <a:srgbClr val="7030A0"/>
                </a:solidFill>
              </a:rPr>
              <a:t>[ The field cost  is declared private in the superclass. Private fields cannot be accessed directly in a subclass. This will result in a compile-time error. ]</a:t>
            </a:r>
            <a:endParaRPr lang="ar-SA" sz="38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95568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395536" y="332656"/>
            <a:ext cx="8229600" cy="6264696"/>
          </a:xfrm>
        </p:spPr>
        <p:txBody>
          <a:bodyPr>
            <a:normAutofit fontScale="47500" lnSpcReduction="20000"/>
          </a:bodyPr>
          <a:lstStyle/>
          <a:p>
            <a:pPr algn="l"/>
            <a:r>
              <a:rPr lang="en-US" dirty="0" smtClean="0"/>
              <a:t>3. // Superclass</a:t>
            </a:r>
          </a:p>
          <a:p>
            <a:pPr algn="l"/>
            <a:r>
              <a:rPr lang="en-US" dirty="0" smtClean="0"/>
              <a:t>public class Vehicle{ </a:t>
            </a:r>
          </a:p>
          <a:p>
            <a:pPr algn="l"/>
            <a:r>
              <a:rPr lang="en-US" dirty="0" smtClean="0"/>
              <a:t>private double cost; </a:t>
            </a:r>
          </a:p>
          <a:p>
            <a:pPr algn="l"/>
            <a:r>
              <a:rPr lang="en-US" dirty="0" smtClean="0"/>
              <a:t>public Vehicle(double c) { </a:t>
            </a:r>
          </a:p>
          <a:p>
            <a:pPr algn="l"/>
            <a:r>
              <a:rPr lang="en-US" dirty="0" smtClean="0"/>
              <a:t>cost = c;</a:t>
            </a:r>
          </a:p>
          <a:p>
            <a:pPr algn="l"/>
            <a:r>
              <a:rPr lang="en-US" dirty="0" smtClean="0"/>
              <a:t> }(Other methods . . .)</a:t>
            </a:r>
          </a:p>
          <a:p>
            <a:pPr algn="l"/>
            <a:r>
              <a:rPr lang="en-US" dirty="0" smtClean="0"/>
              <a:t>}</a:t>
            </a:r>
          </a:p>
          <a:p>
            <a:pPr algn="l"/>
            <a:r>
              <a:rPr lang="en-US" dirty="0" smtClean="0"/>
              <a:t>// Subclass</a:t>
            </a:r>
          </a:p>
          <a:p>
            <a:pPr algn="l"/>
            <a:r>
              <a:rPr lang="en-US" dirty="0" smtClean="0"/>
              <a:t>public class Car extends Vehicle{</a:t>
            </a:r>
          </a:p>
          <a:p>
            <a:pPr algn="l"/>
            <a:r>
              <a:rPr lang="en-US" dirty="0" smtClean="0"/>
              <a:t> private </a:t>
            </a:r>
            <a:r>
              <a:rPr lang="en-US" dirty="0" err="1" smtClean="0"/>
              <a:t>int</a:t>
            </a:r>
            <a:r>
              <a:rPr lang="en-US" dirty="0" smtClean="0"/>
              <a:t> passengers; </a:t>
            </a:r>
          </a:p>
          <a:p>
            <a:pPr algn="l"/>
            <a:r>
              <a:rPr lang="en-US" dirty="0" smtClean="0"/>
              <a:t>public Car(</a:t>
            </a:r>
            <a:r>
              <a:rPr lang="en-US" dirty="0" err="1" smtClean="0"/>
              <a:t>int</a:t>
            </a:r>
            <a:r>
              <a:rPr lang="en-US" dirty="0" smtClean="0"/>
              <a:t> p) {</a:t>
            </a:r>
          </a:p>
          <a:p>
            <a:pPr algn="l"/>
            <a:r>
              <a:rPr lang="en-US" dirty="0" smtClean="0"/>
              <a:t> passengers = c;</a:t>
            </a:r>
          </a:p>
          <a:p>
            <a:pPr algn="l"/>
            <a:r>
              <a:rPr lang="en-US" dirty="0" smtClean="0"/>
              <a:t> } (Other methods . . .)</a:t>
            </a:r>
          </a:p>
          <a:p>
            <a:pPr algn="l"/>
            <a:r>
              <a:rPr lang="en-US" dirty="0" smtClean="0"/>
              <a:t>}</a:t>
            </a:r>
          </a:p>
          <a:p>
            <a:pPr algn="l"/>
            <a:r>
              <a:rPr lang="en-US" sz="5100" b="1" dirty="0" smtClean="0">
                <a:solidFill>
                  <a:srgbClr val="7030A0"/>
                </a:solidFill>
              </a:rPr>
              <a:t>[ In the subclass constructor, the super constructor is not explicitly called, and since the Vehicle class does not have a default (no-</a:t>
            </a:r>
            <a:r>
              <a:rPr lang="en-US" sz="5100" b="1" dirty="0" err="1" smtClean="0">
                <a:solidFill>
                  <a:srgbClr val="7030A0"/>
                </a:solidFill>
              </a:rPr>
              <a:t>arg</a:t>
            </a:r>
            <a:r>
              <a:rPr lang="en-US" sz="5100" b="1" dirty="0" smtClean="0">
                <a:solidFill>
                  <a:srgbClr val="7030A0"/>
                </a:solidFill>
              </a:rPr>
              <a:t>) constructor, this results in a compile-time error. &amp; The variable c in the subclass constructor is undefined it should be passed from the superclass constructor or set manually. </a:t>
            </a:r>
            <a:r>
              <a:rPr lang="en-US" dirty="0" smtClean="0"/>
              <a:t>]</a:t>
            </a:r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33463747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395536" y="219547"/>
            <a:ext cx="8229600" cy="6552728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US" dirty="0" smtClean="0"/>
              <a:t>4. // Superclass</a:t>
            </a:r>
          </a:p>
          <a:p>
            <a:pPr algn="l"/>
            <a:r>
              <a:rPr lang="en-US" dirty="0" smtClean="0"/>
              <a:t>public class Vehicle{</a:t>
            </a:r>
          </a:p>
          <a:p>
            <a:pPr algn="l"/>
            <a:r>
              <a:rPr lang="en-US" dirty="0" smtClean="0"/>
              <a:t> public abstract double </a:t>
            </a:r>
            <a:r>
              <a:rPr lang="en-US" dirty="0" err="1" smtClean="0"/>
              <a:t>getMilesPerGallon</a:t>
            </a:r>
            <a:r>
              <a:rPr lang="en-US" dirty="0" smtClean="0"/>
              <a:t>(); (Other methods . . .)</a:t>
            </a:r>
          </a:p>
          <a:p>
            <a:pPr algn="l"/>
            <a:r>
              <a:rPr lang="en-US" dirty="0" smtClean="0"/>
              <a:t>}</a:t>
            </a:r>
          </a:p>
          <a:p>
            <a:pPr algn="l"/>
            <a:r>
              <a:rPr lang="en-US" dirty="0" smtClean="0"/>
              <a:t>// </a:t>
            </a:r>
            <a:r>
              <a:rPr lang="en-US" dirty="0" err="1" smtClean="0"/>
              <a:t>Subclasspublic</a:t>
            </a:r>
            <a:r>
              <a:rPr lang="en-US" dirty="0" smtClean="0"/>
              <a:t> class Car extends Vehicle{ </a:t>
            </a:r>
          </a:p>
          <a:p>
            <a:pPr algn="l"/>
            <a:r>
              <a:rPr lang="en-US" dirty="0" smtClean="0"/>
              <a:t>private </a:t>
            </a:r>
            <a:r>
              <a:rPr lang="en-US" dirty="0" err="1" smtClean="0"/>
              <a:t>int</a:t>
            </a:r>
            <a:r>
              <a:rPr lang="en-US" dirty="0" smtClean="0"/>
              <a:t> mpg;</a:t>
            </a:r>
          </a:p>
          <a:p>
            <a:pPr algn="l"/>
            <a:r>
              <a:rPr lang="en-US" dirty="0" smtClean="0"/>
              <a:t> public </a:t>
            </a: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/>
              <a:t>getMilesPerGallon</a:t>
            </a:r>
            <a:r>
              <a:rPr lang="en-US" dirty="0" smtClean="0"/>
              <a:t>(); { </a:t>
            </a:r>
          </a:p>
          <a:p>
            <a:pPr algn="l"/>
            <a:r>
              <a:rPr lang="en-US" dirty="0" smtClean="0"/>
              <a:t>return mpg; </a:t>
            </a:r>
          </a:p>
          <a:p>
            <a:pPr algn="l"/>
            <a:r>
              <a:rPr lang="en-US" dirty="0" smtClean="0"/>
              <a:t>}</a:t>
            </a:r>
          </a:p>
          <a:p>
            <a:pPr algn="l"/>
            <a:r>
              <a:rPr lang="en-US" dirty="0" smtClean="0"/>
              <a:t> (Other methods . . .)</a:t>
            </a:r>
          </a:p>
          <a:p>
            <a:pPr algn="l"/>
            <a:r>
              <a:rPr lang="en-US" dirty="0" smtClean="0"/>
              <a:t>}</a:t>
            </a:r>
          </a:p>
          <a:p>
            <a:pPr algn="l"/>
            <a:r>
              <a:rPr lang="en-US" sz="3300" b="1" dirty="0" smtClean="0">
                <a:solidFill>
                  <a:srgbClr val="7030A0"/>
                </a:solidFill>
              </a:rPr>
              <a:t>[ The class Vehicle should has an abstract keyword because it has an abstract method &amp; There’s a semi colon between the method header and body ]</a:t>
            </a:r>
            <a:endParaRPr lang="ar-SA" sz="33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73007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Algorithm </a:t>
            </a:r>
            <a:r>
              <a:rPr lang="en-US" b="1" dirty="0" err="1" smtClean="0">
                <a:solidFill>
                  <a:srgbClr val="C00000"/>
                </a:solidFill>
              </a:rPr>
              <a:t>Workbeanch</a:t>
            </a:r>
            <a:endParaRPr lang="ar-SA" dirty="0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467544" y="1124744"/>
            <a:ext cx="8424936" cy="5373216"/>
          </a:xfrm>
        </p:spPr>
        <p:txBody>
          <a:bodyPr>
            <a:normAutofit lnSpcReduction="10000"/>
          </a:bodyPr>
          <a:lstStyle/>
          <a:p>
            <a:pPr algn="l"/>
            <a:r>
              <a:rPr lang="en-US" dirty="0" smtClean="0"/>
              <a:t>1. Write the first line of the definition for a Poodle class. The class should extend the Dog class</a:t>
            </a:r>
            <a:r>
              <a:rPr lang="en-US" sz="3600" b="1" dirty="0" smtClean="0">
                <a:solidFill>
                  <a:schemeClr val="accent6">
                    <a:lumMod val="50000"/>
                  </a:schemeClr>
                </a:solidFill>
              </a:rPr>
              <a:t>. public class Poodle extends Dog {…}</a:t>
            </a:r>
            <a:endParaRPr lang="en-US" b="1" dirty="0" smtClean="0">
              <a:solidFill>
                <a:schemeClr val="accent6">
                  <a:lumMod val="50000"/>
                </a:schemeClr>
              </a:solidFill>
            </a:endParaRPr>
          </a:p>
          <a:p>
            <a:pPr algn="l"/>
            <a:r>
              <a:rPr lang="en-US" dirty="0" smtClean="0"/>
              <a:t>2. Look at the following code, which is the first line of a class definition/public class Tiger extends </a:t>
            </a:r>
            <a:r>
              <a:rPr lang="en-US" dirty="0" err="1" smtClean="0"/>
              <a:t>Felis</a:t>
            </a:r>
            <a:r>
              <a:rPr lang="en-US" dirty="0" smtClean="0"/>
              <a:t> In what order will the class constructors execute? </a:t>
            </a:r>
            <a:r>
              <a:rPr lang="en-US" sz="3500" b="1" dirty="0" smtClean="0">
                <a:solidFill>
                  <a:schemeClr val="accent6">
                    <a:lumMod val="50000"/>
                  </a:schemeClr>
                </a:solidFill>
              </a:rPr>
              <a:t>When a subclass (Tiger) is created, the constructor of its superclass (</a:t>
            </a:r>
            <a:r>
              <a:rPr lang="en-US" sz="3500" b="1" dirty="0" err="1" smtClean="0">
                <a:solidFill>
                  <a:schemeClr val="accent6">
                    <a:lumMod val="50000"/>
                  </a:schemeClr>
                </a:solidFill>
              </a:rPr>
              <a:t>Felis</a:t>
            </a:r>
            <a:r>
              <a:rPr lang="en-US" sz="3500" b="1" dirty="0" smtClean="0">
                <a:solidFill>
                  <a:schemeClr val="accent6">
                    <a:lumMod val="50000"/>
                  </a:schemeClr>
                </a:solidFill>
              </a:rPr>
              <a:t>) is called first, then the  Constructor of the subclass (Tiger)  will execute</a:t>
            </a:r>
            <a:r>
              <a:rPr lang="en-US" dirty="0" smtClean="0"/>
              <a:t>.</a:t>
            </a:r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25322820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332656"/>
            <a:ext cx="8712967" cy="62646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658403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عنوان 1"/>
          <p:cNvSpPr>
            <a:spLocks noGrp="1"/>
          </p:cNvSpPr>
          <p:nvPr>
            <p:ph idx="1"/>
          </p:nvPr>
        </p:nvSpPr>
        <p:spPr>
          <a:xfrm>
            <a:off x="395536" y="332656"/>
            <a:ext cx="8229600" cy="6312793"/>
          </a:xfrm>
        </p:spPr>
        <p:txBody>
          <a:bodyPr>
            <a:normAutofit lnSpcReduction="10000"/>
          </a:bodyPr>
          <a:lstStyle/>
          <a:p>
            <a:pPr algn="l"/>
            <a:r>
              <a:rPr lang="en-US" dirty="0" smtClean="0"/>
              <a:t>4. Write the statement that calls a superclass constructor and passes the arguments x, y, and z. </a:t>
            </a:r>
          </a:p>
          <a:p>
            <a:pPr algn="l"/>
            <a:r>
              <a:rPr lang="en-US" dirty="0" smtClean="0"/>
              <a:t> </a:t>
            </a:r>
            <a:r>
              <a:rPr lang="en-US" sz="3600" b="1" dirty="0" smtClean="0">
                <a:solidFill>
                  <a:schemeClr val="accent6">
                    <a:lumMod val="50000"/>
                  </a:schemeClr>
                </a:solidFill>
              </a:rPr>
              <a:t>super ( x , y , z ) ;</a:t>
            </a:r>
          </a:p>
          <a:p>
            <a:pPr algn="l"/>
            <a:r>
              <a:rPr lang="en-US" dirty="0" smtClean="0"/>
              <a:t>5. A superclass has the following method: public void </a:t>
            </a:r>
            <a:r>
              <a:rPr lang="en-US" dirty="0" err="1" smtClean="0"/>
              <a:t>setValue</a:t>
            </a:r>
            <a:r>
              <a:rPr lang="en-US" dirty="0" smtClean="0"/>
              <a:t>(</a:t>
            </a:r>
            <a:r>
              <a:rPr lang="en-US" dirty="0" err="1" smtClean="0"/>
              <a:t>int</a:t>
            </a:r>
            <a:r>
              <a:rPr lang="en-US" dirty="0" smtClean="0"/>
              <a:t> v){ </a:t>
            </a:r>
          </a:p>
          <a:p>
            <a:pPr algn="l"/>
            <a:r>
              <a:rPr lang="en-US" dirty="0" smtClean="0"/>
              <a:t>value = v;</a:t>
            </a:r>
          </a:p>
          <a:p>
            <a:pPr algn="l"/>
            <a:r>
              <a:rPr lang="en-US" dirty="0" smtClean="0"/>
              <a:t>  } </a:t>
            </a:r>
          </a:p>
          <a:p>
            <a:pPr algn="l"/>
            <a:r>
              <a:rPr lang="en-US" dirty="0" smtClean="0"/>
              <a:t>Write a statement that may appear in a subclass that calls this method, passing 10 as an argument. </a:t>
            </a:r>
          </a:p>
          <a:p>
            <a:pPr algn="l"/>
            <a:r>
              <a:rPr lang="en-US" sz="3600" b="1" dirty="0" err="1" smtClean="0">
                <a:solidFill>
                  <a:schemeClr val="accent6">
                    <a:lumMod val="50000"/>
                  </a:schemeClr>
                </a:solidFill>
              </a:rPr>
              <a:t>setValue</a:t>
            </a:r>
            <a:r>
              <a:rPr lang="en-US" sz="3600" b="1" dirty="0" smtClean="0">
                <a:solidFill>
                  <a:schemeClr val="accent6">
                    <a:lumMod val="50000"/>
                  </a:schemeClr>
                </a:solidFill>
              </a:rPr>
              <a:t> ( 10 ) ;</a:t>
            </a:r>
            <a:endParaRPr lang="ar-SA" sz="3600" b="1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16076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395536" y="332656"/>
            <a:ext cx="8363272" cy="6165304"/>
          </a:xfrm>
        </p:spPr>
        <p:txBody>
          <a:bodyPr/>
          <a:lstStyle/>
          <a:p>
            <a:pPr algn="l"/>
            <a:r>
              <a:rPr lang="en-US" dirty="0" smtClean="0"/>
              <a:t>6. A superclass has the following abstract method:</a:t>
            </a:r>
          </a:p>
          <a:p>
            <a:pPr algn="l"/>
            <a:r>
              <a:rPr lang="en-US" dirty="0" smtClean="0"/>
              <a:t>public abstract </a:t>
            </a: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/>
              <a:t>getValue</a:t>
            </a:r>
            <a:r>
              <a:rPr lang="en-US" dirty="0" smtClean="0"/>
              <a:t>();</a:t>
            </a:r>
          </a:p>
          <a:p>
            <a:pPr algn="l"/>
            <a:r>
              <a:rPr lang="en-US" dirty="0" smtClean="0"/>
              <a:t> Write an example of a </a:t>
            </a:r>
            <a:r>
              <a:rPr lang="en-US" dirty="0" err="1" smtClean="0"/>
              <a:t>getValue</a:t>
            </a:r>
            <a:r>
              <a:rPr lang="en-US" dirty="0" smtClean="0"/>
              <a:t> method that </a:t>
            </a:r>
            <a:endParaRPr lang="ar-SA" dirty="0" smtClean="0"/>
          </a:p>
          <a:p>
            <a:pPr algn="l"/>
            <a:r>
              <a:rPr lang="en-US" dirty="0" smtClean="0"/>
              <a:t>can appear in a subclass.</a:t>
            </a:r>
          </a:p>
          <a:p>
            <a:pPr algn="l"/>
            <a:r>
              <a:rPr lang="en-US" sz="4000" b="1" dirty="0" smtClean="0">
                <a:solidFill>
                  <a:schemeClr val="accent6">
                    <a:lumMod val="50000"/>
                  </a:schemeClr>
                </a:solidFill>
              </a:rPr>
              <a:t>@Override</a:t>
            </a:r>
          </a:p>
          <a:p>
            <a:pPr algn="l"/>
            <a:r>
              <a:rPr lang="en-US" sz="4000" b="1" dirty="0" smtClean="0">
                <a:solidFill>
                  <a:schemeClr val="accent6">
                    <a:lumMod val="50000"/>
                  </a:schemeClr>
                </a:solidFill>
              </a:rPr>
              <a:t>public </a:t>
            </a:r>
            <a:r>
              <a:rPr lang="en-US" sz="4000" b="1" dirty="0" err="1" smtClean="0">
                <a:solidFill>
                  <a:schemeClr val="accent6">
                    <a:lumMod val="50000"/>
                  </a:schemeClr>
                </a:solidFill>
              </a:rPr>
              <a:t>int</a:t>
            </a:r>
            <a:r>
              <a:rPr lang="en-US" sz="40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4000" b="1" dirty="0" err="1" smtClean="0">
                <a:solidFill>
                  <a:schemeClr val="accent6">
                    <a:lumMod val="50000"/>
                  </a:schemeClr>
                </a:solidFill>
              </a:rPr>
              <a:t>getValue</a:t>
            </a:r>
            <a:r>
              <a:rPr lang="en-US" sz="4000" b="1" dirty="0" smtClean="0">
                <a:solidFill>
                  <a:schemeClr val="accent6">
                    <a:lumMod val="50000"/>
                  </a:schemeClr>
                </a:solidFill>
              </a:rPr>
              <a:t>() {  </a:t>
            </a:r>
          </a:p>
          <a:p>
            <a:pPr algn="l"/>
            <a:r>
              <a:rPr lang="en-US" sz="4000" b="1" dirty="0" smtClean="0">
                <a:solidFill>
                  <a:schemeClr val="accent6">
                    <a:lumMod val="50000"/>
                  </a:schemeClr>
                </a:solidFill>
              </a:rPr>
              <a:t>  return </a:t>
            </a:r>
            <a:r>
              <a:rPr lang="en-US" sz="4000" b="1" dirty="0" err="1" smtClean="0">
                <a:solidFill>
                  <a:schemeClr val="accent6">
                    <a:lumMod val="50000"/>
                  </a:schemeClr>
                </a:solidFill>
              </a:rPr>
              <a:t>this.value</a:t>
            </a:r>
            <a:r>
              <a:rPr lang="en-US" sz="4000" b="1" dirty="0" smtClean="0">
                <a:solidFill>
                  <a:schemeClr val="accent6">
                    <a:lumMod val="50000"/>
                  </a:schemeClr>
                </a:solidFill>
              </a:rPr>
              <a:t> ; //  OR return 10 ;</a:t>
            </a:r>
          </a:p>
          <a:p>
            <a:pPr algn="l"/>
            <a:r>
              <a:rPr lang="en-US" sz="4000" b="1" dirty="0" smtClean="0">
                <a:solidFill>
                  <a:schemeClr val="accent6">
                    <a:lumMod val="50000"/>
                  </a:schemeClr>
                </a:solidFill>
              </a:rPr>
              <a:t>}</a:t>
            </a:r>
            <a:endParaRPr lang="ar-SA" sz="4000" b="1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28026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467544" y="476672"/>
            <a:ext cx="7992888" cy="6127576"/>
          </a:xfrm>
        </p:spPr>
        <p:txBody>
          <a:bodyPr>
            <a:normAutofit/>
          </a:bodyPr>
          <a:lstStyle/>
          <a:p>
            <a:pPr algn="l"/>
            <a:r>
              <a:rPr lang="en-US" dirty="0" smtClean="0"/>
              <a:t>7. Write the first line of the definition for a Stereo class.</a:t>
            </a:r>
          </a:p>
          <a:p>
            <a:pPr algn="l"/>
            <a:r>
              <a:rPr lang="en-US" dirty="0" smtClean="0"/>
              <a:t> The class should extend the </a:t>
            </a:r>
            <a:r>
              <a:rPr lang="en-US" dirty="0" err="1" smtClean="0"/>
              <a:t>SoundSystem</a:t>
            </a:r>
            <a:r>
              <a:rPr lang="en-US" dirty="0" smtClean="0"/>
              <a:t> class, and it should implement the </a:t>
            </a:r>
            <a:r>
              <a:rPr lang="en-US" dirty="0" err="1" smtClean="0"/>
              <a:t>CDplayable</a:t>
            </a:r>
            <a:r>
              <a:rPr lang="en-US" dirty="0" smtClean="0"/>
              <a:t>, </a:t>
            </a:r>
            <a:r>
              <a:rPr lang="en-US" dirty="0" err="1" smtClean="0"/>
              <a:t>TunerPlayable</a:t>
            </a:r>
            <a:r>
              <a:rPr lang="en-US" dirty="0" smtClean="0"/>
              <a:t>, and </a:t>
            </a:r>
            <a:endParaRPr lang="ar-SA" dirty="0" smtClean="0"/>
          </a:p>
          <a:p>
            <a:pPr marL="0" indent="0" algn="l">
              <a:buNone/>
            </a:pPr>
            <a:r>
              <a:rPr lang="en-US" dirty="0" err="1" smtClean="0"/>
              <a:t>CassettePlayable</a:t>
            </a:r>
            <a:r>
              <a:rPr lang="en-US" dirty="0" smtClean="0"/>
              <a:t> interfaces.</a:t>
            </a:r>
          </a:p>
          <a:p>
            <a:pPr algn="l"/>
            <a:r>
              <a:rPr lang="en-US" sz="3600" b="1" dirty="0" smtClean="0">
                <a:solidFill>
                  <a:schemeClr val="accent6">
                    <a:lumMod val="50000"/>
                  </a:schemeClr>
                </a:solidFill>
              </a:rPr>
              <a:t>public class Stereo extends </a:t>
            </a:r>
            <a:r>
              <a:rPr lang="en-US" sz="3600" b="1" dirty="0" err="1" smtClean="0">
                <a:solidFill>
                  <a:schemeClr val="accent6">
                    <a:lumMod val="50000"/>
                  </a:schemeClr>
                </a:solidFill>
              </a:rPr>
              <a:t>SoundSystem</a:t>
            </a:r>
            <a:r>
              <a:rPr lang="en-US" sz="3600" b="1" dirty="0" smtClean="0">
                <a:solidFill>
                  <a:schemeClr val="accent6">
                    <a:lumMod val="50000"/>
                  </a:schemeClr>
                </a:solidFill>
              </a:rPr>
              <a:t> implements </a:t>
            </a:r>
            <a:r>
              <a:rPr lang="en-US" sz="3600" b="1" dirty="0" err="1" smtClean="0">
                <a:solidFill>
                  <a:schemeClr val="accent6">
                    <a:lumMod val="50000"/>
                  </a:schemeClr>
                </a:solidFill>
              </a:rPr>
              <a:t>CDplayable</a:t>
            </a:r>
            <a:r>
              <a:rPr lang="en-US" sz="3600" b="1" dirty="0" smtClean="0">
                <a:solidFill>
                  <a:schemeClr val="accent6">
                    <a:lumMod val="50000"/>
                  </a:schemeClr>
                </a:solidFill>
              </a:rPr>
              <a:t>, </a:t>
            </a:r>
            <a:r>
              <a:rPr lang="en-US" sz="3600" b="1" dirty="0" err="1" smtClean="0">
                <a:solidFill>
                  <a:schemeClr val="accent6">
                    <a:lumMod val="50000"/>
                  </a:schemeClr>
                </a:solidFill>
              </a:rPr>
              <a:t>TunerPlayable</a:t>
            </a:r>
            <a:r>
              <a:rPr lang="en-US" sz="3600" b="1" dirty="0" smtClean="0">
                <a:solidFill>
                  <a:schemeClr val="accent6">
                    <a:lumMod val="50000"/>
                  </a:schemeClr>
                </a:solidFill>
              </a:rPr>
              <a:t>, </a:t>
            </a:r>
            <a:r>
              <a:rPr lang="en-US" sz="3600" b="1" dirty="0" err="1" smtClean="0">
                <a:solidFill>
                  <a:schemeClr val="accent6">
                    <a:lumMod val="50000"/>
                  </a:schemeClr>
                </a:solidFill>
              </a:rPr>
              <a:t>CassettePlayable</a:t>
            </a:r>
            <a:r>
              <a:rPr lang="en-US" sz="3600" b="1" dirty="0" smtClean="0">
                <a:solidFill>
                  <a:schemeClr val="accent6">
                    <a:lumMod val="50000"/>
                  </a:schemeClr>
                </a:solidFill>
              </a:rPr>
              <a:t> {</a:t>
            </a:r>
          </a:p>
          <a:p>
            <a:pPr algn="l"/>
            <a:r>
              <a:rPr lang="en-US" sz="3600" b="1" dirty="0" smtClean="0">
                <a:solidFill>
                  <a:schemeClr val="accent6">
                    <a:lumMod val="50000"/>
                  </a:schemeClr>
                </a:solidFill>
              </a:rPr>
              <a:t>}</a:t>
            </a:r>
            <a:endParaRPr lang="ar-SA" sz="3600" b="1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87373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611560" y="836712"/>
            <a:ext cx="8229600" cy="5832648"/>
          </a:xfrm>
        </p:spPr>
        <p:txBody>
          <a:bodyPr>
            <a:normAutofit/>
          </a:bodyPr>
          <a:lstStyle/>
          <a:p>
            <a:pPr algn="l"/>
            <a:r>
              <a:rPr lang="en-US" dirty="0" smtClean="0"/>
              <a:t>8. Write an interface named Nameable that specifies the following methods :</a:t>
            </a:r>
          </a:p>
          <a:p>
            <a:pPr algn="l"/>
            <a:r>
              <a:rPr lang="en-US" dirty="0" smtClean="0"/>
              <a:t>public void </a:t>
            </a:r>
            <a:r>
              <a:rPr lang="en-US" dirty="0" err="1" smtClean="0"/>
              <a:t>setName</a:t>
            </a:r>
            <a:r>
              <a:rPr lang="en-US" dirty="0" smtClean="0"/>
              <a:t>(String n) </a:t>
            </a:r>
          </a:p>
          <a:p>
            <a:pPr algn="l"/>
            <a:r>
              <a:rPr lang="en-US" dirty="0" smtClean="0"/>
              <a:t>public String </a:t>
            </a:r>
            <a:r>
              <a:rPr lang="en-US" dirty="0" err="1" smtClean="0"/>
              <a:t>getName</a:t>
            </a:r>
            <a:r>
              <a:rPr lang="en-US" dirty="0" smtClean="0"/>
              <a:t>()</a:t>
            </a:r>
          </a:p>
          <a:p>
            <a:pPr algn="l"/>
            <a:r>
              <a:rPr lang="en-US" sz="4000" b="1" dirty="0" smtClean="0">
                <a:solidFill>
                  <a:schemeClr val="accent6">
                    <a:lumMod val="50000"/>
                  </a:schemeClr>
                </a:solidFill>
              </a:rPr>
              <a:t>public interface Nameable {</a:t>
            </a:r>
          </a:p>
          <a:p>
            <a:pPr algn="l"/>
            <a:r>
              <a:rPr lang="en-US" sz="4000" b="1" dirty="0" smtClean="0">
                <a:solidFill>
                  <a:schemeClr val="accent6">
                    <a:lumMod val="50000"/>
                  </a:schemeClr>
                </a:solidFill>
              </a:rPr>
              <a:t>   void </a:t>
            </a:r>
            <a:r>
              <a:rPr lang="en-US" sz="4000" b="1" dirty="0" err="1" smtClean="0">
                <a:solidFill>
                  <a:schemeClr val="accent6">
                    <a:lumMod val="50000"/>
                  </a:schemeClr>
                </a:solidFill>
              </a:rPr>
              <a:t>setName</a:t>
            </a:r>
            <a:r>
              <a:rPr lang="en-US" sz="4000" b="1" dirty="0" smtClean="0">
                <a:solidFill>
                  <a:schemeClr val="accent6">
                    <a:lumMod val="50000"/>
                  </a:schemeClr>
                </a:solidFill>
              </a:rPr>
              <a:t>(String n);    </a:t>
            </a:r>
          </a:p>
          <a:p>
            <a:pPr algn="l"/>
            <a:r>
              <a:rPr lang="en-US" sz="4000" b="1" dirty="0" smtClean="0">
                <a:solidFill>
                  <a:schemeClr val="accent6">
                    <a:lumMod val="50000"/>
                  </a:schemeClr>
                </a:solidFill>
              </a:rPr>
              <a:t>String </a:t>
            </a:r>
            <a:r>
              <a:rPr lang="en-US" sz="4000" b="1" dirty="0" err="1" smtClean="0">
                <a:solidFill>
                  <a:schemeClr val="accent6">
                    <a:lumMod val="50000"/>
                  </a:schemeClr>
                </a:solidFill>
              </a:rPr>
              <a:t>getName</a:t>
            </a:r>
            <a:r>
              <a:rPr lang="en-US" sz="4000" b="1" dirty="0" smtClean="0">
                <a:solidFill>
                  <a:schemeClr val="accent6">
                    <a:lumMod val="50000"/>
                  </a:schemeClr>
                </a:solidFill>
              </a:rPr>
              <a:t>();</a:t>
            </a:r>
          </a:p>
          <a:p>
            <a:pPr lvl="2" algn="l"/>
            <a:r>
              <a:rPr lang="en-US" sz="3200" b="1" dirty="0" smtClean="0">
                <a:solidFill>
                  <a:schemeClr val="accent6">
                    <a:lumMod val="50000"/>
                  </a:schemeClr>
                </a:solidFill>
              </a:rPr>
              <a:t>}</a:t>
            </a:r>
            <a:endParaRPr lang="ar-SA" b="1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7214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323528" y="1124744"/>
            <a:ext cx="8496944" cy="4522514"/>
          </a:xfrm>
        </p:spPr>
        <p:txBody>
          <a:bodyPr>
            <a:normAutofit/>
          </a:bodyPr>
          <a:lstStyle/>
          <a:p>
            <a:r>
              <a:rPr lang="ar-SA" b="1" dirty="0" smtClean="0">
                <a:solidFill>
                  <a:srgbClr val="7030A0"/>
                </a:solidFill>
              </a:rPr>
              <a:t>« واخر دعواهم أن الحمد لله رب العالمين «</a:t>
            </a:r>
            <a:endParaRPr lang="ar-SA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0786756"/>
      </p:ext>
    </p:extLst>
  </p:cSld>
  <p:clrMapOvr>
    <a:masterClrMapping/>
  </p:clrMapOvr>
</p:sld>
</file>

<file path=ppt/theme/theme1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1182</Words>
  <Application>Microsoft Office PowerPoint</Application>
  <PresentationFormat>عرض على الشاشة (3:4)‏</PresentationFormat>
  <Paragraphs>117</Paragraphs>
  <Slides>17</Slides>
  <Notes>0</Notes>
  <HiddenSlides>0</HiddenSlides>
  <MMClips>0</MMClips>
  <ScaleCrop>false</ScaleCrop>
  <HeadingPairs>
    <vt:vector size="4" baseType="variant">
      <vt:variant>
        <vt:lpstr>نسق</vt:lpstr>
      </vt:variant>
      <vt:variant>
        <vt:i4>1</vt:i4>
      </vt:variant>
      <vt:variant>
        <vt:lpstr>عناوين الشرائح</vt:lpstr>
      </vt:variant>
      <vt:variant>
        <vt:i4>17</vt:i4>
      </vt:variant>
    </vt:vector>
  </HeadingPairs>
  <TitlesOfParts>
    <vt:vector size="18" baseType="lpstr">
      <vt:lpstr>نسق Office</vt:lpstr>
      <vt:lpstr>بسم الله الرحمن الرحيم     </vt:lpstr>
      <vt:lpstr>Multiple Choice and True/False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Find the Error</vt:lpstr>
      <vt:lpstr>عرض تقديمي في PowerPoint</vt:lpstr>
      <vt:lpstr>عرض تقديمي في PowerPoint</vt:lpstr>
      <vt:lpstr>عرض تقديمي في PowerPoint</vt:lpstr>
      <vt:lpstr>Algorithm Workbeanch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« واخر دعواهم أن الحمد لله رب العالمين «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بسم الله الرحمن الرحيم</dc:title>
  <dc:creator>Alaa</dc:creator>
  <cp:lastModifiedBy>Alaa</cp:lastModifiedBy>
  <cp:revision>11</cp:revision>
  <dcterms:created xsi:type="dcterms:W3CDTF">2025-03-22T08:16:21Z</dcterms:created>
  <dcterms:modified xsi:type="dcterms:W3CDTF">2025-03-22T11:09:36Z</dcterms:modified>
</cp:coreProperties>
</file>